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11" d="100"/>
          <a:sy n="111" d="100"/>
        </p:scale>
        <p:origin x="558"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941800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Buongiorno, sono Valerio Giannini e oggi presento la mia tesi di laurea magistrale in Project Management, dal titolo "Analisi dei framework per la gestione dei progetti IT", svolta sotto la supervisione del professor Marco Antonio Boschetti.</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project management è una disciplina fondamentale per lo sviluppo di progetti e prodotti complessi, e lo è in particolare nel mondo IT, dove un software deve spesso interfacciarsi con realtà molto diverse tra loro: l'industria 4.0, i sistemi informativi aziendali, soluzioni che integrano funzioni disaccoppiate. In scenari come questi, il project management deve tenere insieme vincoli tecnici, organizzativi e di business eterogenei.
L'obiettivo della tesi è analizzare lo stato dell'arte del project management, con particolare attenzione alle metodologie tradizionali e a quelle agili, confrontare i due approcci, e da questo confronto ricavare una definizione di project management comune a entrambi.</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lavoro è una revisione della letteratura condotta su fonti ufficiali: per gli approcci tradizionali, PMBOK ottava edizione, PRINCE2 settima edizione e la famiglia di norme ISO 21500/21502; per l'agile, il Manifesto for Agile Software Development, l'Agile Practice Guide del PMI e la Scrum Guide. Le fonti sono state selezionate per rilevanza, autorevolezza, privilegiando i testi pubblicati direttamente dall'ente che definisce lo standard, e aggiornamento, scegliendo sempre l'edizione più recente disponibile.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Cominciamo dagli approcci tradizionali, con il PMBOK, la guida di riferimento del Project Management Institute, giunta nel 2025 all'ottava edizione. È importante sottolineare che il PMBOK non è prescrittivo: descrive pratiche, processi e strumenti che il project manager seleziona e adatta, non un elenco di cose da fare obbligatoriamente.
Al centro della guida c'è la mentalità di project management, articolata in tre dimensioni, proattiva, orientata alla responsabilità e orientata al valore, che si esprimono in sei principi. E il progetto stesso non è un'unità isolata, ma un componente del sistema di generazione del valore dell'organizzazione, insieme a portfolio, programmi, prodotti e operations.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meccanica operativa del PMBOK si articola in sette domini di performance, Governance, Ambito, Schedulazione, Finanza, Stakeholder, Risorse e Rischio, che corrono in parallelo lungo tutto il ciclo di vita del progetto, senza un ordine prestabilito.
Un contributo importante dell'ottava edizione è lo spettro degli approcci di sviluppo: da un lato l'approccio predittivo, guidato dal piano, con ambito fisso e tempi e costi che assorbono le variazioni; dall'altro l'approccio adattivo, dove accade l'opposto, tempi e budget sono fissi e a variare è l'ambito. In mezzo, l'approccio ibrido, che il PMBOK stesso indica come il più vantaggioso per la maggior parte dei progetti.</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secondo approccio tradizionale è PRINCE2, il metodo strutturato di PeopleCert, giunto alla settima edizione nel 2023. A differenza del PMBOK, PRINCE2 si presenta come un metodo vero e proprio: se anche uno solo dei sette principi non viene applicato, il progetto non può dirsi un progetto PRINCE2.
I sette principi, dalla giustificazione di business continuativa alla gestione per eccezione, sono resi operativi da sette pratiche, ciascuna delle quali risponde a una domanda precisa: il business case risponde al "perché", l'organizzazione al "chi", i piani a "come, quanto e quando", la qualità al "che cosa", il rischio a "e se", i cambiamenti a "e adesso", il progresso a "a che punto siamo".</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PRINCE2 definisce anche un'organizzazione precisa, il project board, composto da Executive, Senior User e Senior Supplier, che rappresentano rispettivamente il business, gli utenti e i fornitori, su quattro livelli di gestione dal commissioning fino al team.
Sette processi coprono l'intero ciclo di vita, dall'avvio alla chiusura, secondo due principi operativi: la gestione per fasi e la gestione per eccezione, che permette al management di intervenire solo quando si prevede il superamento delle tolleranze concordate.
Anche PRINCE2 prevede il tailoring, ma è un tailoring che ho definito "intransigente": il metodo si adatta al progetto, ma non può mai intaccare i sette principi.</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Mettendo a confronto i due approcci tradizionali emerge una divergenza importante, che nasce dal loro statuto: il PMBOK è una guida a un corpo di conoscenza con processi dichiaratamente non prescrittivi, PRINCE2 è un metodo con una soglia di conformità esplicita. Da questa differenza discende l'asse di massima divergenza: la governance. Il PMBOK elenca funzioni assegnabili liberamente, senza ruoli obbligatori; PRINCE2 prescrive quattro livelli di gestione e sette ruoli con vincoli espliciti.
Anche sul tailoring, cioè sulla possibilità di adattare il metodo al progetto, i due approcci restano coerenti con il proprio statuto: nel PMBOK è una procedura in quattro passi, descritta in una sezione autonoma della guida; in PRINCE2 il tailoring è addirittura il settimo principio, quindi obbligatorio quanto gli altri sei, ma limitato, perché può adattare pratiche e terminologia senza mai poter intaccare i principi stessi.
Eppure, sulla catena che collega il lavoro al beneficio, i due testi convergono quasi perfettamente, pur essendo del tutto indipendenti fra loro.</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Passiamo ora agli approcci agili. Tutto nasce dal Manifesto for Agile Software Development, scritto nel 2001 a Snowbird, in Utah, da diciassette professionisti. Non è uno standard: nessun ente lo gestisce, non è certificabile, e non è mai stato rivisto.
Il Manifesto esprime quattro valori, formulati come preferenze e non come esclusioni: gli individui e le interazioni più che i processi e gli strumenti; il software funzionante più che la documentazione esaustiva; la collaborazione col cliente più che la negoziazione dei contratti; rispondere al cambiamento più che seguire un piano.
È importante non leggere questi valori come un aut aut: il Manifesto stesso precisa che c'è valore anche negli elementi di destra, processi, documentazione, contratti, piani, ma che si attribuisce più valore a quelli di sinistra. Sono preferenze dichiarate, non esclusioni.
Un dato interessante: il Manifesto non nomina mai il project management, né ruoli, né documenti. Per diventare operativo richiede uno strato di metodi che lo traducano in pratica.</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 i metodi che traducono il Manifesto in pratica, Scrum è il framework di processo più diffuso: si dichiara "deliberatamente incompleto", fondato sul controllo empirico, trasparenza, ispezione e adattamento, e organizzato in Sprint, con tre responsabilità: Product Owner, Scrum Master e Developers.
Kanban rappresenta il polo opposto per prescrittività: non introduce un processo nuovo, ma si innesta su quello già esistente nell'organizzazione, lasciando invariati ruoli e responsabilità. Il suo principio distintivo è limitare il lavoro in corso per ottimizzare il flusso, invece di lavorare per iterazioni a durata fissa.
Extreme Programming, infine, è l'unico metodo qui considerato a prescrivere anche pratiche tecniche specifiche, come lo sviluppo in coppia, l'integrazione continua e il test-driven development, non solo regole di organizzazione del lavoro.</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Quando i team si moltiplicano, le premesse dell'agile a livello di singolo team smettono di reggere: nessun principio del Manifesto dice come coordinare più team, e nascono problemi come la frammentazione della visione di prodotto o l'ingorgo delle dipendenze.
Due framework rispondono in modo opposto. SAFe, lo Scaled Agile Framework, risolve il problema aggiungendo struttura: livelli, ruoli e momenti di sincronizzazione su tre livelli, portfolio, programma e team.
LeSS, Large Scale Scrum, fa l'opposto: conserva quanti più elementi possibile di Scrum a team singolo, riducendo al minimo le estensioni. Non è una questione tecnica, ma una scelta su quanta struttura organizzativa si ritiene accettabile.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 fine fa, allora, il project manager negli approcci agili? Il Manifesto non lo nomina mai; la Scrum Guide definisce tre responsabilità, nessuna delle quali è un project manager; Kanban rispetta semplicemente i ruoli già esistenti.
Ma l'assenza non è una scomparsa: le funzioni si ridistribuiscono fra Product Owner, team e organizzazione, lasciandone però alcune senza un titolare esplicito, la gestione del rischio, la rivalidazione dell'investimento, tutto ciò che attraversa il confine del singolo team. E non a caso, sono esattamente le funzioni che l'Agile Practice Guide del PMI riattribuisce al project manager.</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Confrontando in modo sistematico gli approcci tradizionali e quelli agili nel loro complesso, cioè non un singolo metodo contro un altro, ma le due famiglie di approcci, emergono quattro assi di affinità, il meccanismo di controllo, l'orizzonte di pianificazione, la catena del valore e le tecniche di flusso, e quattro assi di divergenza: che cosa resta fisso, dove si colloca l'autorità, se l'unità di riferimento è il progetto o il prodotto, e se esiste una soglia di conformità.
Un risultato che ritengo significativo: la divergenza massima non corre fra tradizionale e agile in generale, ma fra PRINCE2 e Scrum, con il PMBOK che si colloca quasi sempre a metà strada fra i due estremi.</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 questa analisi nasce la definizione di project management proposta nella tesi. Non potendo basarsi su ruoli, documenti o fasi, perché ciascuno di questi elementi manca in almeno uno degli approcci esaminati, la definizione si fonda sulle funzioni che ogni approccio, in un modo o nell'altro, è costretto a svolgere: giustificare l'investimento, attribuire le responsabilità, pianificare entro un orizzonte credibile, garantire la qualità, gestire l'incertezza, assorbire il cambiamento e renderne conto.
È l'approccio, tradizionale, agile o ibrido, a decidere il come e il chi; mai se una di queste funzioni debba essere svolta. Ed è anche per questo che l'ibrido, riconosciuto sia dal PMBOK sia da PRINCE2, non è un compromesso, ma una scelta di progettazione organizzativa.</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Grazie per l'attenzione, sono a disposizione per le vostre domande.</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rgbClr val="FFFFFF"/>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home/claude/tesi_pptx/unibo_logo.png"/>
          <p:cNvPicPr>
            <a:picLocks noChangeAspect="1"/>
          </p:cNvPicPr>
          <p:nvPr/>
        </p:nvPicPr>
        <p:blipFill>
          <a:blip r:embed="rId3"/>
          <a:stretch>
            <a:fillRect/>
          </a:stretch>
        </p:blipFill>
        <p:spPr>
          <a:xfrm>
            <a:off x="5413248" y="457200"/>
            <a:ext cx="1371600" cy="1371600"/>
          </a:xfrm>
          <a:prstGeom prst="rect">
            <a:avLst/>
          </a:prstGeom>
        </p:spPr>
      </p:pic>
      <p:sp>
        <p:nvSpPr>
          <p:cNvPr id="3" name="Text 0"/>
          <p:cNvSpPr txBox="1"/>
          <p:nvPr/>
        </p:nvSpPr>
        <p:spPr>
          <a:xfrm>
            <a:off x="0" y="2084832"/>
            <a:ext cx="12191695" cy="365760"/>
          </a:xfrm>
          <a:prstGeom prst="rect">
            <a:avLst/>
          </a:prstGeom>
          <a:noFill/>
          <a:ln/>
        </p:spPr>
        <p:txBody>
          <a:bodyPr wrap="square" lIns="0" tIns="0" rIns="0" bIns="0" rtlCol="0" anchor="ctr"/>
          <a:lstStyle/>
          <a:p>
            <a:pPr marL="0" indent="0" algn="ctr">
              <a:buNone/>
            </a:pPr>
            <a:r>
              <a:rPr lang="en-US" sz="1400" b="1" kern="0" spc="200" dirty="0">
                <a:solidFill>
                  <a:srgbClr val="BC290A"/>
                </a:solidFill>
                <a:latin typeface="Calibri" pitchFamily="34" charset="0"/>
                <a:ea typeface="Calibri" pitchFamily="34" charset="-122"/>
                <a:cs typeface="Calibri" pitchFamily="34" charset="-120"/>
              </a:rPr>
              <a:t>ALMA MATER STUDIORUM  ·  UNIVERSITÀ DI BOLOGNA</a:t>
            </a:r>
            <a:endParaRPr lang="en-US" sz="1400" dirty="0"/>
          </a:p>
        </p:txBody>
      </p:sp>
      <p:sp>
        <p:nvSpPr>
          <p:cNvPr id="4" name="Text 1"/>
          <p:cNvSpPr txBox="1"/>
          <p:nvPr/>
        </p:nvSpPr>
        <p:spPr>
          <a:xfrm>
            <a:off x="0" y="2468880"/>
            <a:ext cx="12191695" cy="502920"/>
          </a:xfrm>
          <a:prstGeom prst="rect">
            <a:avLst/>
          </a:prstGeom>
          <a:noFill/>
          <a:ln/>
        </p:spPr>
        <p:txBody>
          <a:bodyPr wrap="square" lIns="0" tIns="0" rIns="0" bIns="0" rtlCol="0" anchor="ctr"/>
          <a:lstStyle/>
          <a:p>
            <a:pPr marL="0" indent="0" algn="ctr">
              <a:lnSpc>
                <a:spcPct val="115000"/>
              </a:lnSpc>
              <a:buNone/>
            </a:pPr>
            <a:r>
              <a:rPr lang="en-US" sz="1200" dirty="0">
                <a:solidFill>
                  <a:srgbClr val="5B5350"/>
                </a:solidFill>
                <a:latin typeface="Calibri" pitchFamily="34" charset="0"/>
                <a:ea typeface="Calibri" pitchFamily="34" charset="-122"/>
                <a:cs typeface="Calibri" pitchFamily="34" charset="-120"/>
              </a:rPr>
              <a:t>Dipartimento di Informatica — Scienza e Ingegneria</a:t>
            </a:r>
            <a:endParaRPr lang="en-US" sz="1200" dirty="0"/>
          </a:p>
          <a:p>
            <a:pPr marL="0" indent="0" algn="ctr">
              <a:lnSpc>
                <a:spcPct val="115000"/>
              </a:lnSpc>
              <a:buNone/>
            </a:pPr>
            <a:r>
              <a:rPr lang="en-US" sz="1200" dirty="0">
                <a:solidFill>
                  <a:srgbClr val="5B5350"/>
                </a:solidFill>
                <a:latin typeface="Calibri" pitchFamily="34" charset="0"/>
                <a:ea typeface="Calibri" pitchFamily="34" charset="-122"/>
                <a:cs typeface="Calibri" pitchFamily="34" charset="-120"/>
              </a:rPr>
              <a:t>Corso di Laurea Magistrale in Ingegneria e Scienze Informatiche</a:t>
            </a:r>
            <a:endParaRPr lang="en-US" sz="1200" dirty="0"/>
          </a:p>
        </p:txBody>
      </p:sp>
      <p:sp>
        <p:nvSpPr>
          <p:cNvPr id="5" name="Text 2"/>
          <p:cNvSpPr txBox="1"/>
          <p:nvPr/>
        </p:nvSpPr>
        <p:spPr>
          <a:xfrm>
            <a:off x="914400" y="3127248"/>
            <a:ext cx="10360152" cy="1371600"/>
          </a:xfrm>
          <a:prstGeom prst="rect">
            <a:avLst/>
          </a:prstGeom>
          <a:noFill/>
          <a:ln/>
        </p:spPr>
        <p:txBody>
          <a:bodyPr wrap="square" lIns="0" tIns="0" rIns="0" bIns="0" rtlCol="0" anchor="ctr"/>
          <a:lstStyle/>
          <a:p>
            <a:pPr marL="0" indent="0" algn="ctr">
              <a:lnSpc>
                <a:spcPct val="108000"/>
              </a:lnSpc>
              <a:buNone/>
            </a:pPr>
            <a:r>
              <a:rPr lang="en-US" sz="3400" b="1" dirty="0">
                <a:solidFill>
                  <a:srgbClr val="BC290A"/>
                </a:solidFill>
                <a:latin typeface="Cambria" pitchFamily="34" charset="0"/>
                <a:ea typeface="Cambria" pitchFamily="34" charset="-122"/>
                <a:cs typeface="Cambria" pitchFamily="34" charset="-120"/>
              </a:rPr>
              <a:t>Analisi dei framework per la gestione</a:t>
            </a:r>
            <a:endParaRPr lang="en-US" sz="3400" dirty="0"/>
          </a:p>
          <a:p>
            <a:pPr marL="0" indent="0" algn="ctr">
              <a:lnSpc>
                <a:spcPct val="108000"/>
              </a:lnSpc>
              <a:buNone/>
            </a:pPr>
            <a:r>
              <a:rPr lang="en-US" sz="3400" b="1" dirty="0">
                <a:solidFill>
                  <a:srgbClr val="BC290A"/>
                </a:solidFill>
                <a:latin typeface="Cambria" pitchFamily="34" charset="0"/>
                <a:ea typeface="Cambria" pitchFamily="34" charset="-122"/>
                <a:cs typeface="Cambria" pitchFamily="34" charset="-120"/>
              </a:rPr>
              <a:t>dei progetti IT</a:t>
            </a:r>
            <a:endParaRPr lang="en-US" sz="3400" dirty="0"/>
          </a:p>
        </p:txBody>
      </p:sp>
      <p:sp>
        <p:nvSpPr>
          <p:cNvPr id="6" name="Text 3"/>
          <p:cNvSpPr txBox="1"/>
          <p:nvPr/>
        </p:nvSpPr>
        <p:spPr>
          <a:xfrm>
            <a:off x="0" y="4425696"/>
            <a:ext cx="12191695" cy="365760"/>
          </a:xfrm>
          <a:prstGeom prst="rect">
            <a:avLst/>
          </a:prstGeom>
          <a:noFill/>
          <a:ln/>
        </p:spPr>
        <p:txBody>
          <a:bodyPr wrap="square" lIns="0" tIns="0" rIns="0" bIns="0" rtlCol="0" anchor="ctr"/>
          <a:lstStyle/>
          <a:p>
            <a:pPr marL="0" indent="0" algn="ctr">
              <a:buNone/>
            </a:pPr>
            <a:r>
              <a:rPr lang="en-US" sz="1600" i="1" dirty="0">
                <a:solidFill>
                  <a:srgbClr val="5B5350"/>
                </a:solidFill>
                <a:latin typeface="Calibri" pitchFamily="34" charset="0"/>
                <a:ea typeface="Calibri" pitchFamily="34" charset="-122"/>
                <a:cs typeface="Calibri" pitchFamily="34" charset="-120"/>
              </a:rPr>
              <a:t>Tesi di Laurea in Project Management</a:t>
            </a:r>
            <a:endParaRPr lang="en-US" sz="1600" dirty="0"/>
          </a:p>
        </p:txBody>
      </p:sp>
      <p:sp>
        <p:nvSpPr>
          <p:cNvPr id="7" name="Shape 4"/>
          <p:cNvSpPr/>
          <p:nvPr/>
        </p:nvSpPr>
        <p:spPr>
          <a:xfrm>
            <a:off x="4727448" y="4983480"/>
            <a:ext cx="2743200" cy="0"/>
          </a:xfrm>
          <a:prstGeom prst="line">
            <a:avLst/>
          </a:prstGeom>
          <a:noFill/>
          <a:ln w="12700">
            <a:solidFill>
              <a:srgbClr val="C9C2BA"/>
            </a:solidFill>
            <a:prstDash val="solid"/>
          </a:ln>
        </p:spPr>
        <p:txBody>
          <a:bodyPr/>
          <a:lstStyle/>
          <a:p>
            <a:endParaRPr lang="it-IT"/>
          </a:p>
        </p:txBody>
      </p:sp>
      <p:sp>
        <p:nvSpPr>
          <p:cNvPr id="8" name="Text 5"/>
          <p:cNvSpPr txBox="1"/>
          <p:nvPr/>
        </p:nvSpPr>
        <p:spPr>
          <a:xfrm>
            <a:off x="1188720" y="5193792"/>
            <a:ext cx="4754880" cy="640080"/>
          </a:xfrm>
          <a:prstGeom prst="rect">
            <a:avLst/>
          </a:prstGeom>
          <a:noFill/>
          <a:ln/>
        </p:spPr>
        <p:txBody>
          <a:bodyPr wrap="square" lIns="0" tIns="0" rIns="0" bIns="0" rtlCol="0" anchor="ctr"/>
          <a:lstStyle/>
          <a:p>
            <a:pPr marL="0" indent="0">
              <a:lnSpc>
                <a:spcPct val="120000"/>
              </a:lnSpc>
              <a:buNone/>
            </a:pPr>
            <a:r>
              <a:rPr lang="en-US" sz="1100" dirty="0">
                <a:solidFill>
                  <a:srgbClr val="7A756F"/>
                </a:solidFill>
                <a:latin typeface="Calibri" pitchFamily="34" charset="0"/>
                <a:ea typeface="Calibri" pitchFamily="34" charset="-122"/>
                <a:cs typeface="Calibri" pitchFamily="34" charset="-120"/>
              </a:rPr>
              <a:t>Relatore
</a:t>
            </a:r>
            <a:endParaRPr lang="en-US" sz="1100" dirty="0"/>
          </a:p>
          <a:p>
            <a:pPr marL="0" indent="0">
              <a:lnSpc>
                <a:spcPct val="120000"/>
              </a:lnSpc>
              <a:buNone/>
            </a:pPr>
            <a:r>
              <a:rPr lang="en-US" sz="1400" b="1" dirty="0">
                <a:solidFill>
                  <a:srgbClr val="2C2624"/>
                </a:solidFill>
                <a:latin typeface="Calibri" pitchFamily="34" charset="0"/>
                <a:ea typeface="Calibri" pitchFamily="34" charset="-122"/>
                <a:cs typeface="Calibri" pitchFamily="34" charset="-120"/>
              </a:rPr>
              <a:t>Chiar.mo Prof. Marco Antonio Boschetti</a:t>
            </a:r>
            <a:endParaRPr lang="en-US" sz="1100" dirty="0"/>
          </a:p>
        </p:txBody>
      </p:sp>
      <p:sp>
        <p:nvSpPr>
          <p:cNvPr id="9" name="Text 6"/>
          <p:cNvSpPr txBox="1"/>
          <p:nvPr/>
        </p:nvSpPr>
        <p:spPr>
          <a:xfrm>
            <a:off x="6245352" y="5193792"/>
            <a:ext cx="4754880" cy="640080"/>
          </a:xfrm>
          <a:prstGeom prst="rect">
            <a:avLst/>
          </a:prstGeom>
          <a:noFill/>
          <a:ln/>
        </p:spPr>
        <p:txBody>
          <a:bodyPr wrap="square" lIns="0" tIns="0" rIns="0" bIns="0" rtlCol="0" anchor="ctr"/>
          <a:lstStyle/>
          <a:p>
            <a:pPr marL="0" indent="0" algn="r">
              <a:lnSpc>
                <a:spcPct val="120000"/>
              </a:lnSpc>
              <a:buNone/>
            </a:pPr>
            <a:r>
              <a:rPr lang="en-US" sz="1100" dirty="0">
                <a:solidFill>
                  <a:srgbClr val="7A756F"/>
                </a:solidFill>
                <a:latin typeface="Calibri" pitchFamily="34" charset="0"/>
                <a:ea typeface="Calibri" pitchFamily="34" charset="-122"/>
                <a:cs typeface="Calibri" pitchFamily="34" charset="-120"/>
              </a:rPr>
              <a:t>Candidato
</a:t>
            </a:r>
            <a:endParaRPr lang="en-US" sz="1100" dirty="0"/>
          </a:p>
          <a:p>
            <a:pPr marL="0" indent="0" algn="r">
              <a:lnSpc>
                <a:spcPct val="120000"/>
              </a:lnSpc>
              <a:buNone/>
            </a:pPr>
            <a:r>
              <a:rPr lang="en-US" sz="1400" b="1" dirty="0">
                <a:solidFill>
                  <a:srgbClr val="2C2624"/>
                </a:solidFill>
                <a:latin typeface="Calibri" pitchFamily="34" charset="0"/>
                <a:ea typeface="Calibri" pitchFamily="34" charset="-122"/>
                <a:cs typeface="Calibri" pitchFamily="34" charset="-120"/>
              </a:rPr>
              <a:t>Valerio Giannini</a:t>
            </a:r>
            <a:endParaRPr lang="en-US" sz="1100" dirty="0"/>
          </a:p>
        </p:txBody>
      </p:sp>
      <p:sp>
        <p:nvSpPr>
          <p:cNvPr id="10" name="Text 7"/>
          <p:cNvSpPr txBox="1"/>
          <p:nvPr/>
        </p:nvSpPr>
        <p:spPr>
          <a:xfrm>
            <a:off x="0" y="6217920"/>
            <a:ext cx="12191695" cy="320040"/>
          </a:xfrm>
          <a:prstGeom prst="rect">
            <a:avLst/>
          </a:prstGeom>
          <a:noFill/>
          <a:ln/>
        </p:spPr>
        <p:txBody>
          <a:bodyPr wrap="square" lIns="0" tIns="0" rIns="0" bIns="0" rtlCol="0" anchor="ctr"/>
          <a:lstStyle/>
          <a:p>
            <a:pPr marL="0" indent="0" algn="ctr">
              <a:buNone/>
            </a:pPr>
            <a:r>
              <a:rPr lang="en-US" sz="1100" kern="0" spc="50" dirty="0">
                <a:solidFill>
                  <a:srgbClr val="7A756F"/>
                </a:solidFill>
                <a:latin typeface="Calibri" pitchFamily="34" charset="0"/>
                <a:ea typeface="Calibri" pitchFamily="34" charset="-122"/>
                <a:cs typeface="Calibri" pitchFamily="34" charset="-120"/>
              </a:rPr>
              <a:t>II Appello  ·  Sessione 01/10/2026  ·  A.A. 2025/2026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457200"/>
            <a:ext cx="10515600" cy="320040"/>
          </a:xfrm>
          <a:prstGeom prst="rect">
            <a:avLst/>
          </a:prstGeom>
          <a:noFill/>
          <a:ln/>
        </p:spPr>
        <p:txBody>
          <a:bodyPr wrap="square" lIns="0" tIns="0" rIns="0" bIns="0" rtlCol="0" anchor="ctr"/>
          <a:lstStyle/>
          <a:p>
            <a:pPr marL="0" indent="0">
              <a:buNone/>
            </a:pPr>
            <a:r>
              <a:rPr lang="en-US" sz="1300" b="1" kern="0" spc="150" dirty="0">
                <a:solidFill>
                  <a:srgbClr val="7A756F"/>
                </a:solidFill>
                <a:latin typeface="Calibri" pitchFamily="34" charset="0"/>
                <a:ea typeface="Calibri" pitchFamily="34" charset="-122"/>
                <a:cs typeface="Calibri" pitchFamily="34" charset="-120"/>
              </a:rPr>
              <a:t>INTRODUZIONE</a:t>
            </a:r>
            <a:endParaRPr lang="en-US" sz="1300" dirty="0"/>
          </a:p>
        </p:txBody>
      </p:sp>
      <p:sp>
        <p:nvSpPr>
          <p:cNvPr id="3" name="Text 1"/>
          <p:cNvSpPr txBox="1"/>
          <p:nvPr/>
        </p:nvSpPr>
        <p:spPr>
          <a:xfrm>
            <a:off x="548640" y="749808"/>
            <a:ext cx="11064240" cy="868680"/>
          </a:xfrm>
          <a:prstGeom prst="rect">
            <a:avLst/>
          </a:prstGeom>
          <a:noFill/>
          <a:ln/>
        </p:spPr>
        <p:txBody>
          <a:bodyPr wrap="square" lIns="0" tIns="0" rIns="0" bIns="0" rtlCol="0" anchor="t"/>
          <a:lstStyle/>
          <a:p>
            <a:pPr marL="0" indent="0">
              <a:lnSpc>
                <a:spcPct val="102000"/>
              </a:lnSpc>
              <a:buNone/>
            </a:pPr>
            <a:r>
              <a:rPr lang="en-US" sz="3000" b="1" dirty="0">
                <a:solidFill>
                  <a:srgbClr val="BC290A"/>
                </a:solidFill>
                <a:latin typeface="Cambria" pitchFamily="34" charset="0"/>
                <a:ea typeface="Cambria" pitchFamily="34" charset="-122"/>
                <a:cs typeface="Cambria" pitchFamily="34" charset="-120"/>
              </a:rPr>
              <a:t>Il project management nei progetti IT</a:t>
            </a:r>
            <a:endParaRPr lang="en-US" sz="3000" dirty="0"/>
          </a:p>
        </p:txBody>
      </p:sp>
      <p:sp>
        <p:nvSpPr>
          <p:cNvPr id="4" name="Shape 2"/>
          <p:cNvSpPr/>
          <p:nvPr/>
        </p:nvSpPr>
        <p:spPr>
          <a:xfrm>
            <a:off x="640080" y="2148840"/>
            <a:ext cx="420624" cy="420624"/>
          </a:xfrm>
          <a:prstGeom prst="ellipse">
            <a:avLst/>
          </a:prstGeom>
          <a:solidFill>
            <a:srgbClr val="BC290A"/>
          </a:solidFill>
          <a:ln/>
        </p:spPr>
        <p:txBody>
          <a:bodyPr/>
          <a:lstStyle/>
          <a:p>
            <a:endParaRPr lang="it-IT"/>
          </a:p>
        </p:txBody>
      </p:sp>
      <p:sp>
        <p:nvSpPr>
          <p:cNvPr id="5" name="Text 3"/>
          <p:cNvSpPr txBox="1"/>
          <p:nvPr/>
        </p:nvSpPr>
        <p:spPr>
          <a:xfrm>
            <a:off x="640080" y="2148840"/>
            <a:ext cx="420624" cy="420624"/>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6" name="Text 4"/>
          <p:cNvSpPr txBox="1"/>
          <p:nvPr/>
        </p:nvSpPr>
        <p:spPr>
          <a:xfrm>
            <a:off x="1261872" y="2093976"/>
            <a:ext cx="9985248" cy="530352"/>
          </a:xfrm>
          <a:prstGeom prst="rect">
            <a:avLst/>
          </a:prstGeom>
          <a:noFill/>
          <a:ln/>
        </p:spPr>
        <p:txBody>
          <a:bodyPr wrap="square" lIns="0" tIns="0" rIns="0" bIns="0" rtlCol="0" anchor="ctr"/>
          <a:lstStyle/>
          <a:p>
            <a:pPr marL="0" indent="0">
              <a:lnSpc>
                <a:spcPct val="105000"/>
              </a:lnSpc>
              <a:buNone/>
            </a:pPr>
            <a:r>
              <a:rPr lang="en-US" sz="1600" dirty="0">
                <a:solidFill>
                  <a:srgbClr val="2C2624"/>
                </a:solidFill>
                <a:latin typeface="Calibri" pitchFamily="34" charset="0"/>
                <a:ea typeface="Calibri" pitchFamily="34" charset="-122"/>
                <a:cs typeface="Calibri" pitchFamily="34" charset="-120"/>
              </a:rPr>
              <a:t>Progetti IT: conciliare vincoli tecnici, organizzativi e di business </a:t>
            </a:r>
            <a:r>
              <a:rPr lang="en-US" sz="1600" dirty="0" err="1">
                <a:solidFill>
                  <a:srgbClr val="2C2624"/>
                </a:solidFill>
                <a:latin typeface="Calibri" pitchFamily="34" charset="0"/>
                <a:ea typeface="Calibri" pitchFamily="34" charset="-122"/>
                <a:cs typeface="Calibri" pitchFamily="34" charset="-120"/>
              </a:rPr>
              <a:t>eterogenei</a:t>
            </a:r>
            <a:endParaRPr lang="en-US" sz="1600" dirty="0"/>
          </a:p>
        </p:txBody>
      </p:sp>
      <p:sp>
        <p:nvSpPr>
          <p:cNvPr id="7" name="Shape 5"/>
          <p:cNvSpPr/>
          <p:nvPr/>
        </p:nvSpPr>
        <p:spPr>
          <a:xfrm>
            <a:off x="640080" y="3108960"/>
            <a:ext cx="420624" cy="420624"/>
          </a:xfrm>
          <a:prstGeom prst="ellipse">
            <a:avLst/>
          </a:prstGeom>
          <a:solidFill>
            <a:srgbClr val="BC290A"/>
          </a:solidFill>
          <a:ln/>
        </p:spPr>
        <p:txBody>
          <a:bodyPr/>
          <a:lstStyle/>
          <a:p>
            <a:endParaRPr lang="it-IT"/>
          </a:p>
        </p:txBody>
      </p:sp>
      <p:sp>
        <p:nvSpPr>
          <p:cNvPr id="8" name="Text 6"/>
          <p:cNvSpPr txBox="1"/>
          <p:nvPr/>
        </p:nvSpPr>
        <p:spPr>
          <a:xfrm>
            <a:off x="640080" y="3108960"/>
            <a:ext cx="420624" cy="420624"/>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9" name="Text 7"/>
          <p:cNvSpPr txBox="1"/>
          <p:nvPr/>
        </p:nvSpPr>
        <p:spPr>
          <a:xfrm>
            <a:off x="1261872" y="3054096"/>
            <a:ext cx="9985248" cy="530352"/>
          </a:xfrm>
          <a:prstGeom prst="rect">
            <a:avLst/>
          </a:prstGeom>
          <a:noFill/>
          <a:ln/>
        </p:spPr>
        <p:txBody>
          <a:bodyPr wrap="square" lIns="0" tIns="0" rIns="0" bIns="0" rtlCol="0" anchor="ctr"/>
          <a:lstStyle/>
          <a:p>
            <a:pPr marL="0" indent="0">
              <a:lnSpc>
                <a:spcPct val="105000"/>
              </a:lnSpc>
              <a:buNone/>
            </a:pPr>
            <a:r>
              <a:rPr lang="en-US" sz="1600" dirty="0">
                <a:solidFill>
                  <a:srgbClr val="2C2624"/>
                </a:solidFill>
                <a:latin typeface="Calibri" pitchFamily="34" charset="0"/>
                <a:ea typeface="Calibri" pitchFamily="34" charset="-122"/>
                <a:cs typeface="Calibri" pitchFamily="34" charset="-120"/>
              </a:rPr>
              <a:t>Obiettivo: confrontare gli approcci tradizionali e quelli agili al project management</a:t>
            </a:r>
            <a:endParaRPr lang="en-US" sz="1600" dirty="0"/>
          </a:p>
        </p:txBody>
      </p:sp>
      <p:sp>
        <p:nvSpPr>
          <p:cNvPr id="10" name="Shape 8"/>
          <p:cNvSpPr/>
          <p:nvPr/>
        </p:nvSpPr>
        <p:spPr>
          <a:xfrm>
            <a:off x="640080" y="4069080"/>
            <a:ext cx="420624" cy="420624"/>
          </a:xfrm>
          <a:prstGeom prst="ellipse">
            <a:avLst/>
          </a:prstGeom>
          <a:solidFill>
            <a:srgbClr val="BC290A"/>
          </a:solidFill>
          <a:ln/>
        </p:spPr>
        <p:txBody>
          <a:bodyPr/>
          <a:lstStyle/>
          <a:p>
            <a:endParaRPr lang="it-IT"/>
          </a:p>
        </p:txBody>
      </p:sp>
      <p:sp>
        <p:nvSpPr>
          <p:cNvPr id="11" name="Text 9"/>
          <p:cNvSpPr txBox="1"/>
          <p:nvPr/>
        </p:nvSpPr>
        <p:spPr>
          <a:xfrm>
            <a:off x="640080" y="4069080"/>
            <a:ext cx="420624" cy="420624"/>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2" name="Text 10"/>
          <p:cNvSpPr txBox="1"/>
          <p:nvPr/>
        </p:nvSpPr>
        <p:spPr>
          <a:xfrm>
            <a:off x="1261872" y="4014216"/>
            <a:ext cx="9985248" cy="530352"/>
          </a:xfrm>
          <a:prstGeom prst="rect">
            <a:avLst/>
          </a:prstGeom>
          <a:noFill/>
          <a:ln/>
        </p:spPr>
        <p:txBody>
          <a:bodyPr wrap="square" lIns="0" tIns="0" rIns="0" bIns="0" rtlCol="0" anchor="ctr"/>
          <a:lstStyle/>
          <a:p>
            <a:pPr marL="0" indent="0">
              <a:lnSpc>
                <a:spcPct val="105000"/>
              </a:lnSpc>
              <a:buNone/>
            </a:pPr>
            <a:r>
              <a:rPr lang="en-US" sz="1600" dirty="0">
                <a:solidFill>
                  <a:srgbClr val="2C2624"/>
                </a:solidFill>
                <a:latin typeface="Calibri" pitchFamily="34" charset="0"/>
                <a:ea typeface="Calibri" pitchFamily="34" charset="-122"/>
                <a:cs typeface="Calibri" pitchFamily="34" charset="-120"/>
              </a:rPr>
              <a:t>Ricavare dal confronto una definizione di project management comune a entrambi</a:t>
            </a:r>
            <a:endParaRPr lang="en-US" sz="1600" dirty="0"/>
          </a:p>
        </p:txBody>
      </p:sp>
      <p:sp>
        <p:nvSpPr>
          <p:cNvPr id="13" name="Shape 11"/>
          <p:cNvSpPr/>
          <p:nvPr/>
        </p:nvSpPr>
        <p:spPr>
          <a:xfrm>
            <a:off x="640080" y="5212080"/>
            <a:ext cx="10908792" cy="1005840"/>
          </a:xfrm>
          <a:prstGeom prst="roundRect">
            <a:avLst>
              <a:gd name="adj" fmla="val 8182"/>
            </a:avLst>
          </a:prstGeom>
          <a:solidFill>
            <a:srgbClr val="FAEEEB"/>
          </a:solidFill>
          <a:ln w="9525">
            <a:solidFill>
              <a:srgbClr val="E7E2DD"/>
            </a:solidFill>
            <a:prstDash val="solid"/>
          </a:ln>
        </p:spPr>
        <p:txBody>
          <a:bodyPr/>
          <a:lstStyle/>
          <a:p>
            <a:endParaRPr lang="it-IT"/>
          </a:p>
        </p:txBody>
      </p:sp>
      <p:sp>
        <p:nvSpPr>
          <p:cNvPr id="14" name="Text 12"/>
          <p:cNvSpPr txBox="1"/>
          <p:nvPr/>
        </p:nvSpPr>
        <p:spPr>
          <a:xfrm>
            <a:off x="960120" y="5212080"/>
            <a:ext cx="10268712" cy="1005840"/>
          </a:xfrm>
          <a:prstGeom prst="rect">
            <a:avLst/>
          </a:prstGeom>
          <a:noFill/>
          <a:ln/>
        </p:spPr>
        <p:txBody>
          <a:bodyPr wrap="square" lIns="0" tIns="0" rIns="0" bIns="0" rtlCol="0" anchor="ctr"/>
          <a:lstStyle/>
          <a:p>
            <a:pPr marL="0" indent="0">
              <a:lnSpc>
                <a:spcPct val="115000"/>
              </a:lnSpc>
              <a:buNone/>
            </a:pPr>
            <a:r>
              <a:rPr lang="en-US" sz="1450" i="1" dirty="0">
                <a:solidFill>
                  <a:srgbClr val="BC290A"/>
                </a:solidFill>
                <a:latin typeface="Calibri" pitchFamily="34" charset="0"/>
                <a:ea typeface="Calibri" pitchFamily="34" charset="-122"/>
                <a:cs typeface="Calibri" pitchFamily="34" charset="-120"/>
              </a:rPr>
              <a:t>La tesi è una revisione della letteratura, condotta su fonti ufficiali e sull'edizione più recente disponibile di ciascun testo.</a:t>
            </a:r>
            <a:endParaRPr lang="en-US" sz="1450" dirty="0"/>
          </a:p>
        </p:txBody>
      </p:sp>
      <p:sp>
        <p:nvSpPr>
          <p:cNvPr id="15" name="Text 13"/>
          <p:cNvSpPr txBox="1"/>
          <p:nvPr/>
        </p:nvSpPr>
        <p:spPr>
          <a:xfrm>
            <a:off x="548640" y="6473952"/>
            <a:ext cx="7315200" cy="274320"/>
          </a:xfrm>
          <a:prstGeom prst="rect">
            <a:avLst/>
          </a:prstGeom>
          <a:noFill/>
          <a:ln/>
        </p:spPr>
        <p:txBody>
          <a:bodyPr wrap="square" lIns="0" tIns="0" rIns="0" bIns="0" rtlCol="0" anchor="ctr"/>
          <a:lstStyle/>
          <a:p>
            <a:pPr marL="0" indent="0">
              <a:buNone/>
            </a:pPr>
            <a:r>
              <a:rPr lang="en-US" sz="900" kern="0" spc="120" dirty="0">
                <a:solidFill>
                  <a:srgbClr val="7A756F"/>
                </a:solidFill>
                <a:latin typeface="Calibri" pitchFamily="34" charset="0"/>
                <a:ea typeface="Calibri" pitchFamily="34" charset="-122"/>
                <a:cs typeface="Calibri" pitchFamily="34" charset="-120"/>
              </a:rPr>
              <a:t>INTRODUZIONE</a:t>
            </a:r>
            <a:endParaRPr lang="en-US" sz="900" dirty="0"/>
          </a:p>
        </p:txBody>
      </p:sp>
      <p:sp>
        <p:nvSpPr>
          <p:cNvPr id="16" name="Text 14"/>
          <p:cNvSpPr txBox="1"/>
          <p:nvPr/>
        </p:nvSpPr>
        <p:spPr>
          <a:xfrm>
            <a:off x="11277295" y="6473952"/>
            <a:ext cx="457200" cy="274320"/>
          </a:xfrm>
          <a:prstGeom prst="rect">
            <a:avLst/>
          </a:prstGeom>
          <a:noFill/>
          <a:ln/>
        </p:spPr>
        <p:txBody>
          <a:bodyPr wrap="square" lIns="0" tIns="0" rIns="0" bIns="0" rtlCol="0" anchor="ctr"/>
          <a:lstStyle/>
          <a:p>
            <a:pPr marL="0" indent="0" algn="r">
              <a:buNone/>
            </a:pPr>
            <a:r>
              <a:rPr lang="en-US" sz="900" dirty="0">
                <a:solidFill>
                  <a:srgbClr val="BC290A"/>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457200"/>
            <a:ext cx="10515600" cy="320040"/>
          </a:xfrm>
          <a:prstGeom prst="rect">
            <a:avLst/>
          </a:prstGeom>
          <a:noFill/>
          <a:ln/>
        </p:spPr>
        <p:txBody>
          <a:bodyPr wrap="square" lIns="0" tIns="0" rIns="0" bIns="0" rtlCol="0" anchor="ctr"/>
          <a:lstStyle/>
          <a:p>
            <a:pPr marL="0" indent="0">
              <a:buNone/>
            </a:pPr>
            <a:r>
              <a:rPr lang="en-US" sz="1300" b="1" kern="0" spc="150" dirty="0">
                <a:solidFill>
                  <a:srgbClr val="7A756F"/>
                </a:solidFill>
                <a:latin typeface="Calibri" pitchFamily="34" charset="0"/>
                <a:ea typeface="Calibri" pitchFamily="34" charset="-122"/>
                <a:cs typeface="Calibri" pitchFamily="34" charset="-120"/>
              </a:rPr>
              <a:t>INTRODUZIONE</a:t>
            </a:r>
            <a:endParaRPr lang="en-US" sz="1300" dirty="0"/>
          </a:p>
        </p:txBody>
      </p:sp>
      <p:sp>
        <p:nvSpPr>
          <p:cNvPr id="3" name="Text 1"/>
          <p:cNvSpPr txBox="1"/>
          <p:nvPr/>
        </p:nvSpPr>
        <p:spPr>
          <a:xfrm>
            <a:off x="548640" y="749808"/>
            <a:ext cx="11064240" cy="868680"/>
          </a:xfrm>
          <a:prstGeom prst="rect">
            <a:avLst/>
          </a:prstGeom>
          <a:noFill/>
          <a:ln/>
        </p:spPr>
        <p:txBody>
          <a:bodyPr wrap="square" lIns="0" tIns="0" rIns="0" bIns="0" rtlCol="0" anchor="t"/>
          <a:lstStyle/>
          <a:p>
            <a:pPr marL="0" indent="0">
              <a:lnSpc>
                <a:spcPct val="102000"/>
              </a:lnSpc>
              <a:buNone/>
            </a:pPr>
            <a:r>
              <a:rPr lang="en-US" sz="3000" b="1" dirty="0">
                <a:solidFill>
                  <a:srgbClr val="BC290A"/>
                </a:solidFill>
                <a:latin typeface="Cambria" pitchFamily="34" charset="0"/>
                <a:ea typeface="Cambria" pitchFamily="34" charset="-122"/>
                <a:cs typeface="Cambria" pitchFamily="34" charset="-120"/>
              </a:rPr>
              <a:t>Metodologia: revisione della letteratura</a:t>
            </a:r>
            <a:endParaRPr lang="en-US" sz="3000" dirty="0"/>
          </a:p>
        </p:txBody>
      </p:sp>
      <p:sp>
        <p:nvSpPr>
          <p:cNvPr id="4" name="Shape 2"/>
          <p:cNvSpPr/>
          <p:nvPr/>
        </p:nvSpPr>
        <p:spPr>
          <a:xfrm>
            <a:off x="640080" y="2148840"/>
            <a:ext cx="5257800" cy="3246120"/>
          </a:xfrm>
          <a:prstGeom prst="roundRect">
            <a:avLst>
              <a:gd name="adj" fmla="val 2535"/>
            </a:avLst>
          </a:prstGeom>
          <a:solidFill>
            <a:srgbClr val="FAEEEB"/>
          </a:solidFill>
          <a:ln w="9525">
            <a:solidFill>
              <a:srgbClr val="E7E2DD"/>
            </a:solidFill>
            <a:prstDash val="solid"/>
          </a:ln>
          <a:effectLst>
            <a:outerShdw blurRad="76200" dist="25400" dir="5400000" algn="bl" rotWithShape="0">
              <a:srgbClr val="1A1013">
                <a:alpha val="15000"/>
              </a:srgbClr>
            </a:outerShdw>
          </a:effectLst>
        </p:spPr>
        <p:txBody>
          <a:bodyPr/>
          <a:lstStyle/>
          <a:p>
            <a:endParaRPr lang="it-IT"/>
          </a:p>
        </p:txBody>
      </p:sp>
      <p:sp>
        <p:nvSpPr>
          <p:cNvPr id="5" name="Text 3"/>
          <p:cNvSpPr txBox="1"/>
          <p:nvPr/>
        </p:nvSpPr>
        <p:spPr>
          <a:xfrm>
            <a:off x="914400" y="2359152"/>
            <a:ext cx="4754880" cy="320040"/>
          </a:xfrm>
          <a:prstGeom prst="rect">
            <a:avLst/>
          </a:prstGeom>
          <a:noFill/>
          <a:ln/>
        </p:spPr>
        <p:txBody>
          <a:bodyPr wrap="square" lIns="0" tIns="0" rIns="0" bIns="0" rtlCol="0" anchor="ctr"/>
          <a:lstStyle/>
          <a:p>
            <a:pPr marL="0" indent="0">
              <a:buNone/>
            </a:pPr>
            <a:r>
              <a:rPr lang="en-US" sz="1200" b="1" kern="0" spc="120" dirty="0">
                <a:solidFill>
                  <a:srgbClr val="BC290A"/>
                </a:solidFill>
                <a:latin typeface="Calibri" pitchFamily="34" charset="0"/>
                <a:ea typeface="Calibri" pitchFamily="34" charset="-122"/>
                <a:cs typeface="Calibri" pitchFamily="34" charset="-120"/>
              </a:rPr>
              <a:t>APPROCCI TRADIZIONALI</a:t>
            </a:r>
            <a:endParaRPr lang="en-US" sz="1200" dirty="0"/>
          </a:p>
        </p:txBody>
      </p:sp>
      <p:sp>
        <p:nvSpPr>
          <p:cNvPr id="6" name="Text 4"/>
          <p:cNvSpPr txBox="1"/>
          <p:nvPr/>
        </p:nvSpPr>
        <p:spPr>
          <a:xfrm>
            <a:off x="914400" y="2834640"/>
            <a:ext cx="4754880" cy="310896"/>
          </a:xfrm>
          <a:prstGeom prst="rect">
            <a:avLst/>
          </a:prstGeom>
          <a:noFill/>
          <a:ln/>
        </p:spPr>
        <p:txBody>
          <a:bodyPr wrap="square" lIns="0" tIns="0" rIns="0" bIns="0" rtlCol="0" anchor="ctr"/>
          <a:lstStyle/>
          <a:p>
            <a:pPr marL="0" indent="0">
              <a:buNone/>
            </a:pPr>
            <a:r>
              <a:rPr lang="en-US" sz="1500" b="1" dirty="0">
                <a:solidFill>
                  <a:srgbClr val="2C2624"/>
                </a:solidFill>
                <a:latin typeface="Calibri" pitchFamily="34" charset="0"/>
                <a:ea typeface="Calibri" pitchFamily="34" charset="-122"/>
                <a:cs typeface="Calibri" pitchFamily="34" charset="-120"/>
              </a:rPr>
              <a:t>PMBOK</a:t>
            </a:r>
            <a:endParaRPr lang="en-US" sz="1500" dirty="0"/>
          </a:p>
        </p:txBody>
      </p:sp>
      <p:sp>
        <p:nvSpPr>
          <p:cNvPr id="7" name="Text 5"/>
          <p:cNvSpPr txBox="1"/>
          <p:nvPr/>
        </p:nvSpPr>
        <p:spPr>
          <a:xfrm>
            <a:off x="914400" y="3145536"/>
            <a:ext cx="4754880" cy="274320"/>
          </a:xfrm>
          <a:prstGeom prst="rect">
            <a:avLst/>
          </a:prstGeom>
          <a:noFill/>
          <a:ln/>
        </p:spPr>
        <p:txBody>
          <a:bodyPr wrap="square" lIns="0" tIns="0" rIns="0" bIns="0" rtlCol="0" anchor="ctr"/>
          <a:lstStyle/>
          <a:p>
            <a:pPr marL="0" indent="0">
              <a:buNone/>
            </a:pPr>
            <a:r>
              <a:rPr lang="en-US" sz="1200" dirty="0">
                <a:solidFill>
                  <a:srgbClr val="5B5350"/>
                </a:solidFill>
                <a:latin typeface="Calibri" pitchFamily="34" charset="0"/>
                <a:ea typeface="Calibri" pitchFamily="34" charset="-122"/>
                <a:cs typeface="Calibri" pitchFamily="34" charset="-120"/>
              </a:rPr>
              <a:t>ottava edizione, 2025</a:t>
            </a:r>
            <a:endParaRPr lang="en-US" sz="1200" dirty="0"/>
          </a:p>
        </p:txBody>
      </p:sp>
      <p:sp>
        <p:nvSpPr>
          <p:cNvPr id="8" name="Text 6"/>
          <p:cNvSpPr txBox="1"/>
          <p:nvPr/>
        </p:nvSpPr>
        <p:spPr>
          <a:xfrm>
            <a:off x="914400" y="3493008"/>
            <a:ext cx="4754880" cy="310896"/>
          </a:xfrm>
          <a:prstGeom prst="rect">
            <a:avLst/>
          </a:prstGeom>
          <a:noFill/>
          <a:ln/>
        </p:spPr>
        <p:txBody>
          <a:bodyPr wrap="square" lIns="0" tIns="0" rIns="0" bIns="0" rtlCol="0" anchor="ctr"/>
          <a:lstStyle/>
          <a:p>
            <a:pPr marL="0" indent="0">
              <a:buNone/>
            </a:pPr>
            <a:r>
              <a:rPr lang="en-US" sz="1500" b="1" dirty="0">
                <a:solidFill>
                  <a:srgbClr val="2C2624"/>
                </a:solidFill>
                <a:latin typeface="Calibri" pitchFamily="34" charset="0"/>
                <a:ea typeface="Calibri" pitchFamily="34" charset="-122"/>
                <a:cs typeface="Calibri" pitchFamily="34" charset="-120"/>
              </a:rPr>
              <a:t>PRINCE2</a:t>
            </a:r>
            <a:endParaRPr lang="en-US" sz="1500" dirty="0"/>
          </a:p>
        </p:txBody>
      </p:sp>
      <p:sp>
        <p:nvSpPr>
          <p:cNvPr id="9" name="Text 7"/>
          <p:cNvSpPr txBox="1"/>
          <p:nvPr/>
        </p:nvSpPr>
        <p:spPr>
          <a:xfrm>
            <a:off x="914400" y="3803904"/>
            <a:ext cx="4754880" cy="274320"/>
          </a:xfrm>
          <a:prstGeom prst="rect">
            <a:avLst/>
          </a:prstGeom>
          <a:noFill/>
          <a:ln/>
        </p:spPr>
        <p:txBody>
          <a:bodyPr wrap="square" lIns="0" tIns="0" rIns="0" bIns="0" rtlCol="0" anchor="ctr"/>
          <a:lstStyle/>
          <a:p>
            <a:pPr marL="0" indent="0">
              <a:buNone/>
            </a:pPr>
            <a:r>
              <a:rPr lang="en-US" sz="1200" dirty="0">
                <a:solidFill>
                  <a:srgbClr val="5B5350"/>
                </a:solidFill>
                <a:latin typeface="Calibri" pitchFamily="34" charset="0"/>
                <a:ea typeface="Calibri" pitchFamily="34" charset="-122"/>
                <a:cs typeface="Calibri" pitchFamily="34" charset="-120"/>
              </a:rPr>
              <a:t>settima edizione, 2023</a:t>
            </a:r>
            <a:endParaRPr lang="en-US" sz="1200" dirty="0"/>
          </a:p>
        </p:txBody>
      </p:sp>
      <p:sp>
        <p:nvSpPr>
          <p:cNvPr id="10" name="Text 8"/>
          <p:cNvSpPr txBox="1"/>
          <p:nvPr/>
        </p:nvSpPr>
        <p:spPr>
          <a:xfrm>
            <a:off x="914400" y="4151376"/>
            <a:ext cx="4754880" cy="310896"/>
          </a:xfrm>
          <a:prstGeom prst="rect">
            <a:avLst/>
          </a:prstGeom>
          <a:noFill/>
          <a:ln/>
        </p:spPr>
        <p:txBody>
          <a:bodyPr wrap="square" lIns="0" tIns="0" rIns="0" bIns="0" rtlCol="0" anchor="ctr"/>
          <a:lstStyle/>
          <a:p>
            <a:pPr marL="0" indent="0">
              <a:buNone/>
            </a:pPr>
            <a:r>
              <a:rPr lang="en-US" sz="1500" b="1" dirty="0">
                <a:solidFill>
                  <a:srgbClr val="2C2624"/>
                </a:solidFill>
                <a:latin typeface="Calibri" pitchFamily="34" charset="0"/>
                <a:ea typeface="Calibri" pitchFamily="34" charset="-122"/>
                <a:cs typeface="Calibri" pitchFamily="34" charset="-120"/>
              </a:rPr>
              <a:t>ISO 21500 / 21502</a:t>
            </a:r>
            <a:endParaRPr lang="en-US" sz="1500" dirty="0"/>
          </a:p>
        </p:txBody>
      </p:sp>
      <p:sp>
        <p:nvSpPr>
          <p:cNvPr id="11" name="Text 9"/>
          <p:cNvSpPr txBox="1"/>
          <p:nvPr/>
        </p:nvSpPr>
        <p:spPr>
          <a:xfrm>
            <a:off x="914400" y="4462272"/>
            <a:ext cx="4754880" cy="274320"/>
          </a:xfrm>
          <a:prstGeom prst="rect">
            <a:avLst/>
          </a:prstGeom>
          <a:noFill/>
          <a:ln/>
        </p:spPr>
        <p:txBody>
          <a:bodyPr wrap="square" lIns="0" tIns="0" rIns="0" bIns="0" rtlCol="0" anchor="ctr"/>
          <a:lstStyle/>
          <a:p>
            <a:pPr marL="0" indent="0">
              <a:buNone/>
            </a:pPr>
            <a:r>
              <a:rPr lang="en-US" sz="1200" dirty="0">
                <a:solidFill>
                  <a:srgbClr val="5B5350"/>
                </a:solidFill>
                <a:latin typeface="Calibri" pitchFamily="34" charset="0"/>
                <a:ea typeface="Calibri" pitchFamily="34" charset="-122"/>
                <a:cs typeface="Calibri" pitchFamily="34" charset="-120"/>
              </a:rPr>
              <a:t>famiglia di norme</a:t>
            </a:r>
            <a:endParaRPr lang="en-US" sz="1200" dirty="0"/>
          </a:p>
        </p:txBody>
      </p:sp>
      <p:sp>
        <p:nvSpPr>
          <p:cNvPr id="12" name="Shape 10"/>
          <p:cNvSpPr/>
          <p:nvPr/>
        </p:nvSpPr>
        <p:spPr>
          <a:xfrm>
            <a:off x="6263640" y="2148840"/>
            <a:ext cx="5257800" cy="3246120"/>
          </a:xfrm>
          <a:prstGeom prst="roundRect">
            <a:avLst>
              <a:gd name="adj" fmla="val 2535"/>
            </a:avLst>
          </a:prstGeom>
          <a:solidFill>
            <a:srgbClr val="FAEEEB"/>
          </a:solidFill>
          <a:ln w="9525">
            <a:solidFill>
              <a:srgbClr val="E7E2DD"/>
            </a:solidFill>
            <a:prstDash val="solid"/>
          </a:ln>
          <a:effectLst>
            <a:outerShdw blurRad="76200" dist="25400" dir="5400000" algn="bl" rotWithShape="0">
              <a:srgbClr val="1A1013">
                <a:alpha val="15000"/>
              </a:srgbClr>
            </a:outerShdw>
          </a:effectLst>
        </p:spPr>
        <p:txBody>
          <a:bodyPr/>
          <a:lstStyle/>
          <a:p>
            <a:endParaRPr lang="it-IT"/>
          </a:p>
        </p:txBody>
      </p:sp>
      <p:sp>
        <p:nvSpPr>
          <p:cNvPr id="13" name="Text 11"/>
          <p:cNvSpPr txBox="1"/>
          <p:nvPr/>
        </p:nvSpPr>
        <p:spPr>
          <a:xfrm>
            <a:off x="6537960" y="2359152"/>
            <a:ext cx="4754880" cy="320040"/>
          </a:xfrm>
          <a:prstGeom prst="rect">
            <a:avLst/>
          </a:prstGeom>
          <a:noFill/>
          <a:ln/>
        </p:spPr>
        <p:txBody>
          <a:bodyPr wrap="square" lIns="0" tIns="0" rIns="0" bIns="0" rtlCol="0" anchor="ctr"/>
          <a:lstStyle/>
          <a:p>
            <a:pPr marL="0" indent="0">
              <a:buNone/>
            </a:pPr>
            <a:r>
              <a:rPr lang="en-US" sz="1200" b="1" kern="0" spc="120" dirty="0">
                <a:solidFill>
                  <a:srgbClr val="BC290A"/>
                </a:solidFill>
                <a:latin typeface="Calibri" pitchFamily="34" charset="0"/>
                <a:ea typeface="Calibri" pitchFamily="34" charset="-122"/>
                <a:cs typeface="Calibri" pitchFamily="34" charset="-120"/>
              </a:rPr>
              <a:t>APPROCCI AGILE</a:t>
            </a:r>
            <a:endParaRPr lang="en-US" sz="1200" dirty="0"/>
          </a:p>
        </p:txBody>
      </p:sp>
      <p:sp>
        <p:nvSpPr>
          <p:cNvPr id="14" name="Text 12"/>
          <p:cNvSpPr txBox="1"/>
          <p:nvPr/>
        </p:nvSpPr>
        <p:spPr>
          <a:xfrm>
            <a:off x="6537960" y="2834640"/>
            <a:ext cx="4754880" cy="310896"/>
          </a:xfrm>
          <a:prstGeom prst="rect">
            <a:avLst/>
          </a:prstGeom>
          <a:noFill/>
          <a:ln/>
        </p:spPr>
        <p:txBody>
          <a:bodyPr wrap="square" lIns="0" tIns="0" rIns="0" bIns="0" rtlCol="0" anchor="ctr"/>
          <a:lstStyle/>
          <a:p>
            <a:pPr marL="0" indent="0">
              <a:buNone/>
            </a:pPr>
            <a:r>
              <a:rPr lang="en-US" sz="1500" b="1" dirty="0">
                <a:solidFill>
                  <a:srgbClr val="2C2624"/>
                </a:solidFill>
                <a:latin typeface="Calibri" pitchFamily="34" charset="0"/>
                <a:ea typeface="Calibri" pitchFamily="34" charset="-122"/>
                <a:cs typeface="Calibri" pitchFamily="34" charset="-120"/>
              </a:rPr>
              <a:t>Manifesto Agile</a:t>
            </a:r>
            <a:endParaRPr lang="en-US" sz="1500" dirty="0"/>
          </a:p>
        </p:txBody>
      </p:sp>
      <p:sp>
        <p:nvSpPr>
          <p:cNvPr id="15" name="Text 13"/>
          <p:cNvSpPr txBox="1"/>
          <p:nvPr/>
        </p:nvSpPr>
        <p:spPr>
          <a:xfrm>
            <a:off x="6537960" y="3145536"/>
            <a:ext cx="4754880" cy="274320"/>
          </a:xfrm>
          <a:prstGeom prst="rect">
            <a:avLst/>
          </a:prstGeom>
          <a:noFill/>
          <a:ln/>
        </p:spPr>
        <p:txBody>
          <a:bodyPr wrap="square" lIns="0" tIns="0" rIns="0" bIns="0" rtlCol="0" anchor="ctr"/>
          <a:lstStyle/>
          <a:p>
            <a:pPr marL="0" indent="0">
              <a:buNone/>
            </a:pPr>
            <a:r>
              <a:rPr lang="en-US" sz="1200" dirty="0">
                <a:solidFill>
                  <a:srgbClr val="5B5350"/>
                </a:solidFill>
                <a:latin typeface="Calibri" pitchFamily="34" charset="0"/>
                <a:ea typeface="Calibri" pitchFamily="34" charset="-122"/>
                <a:cs typeface="Calibri" pitchFamily="34" charset="-120"/>
              </a:rPr>
              <a:t>2001</a:t>
            </a:r>
            <a:endParaRPr lang="en-US" sz="1200" dirty="0"/>
          </a:p>
        </p:txBody>
      </p:sp>
      <p:sp>
        <p:nvSpPr>
          <p:cNvPr id="16" name="Text 14"/>
          <p:cNvSpPr txBox="1"/>
          <p:nvPr/>
        </p:nvSpPr>
        <p:spPr>
          <a:xfrm>
            <a:off x="6537960" y="3493008"/>
            <a:ext cx="4754880" cy="310896"/>
          </a:xfrm>
          <a:prstGeom prst="rect">
            <a:avLst/>
          </a:prstGeom>
          <a:noFill/>
          <a:ln/>
        </p:spPr>
        <p:txBody>
          <a:bodyPr wrap="square" lIns="0" tIns="0" rIns="0" bIns="0" rtlCol="0" anchor="ctr"/>
          <a:lstStyle/>
          <a:p>
            <a:pPr marL="0" indent="0">
              <a:buNone/>
            </a:pPr>
            <a:r>
              <a:rPr lang="en-US" sz="1500" b="1" dirty="0">
                <a:solidFill>
                  <a:srgbClr val="2C2624"/>
                </a:solidFill>
                <a:latin typeface="Calibri" pitchFamily="34" charset="0"/>
                <a:ea typeface="Calibri" pitchFamily="34" charset="-122"/>
                <a:cs typeface="Calibri" pitchFamily="34" charset="-120"/>
              </a:rPr>
              <a:t>Agile Practice Guide</a:t>
            </a:r>
            <a:endParaRPr lang="en-US" sz="1500" dirty="0"/>
          </a:p>
        </p:txBody>
      </p:sp>
      <p:sp>
        <p:nvSpPr>
          <p:cNvPr id="17" name="Text 15"/>
          <p:cNvSpPr txBox="1"/>
          <p:nvPr/>
        </p:nvSpPr>
        <p:spPr>
          <a:xfrm>
            <a:off x="6537960" y="3803904"/>
            <a:ext cx="4754880" cy="274320"/>
          </a:xfrm>
          <a:prstGeom prst="rect">
            <a:avLst/>
          </a:prstGeom>
          <a:noFill/>
          <a:ln/>
        </p:spPr>
        <p:txBody>
          <a:bodyPr wrap="square" lIns="0" tIns="0" rIns="0" bIns="0" rtlCol="0" anchor="ctr"/>
          <a:lstStyle/>
          <a:p>
            <a:pPr marL="0" indent="0">
              <a:buNone/>
            </a:pPr>
            <a:r>
              <a:rPr lang="en-US" sz="1200" dirty="0">
                <a:solidFill>
                  <a:srgbClr val="5B5350"/>
                </a:solidFill>
                <a:latin typeface="Calibri" pitchFamily="34" charset="0"/>
                <a:ea typeface="Calibri" pitchFamily="34" charset="-122"/>
                <a:cs typeface="Calibri" pitchFamily="34" charset="-120"/>
              </a:rPr>
              <a:t>PMI, 2ª edizione</a:t>
            </a:r>
            <a:endParaRPr lang="en-US" sz="1200" dirty="0"/>
          </a:p>
        </p:txBody>
      </p:sp>
      <p:sp>
        <p:nvSpPr>
          <p:cNvPr id="18" name="Text 16"/>
          <p:cNvSpPr txBox="1"/>
          <p:nvPr/>
        </p:nvSpPr>
        <p:spPr>
          <a:xfrm>
            <a:off x="6537960" y="4151376"/>
            <a:ext cx="4754880" cy="310896"/>
          </a:xfrm>
          <a:prstGeom prst="rect">
            <a:avLst/>
          </a:prstGeom>
          <a:noFill/>
          <a:ln/>
        </p:spPr>
        <p:txBody>
          <a:bodyPr wrap="square" lIns="0" tIns="0" rIns="0" bIns="0" rtlCol="0" anchor="ctr"/>
          <a:lstStyle/>
          <a:p>
            <a:pPr marL="0" indent="0">
              <a:buNone/>
            </a:pPr>
            <a:r>
              <a:rPr lang="en-US" sz="1500" b="1" dirty="0">
                <a:solidFill>
                  <a:srgbClr val="2C2624"/>
                </a:solidFill>
                <a:latin typeface="Calibri" pitchFamily="34" charset="0"/>
                <a:ea typeface="Calibri" pitchFamily="34" charset="-122"/>
                <a:cs typeface="Calibri" pitchFamily="34" charset="-120"/>
              </a:rPr>
              <a:t>Scrum Guide</a:t>
            </a:r>
            <a:endParaRPr lang="en-US" sz="1500" dirty="0"/>
          </a:p>
        </p:txBody>
      </p:sp>
      <p:sp>
        <p:nvSpPr>
          <p:cNvPr id="19" name="Text 17"/>
          <p:cNvSpPr txBox="1"/>
          <p:nvPr/>
        </p:nvSpPr>
        <p:spPr>
          <a:xfrm>
            <a:off x="6537960" y="4462272"/>
            <a:ext cx="4754880" cy="274320"/>
          </a:xfrm>
          <a:prstGeom prst="rect">
            <a:avLst/>
          </a:prstGeom>
          <a:noFill/>
          <a:ln/>
        </p:spPr>
        <p:txBody>
          <a:bodyPr wrap="square" lIns="0" tIns="0" rIns="0" bIns="0" rtlCol="0" anchor="ctr"/>
          <a:lstStyle/>
          <a:p>
            <a:pPr marL="0" indent="0">
              <a:buNone/>
            </a:pPr>
            <a:r>
              <a:rPr lang="en-US" sz="1200" dirty="0">
                <a:solidFill>
                  <a:srgbClr val="5B5350"/>
                </a:solidFill>
                <a:latin typeface="Calibri" pitchFamily="34" charset="0"/>
                <a:ea typeface="Calibri" pitchFamily="34" charset="-122"/>
                <a:cs typeface="Calibri" pitchFamily="34" charset="-120"/>
              </a:rPr>
              <a:t>novembre 2020</a:t>
            </a:r>
            <a:endParaRPr lang="en-US" sz="1200" dirty="0"/>
          </a:p>
        </p:txBody>
      </p:sp>
      <p:sp>
        <p:nvSpPr>
          <p:cNvPr id="20" name="Text 18"/>
          <p:cNvSpPr txBox="1"/>
          <p:nvPr/>
        </p:nvSpPr>
        <p:spPr>
          <a:xfrm>
            <a:off x="640080" y="5623560"/>
            <a:ext cx="10881360" cy="457200"/>
          </a:xfrm>
          <a:prstGeom prst="rect">
            <a:avLst/>
          </a:prstGeom>
          <a:noFill/>
          <a:ln/>
        </p:spPr>
        <p:txBody>
          <a:bodyPr wrap="square" lIns="0" tIns="0" rIns="0" bIns="0" rtlCol="0" anchor="ctr"/>
          <a:lstStyle/>
          <a:p>
            <a:pPr marL="0" indent="0" algn="ctr">
              <a:buNone/>
            </a:pPr>
            <a:r>
              <a:rPr lang="en-US" sz="1450" b="1" dirty="0">
                <a:solidFill>
                  <a:srgbClr val="BC290A"/>
                </a:solidFill>
                <a:latin typeface="Calibri" pitchFamily="34" charset="0"/>
                <a:ea typeface="Calibri" pitchFamily="34" charset="-122"/>
                <a:cs typeface="Calibri" pitchFamily="34" charset="-120"/>
              </a:rPr>
              <a:t>Criteri di selezione delle fonti:  rilevanza   ·   autorevolezza   ·   aggiornamento</a:t>
            </a:r>
            <a:endParaRPr lang="en-US" sz="1450" dirty="0"/>
          </a:p>
        </p:txBody>
      </p:sp>
      <p:sp>
        <p:nvSpPr>
          <p:cNvPr id="21" name="Text 19"/>
          <p:cNvSpPr txBox="1"/>
          <p:nvPr/>
        </p:nvSpPr>
        <p:spPr>
          <a:xfrm>
            <a:off x="548640" y="6473952"/>
            <a:ext cx="7315200" cy="274320"/>
          </a:xfrm>
          <a:prstGeom prst="rect">
            <a:avLst/>
          </a:prstGeom>
          <a:noFill/>
          <a:ln/>
        </p:spPr>
        <p:txBody>
          <a:bodyPr wrap="square" lIns="0" tIns="0" rIns="0" bIns="0" rtlCol="0" anchor="ctr"/>
          <a:lstStyle/>
          <a:p>
            <a:pPr marL="0" indent="0">
              <a:buNone/>
            </a:pPr>
            <a:r>
              <a:rPr lang="en-US" sz="900" kern="0" spc="120" dirty="0">
                <a:solidFill>
                  <a:srgbClr val="7A756F"/>
                </a:solidFill>
                <a:latin typeface="Calibri" pitchFamily="34" charset="0"/>
                <a:ea typeface="Calibri" pitchFamily="34" charset="-122"/>
                <a:cs typeface="Calibri" pitchFamily="34" charset="-120"/>
              </a:rPr>
              <a:t>INTRODUZIONE</a:t>
            </a:r>
            <a:endParaRPr lang="en-US" sz="900" dirty="0"/>
          </a:p>
        </p:txBody>
      </p:sp>
      <p:sp>
        <p:nvSpPr>
          <p:cNvPr id="22" name="Text 20"/>
          <p:cNvSpPr txBox="1"/>
          <p:nvPr/>
        </p:nvSpPr>
        <p:spPr>
          <a:xfrm>
            <a:off x="11277295" y="6473952"/>
            <a:ext cx="457200" cy="274320"/>
          </a:xfrm>
          <a:prstGeom prst="rect">
            <a:avLst/>
          </a:prstGeom>
          <a:noFill/>
          <a:ln/>
        </p:spPr>
        <p:txBody>
          <a:bodyPr wrap="square" lIns="0" tIns="0" rIns="0" bIns="0" rtlCol="0" anchor="ctr"/>
          <a:lstStyle/>
          <a:p>
            <a:pPr marL="0" indent="0" algn="r">
              <a:buNone/>
            </a:pPr>
            <a:r>
              <a:rPr lang="en-US" sz="900" dirty="0">
                <a:solidFill>
                  <a:srgbClr val="BC290A"/>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457200"/>
            <a:ext cx="10515600" cy="320040"/>
          </a:xfrm>
          <a:prstGeom prst="rect">
            <a:avLst/>
          </a:prstGeom>
          <a:noFill/>
          <a:ln/>
        </p:spPr>
        <p:txBody>
          <a:bodyPr wrap="square" lIns="0" tIns="0" rIns="0" bIns="0" rtlCol="0" anchor="ctr"/>
          <a:lstStyle/>
          <a:p>
            <a:pPr marL="0" indent="0">
              <a:buNone/>
            </a:pPr>
            <a:r>
              <a:rPr lang="en-US" sz="1300" b="1" kern="0" spc="150" dirty="0">
                <a:solidFill>
                  <a:srgbClr val="7A756F"/>
                </a:solidFill>
                <a:latin typeface="Calibri" pitchFamily="34" charset="0"/>
                <a:ea typeface="Calibri" pitchFamily="34" charset="-122"/>
                <a:cs typeface="Calibri" pitchFamily="34" charset="-120"/>
              </a:rPr>
              <a:t>CAPITOLO 1 · APPROCCI TRADIZIONALI</a:t>
            </a:r>
            <a:endParaRPr lang="en-US" sz="1300" dirty="0"/>
          </a:p>
        </p:txBody>
      </p:sp>
      <p:sp>
        <p:nvSpPr>
          <p:cNvPr id="3" name="Text 1"/>
          <p:cNvSpPr txBox="1"/>
          <p:nvPr/>
        </p:nvSpPr>
        <p:spPr>
          <a:xfrm>
            <a:off x="548640" y="758434"/>
            <a:ext cx="11064240" cy="868680"/>
          </a:xfrm>
          <a:prstGeom prst="rect">
            <a:avLst/>
          </a:prstGeom>
          <a:noFill/>
          <a:ln/>
        </p:spPr>
        <p:txBody>
          <a:bodyPr wrap="square" lIns="0" tIns="0" rIns="0" bIns="0" rtlCol="0" anchor="t"/>
          <a:lstStyle/>
          <a:p>
            <a:pPr marL="0" indent="0">
              <a:lnSpc>
                <a:spcPct val="102000"/>
              </a:lnSpc>
              <a:buNone/>
            </a:pPr>
            <a:r>
              <a:rPr lang="en-US" sz="3000" b="1" dirty="0">
                <a:solidFill>
                  <a:srgbClr val="BC290A"/>
                </a:solidFill>
                <a:latin typeface="Cambria" pitchFamily="34" charset="0"/>
                <a:ea typeface="Cambria" pitchFamily="34" charset="-122"/>
                <a:cs typeface="Cambria" pitchFamily="34" charset="-120"/>
              </a:rPr>
              <a:t>PMBOK 8: una guida non prescrittiva</a:t>
            </a:r>
            <a:endParaRPr lang="en-US" sz="3000" dirty="0"/>
          </a:p>
        </p:txBody>
      </p:sp>
      <p:sp>
        <p:nvSpPr>
          <p:cNvPr id="4" name="Text 2"/>
          <p:cNvSpPr txBox="1"/>
          <p:nvPr/>
        </p:nvSpPr>
        <p:spPr>
          <a:xfrm>
            <a:off x="640080" y="2011680"/>
            <a:ext cx="10881360" cy="548640"/>
          </a:xfrm>
          <a:prstGeom prst="rect">
            <a:avLst/>
          </a:prstGeom>
          <a:noFill/>
          <a:ln/>
        </p:spPr>
        <p:txBody>
          <a:bodyPr wrap="square" lIns="0" tIns="0" rIns="0" bIns="0" rtlCol="0" anchor="ctr"/>
          <a:lstStyle/>
          <a:p>
            <a:pPr marL="0" indent="0">
              <a:lnSpc>
                <a:spcPct val="115000"/>
              </a:lnSpc>
              <a:buNone/>
            </a:pPr>
            <a:r>
              <a:rPr lang="en-US" sz="1500" dirty="0">
                <a:solidFill>
                  <a:srgbClr val="2C2624"/>
                </a:solidFill>
                <a:latin typeface="Calibri" pitchFamily="34" charset="0"/>
                <a:ea typeface="Calibri" pitchFamily="34" charset="-122"/>
                <a:cs typeface="Calibri" pitchFamily="34" charset="-120"/>
              </a:rPr>
              <a:t>Standard basato sui principi: </a:t>
            </a:r>
            <a:r>
              <a:rPr lang="en-US" sz="1500" dirty="0" err="1">
                <a:solidFill>
                  <a:srgbClr val="2C2624"/>
                </a:solidFill>
                <a:latin typeface="Calibri" pitchFamily="34" charset="0"/>
                <a:ea typeface="Calibri" pitchFamily="34" charset="-122"/>
                <a:cs typeface="Calibri" pitchFamily="34" charset="-120"/>
              </a:rPr>
              <a:t>descrive</a:t>
            </a:r>
            <a:r>
              <a:rPr lang="en-US" sz="1500" dirty="0">
                <a:solidFill>
                  <a:srgbClr val="2C2624"/>
                </a:solidFill>
                <a:latin typeface="Calibri" pitchFamily="34" charset="0"/>
                <a:ea typeface="Calibri" pitchFamily="34" charset="-122"/>
                <a:cs typeface="Calibri" pitchFamily="34" charset="-120"/>
              </a:rPr>
              <a:t> processi “non prescrittivi”, selezionati e adattati dal project manager.</a:t>
            </a:r>
            <a:endParaRPr lang="en-US" sz="1500" dirty="0"/>
          </a:p>
        </p:txBody>
      </p:sp>
      <p:sp>
        <p:nvSpPr>
          <p:cNvPr id="5" name="Shape 3"/>
          <p:cNvSpPr/>
          <p:nvPr/>
        </p:nvSpPr>
        <p:spPr>
          <a:xfrm>
            <a:off x="640080" y="2788920"/>
            <a:ext cx="3429000" cy="1965960"/>
          </a:xfrm>
          <a:prstGeom prst="roundRect">
            <a:avLst>
              <a:gd name="adj" fmla="val 4186"/>
            </a:avLst>
          </a:prstGeom>
          <a:solidFill>
            <a:srgbClr val="FAEEEB"/>
          </a:solidFill>
          <a:ln w="9525">
            <a:solidFill>
              <a:srgbClr val="E7E2DD"/>
            </a:solidFill>
            <a:prstDash val="solid"/>
          </a:ln>
          <a:effectLst>
            <a:outerShdw blurRad="76200" dist="25400" dir="5400000" algn="bl" rotWithShape="0">
              <a:srgbClr val="1A1013">
                <a:alpha val="15000"/>
              </a:srgbClr>
            </a:outerShdw>
          </a:effectLst>
        </p:spPr>
        <p:txBody>
          <a:bodyPr/>
          <a:lstStyle/>
          <a:p>
            <a:endParaRPr lang="it-IT"/>
          </a:p>
        </p:txBody>
      </p:sp>
      <p:sp>
        <p:nvSpPr>
          <p:cNvPr id="6" name="Shape 4"/>
          <p:cNvSpPr/>
          <p:nvPr/>
        </p:nvSpPr>
        <p:spPr>
          <a:xfrm>
            <a:off x="2034540" y="2971800"/>
            <a:ext cx="640080" cy="640080"/>
          </a:xfrm>
          <a:prstGeom prst="ellipse">
            <a:avLst/>
          </a:prstGeom>
          <a:solidFill>
            <a:srgbClr val="BC290A"/>
          </a:solidFill>
          <a:ln w="19050">
            <a:solidFill>
              <a:srgbClr val="FFFFFF"/>
            </a:solidFill>
            <a:prstDash val="solid"/>
          </a:ln>
        </p:spPr>
        <p:txBody>
          <a:bodyPr/>
          <a:lstStyle/>
          <a:p>
            <a:endParaRPr lang="it-IT"/>
          </a:p>
        </p:txBody>
      </p:sp>
      <p:sp>
        <p:nvSpPr>
          <p:cNvPr id="7" name="Text 5"/>
          <p:cNvSpPr txBox="1"/>
          <p:nvPr/>
        </p:nvSpPr>
        <p:spPr>
          <a:xfrm>
            <a:off x="2034540" y="2971800"/>
            <a:ext cx="640080" cy="640080"/>
          </a:xfrm>
          <a:prstGeom prst="rect">
            <a:avLst/>
          </a:prstGeom>
          <a:noFill/>
          <a:ln/>
        </p:spPr>
        <p:txBody>
          <a:bodyPr wrap="square" lIns="0" tIns="0" rIns="0" bIns="0" rtlCol="0" anchor="ctr"/>
          <a:lstStyle/>
          <a:p>
            <a:pPr marL="0" indent="0" algn="ctr">
              <a:buNone/>
            </a:pPr>
            <a:r>
              <a:rPr lang="en-US" sz="1820" b="1" dirty="0">
                <a:solidFill>
                  <a:srgbClr val="FFFFFF"/>
                </a:solidFill>
                <a:latin typeface="Cambria" pitchFamily="34" charset="0"/>
                <a:ea typeface="Cambria" pitchFamily="34" charset="-122"/>
                <a:cs typeface="Cambria" pitchFamily="34" charset="-120"/>
              </a:rPr>
              <a:t>1</a:t>
            </a:r>
            <a:endParaRPr lang="en-US" sz="1820" dirty="0"/>
          </a:p>
        </p:txBody>
      </p:sp>
      <p:sp>
        <p:nvSpPr>
          <p:cNvPr id="8" name="Text 6"/>
          <p:cNvSpPr txBox="1"/>
          <p:nvPr/>
        </p:nvSpPr>
        <p:spPr>
          <a:xfrm>
            <a:off x="777240" y="3730752"/>
            <a:ext cx="3154680" cy="411480"/>
          </a:xfrm>
          <a:prstGeom prst="rect">
            <a:avLst/>
          </a:prstGeom>
          <a:noFill/>
          <a:ln/>
        </p:spPr>
        <p:txBody>
          <a:bodyPr wrap="square" lIns="0" tIns="0" rIns="0" bIns="0" rtlCol="0" anchor="ctr"/>
          <a:lstStyle/>
          <a:p>
            <a:pPr marL="0" indent="0" algn="ctr">
              <a:buNone/>
            </a:pPr>
            <a:r>
              <a:rPr lang="en-US" sz="1600" b="1" dirty="0">
                <a:solidFill>
                  <a:srgbClr val="BC290A"/>
                </a:solidFill>
                <a:latin typeface="Cambria" pitchFamily="34" charset="0"/>
                <a:ea typeface="Cambria" pitchFamily="34" charset="-122"/>
                <a:cs typeface="Cambria" pitchFamily="34" charset="-120"/>
              </a:rPr>
              <a:t>Proattiva</a:t>
            </a:r>
            <a:endParaRPr lang="en-US" sz="1600" dirty="0"/>
          </a:p>
        </p:txBody>
      </p:sp>
      <p:sp>
        <p:nvSpPr>
          <p:cNvPr id="9" name="Text 7"/>
          <p:cNvSpPr txBox="1"/>
          <p:nvPr/>
        </p:nvSpPr>
        <p:spPr>
          <a:xfrm>
            <a:off x="868680" y="4133088"/>
            <a:ext cx="2971800" cy="548640"/>
          </a:xfrm>
          <a:prstGeom prst="rect">
            <a:avLst/>
          </a:prstGeom>
          <a:noFill/>
          <a:ln/>
        </p:spPr>
        <p:txBody>
          <a:bodyPr wrap="square" lIns="0" tIns="0" rIns="0" bIns="0" rtlCol="0" anchor="ctr"/>
          <a:lstStyle/>
          <a:p>
            <a:pPr marL="0" indent="0" algn="ctr">
              <a:lnSpc>
                <a:spcPct val="110000"/>
              </a:lnSpc>
              <a:buNone/>
            </a:pPr>
            <a:r>
              <a:rPr lang="en-US" sz="1150" dirty="0">
                <a:solidFill>
                  <a:srgbClr val="5B5350"/>
                </a:solidFill>
                <a:latin typeface="Calibri" pitchFamily="34" charset="0"/>
                <a:ea typeface="Calibri" pitchFamily="34" charset="-122"/>
                <a:cs typeface="Calibri" pitchFamily="34" charset="-120"/>
              </a:rPr>
              <a:t>visione olistica, qualità incorporata</a:t>
            </a:r>
            <a:endParaRPr lang="en-US" sz="1150" dirty="0"/>
          </a:p>
        </p:txBody>
      </p:sp>
      <p:sp>
        <p:nvSpPr>
          <p:cNvPr id="10" name="Shape 8"/>
          <p:cNvSpPr/>
          <p:nvPr/>
        </p:nvSpPr>
        <p:spPr>
          <a:xfrm>
            <a:off x="4389120" y="2788920"/>
            <a:ext cx="3429000" cy="1965960"/>
          </a:xfrm>
          <a:prstGeom prst="roundRect">
            <a:avLst>
              <a:gd name="adj" fmla="val 4186"/>
            </a:avLst>
          </a:prstGeom>
          <a:solidFill>
            <a:srgbClr val="FAEEEB"/>
          </a:solidFill>
          <a:ln w="9525">
            <a:solidFill>
              <a:srgbClr val="E7E2DD"/>
            </a:solidFill>
            <a:prstDash val="solid"/>
          </a:ln>
          <a:effectLst>
            <a:outerShdw blurRad="76200" dist="25400" dir="5400000" algn="bl" rotWithShape="0">
              <a:srgbClr val="1A1013">
                <a:alpha val="15000"/>
              </a:srgbClr>
            </a:outerShdw>
          </a:effectLst>
        </p:spPr>
        <p:txBody>
          <a:bodyPr/>
          <a:lstStyle/>
          <a:p>
            <a:endParaRPr lang="it-IT"/>
          </a:p>
        </p:txBody>
      </p:sp>
      <p:sp>
        <p:nvSpPr>
          <p:cNvPr id="11" name="Shape 9"/>
          <p:cNvSpPr/>
          <p:nvPr/>
        </p:nvSpPr>
        <p:spPr>
          <a:xfrm>
            <a:off x="5783580" y="2971800"/>
            <a:ext cx="640080" cy="640080"/>
          </a:xfrm>
          <a:prstGeom prst="ellipse">
            <a:avLst/>
          </a:prstGeom>
          <a:solidFill>
            <a:srgbClr val="BC290A"/>
          </a:solidFill>
          <a:ln w="19050">
            <a:solidFill>
              <a:srgbClr val="FFFFFF"/>
            </a:solidFill>
            <a:prstDash val="solid"/>
          </a:ln>
        </p:spPr>
        <p:txBody>
          <a:bodyPr/>
          <a:lstStyle/>
          <a:p>
            <a:endParaRPr lang="it-IT"/>
          </a:p>
        </p:txBody>
      </p:sp>
      <p:sp>
        <p:nvSpPr>
          <p:cNvPr id="12" name="Text 10"/>
          <p:cNvSpPr txBox="1"/>
          <p:nvPr/>
        </p:nvSpPr>
        <p:spPr>
          <a:xfrm>
            <a:off x="5783580" y="2971800"/>
            <a:ext cx="640080" cy="640080"/>
          </a:xfrm>
          <a:prstGeom prst="rect">
            <a:avLst/>
          </a:prstGeom>
          <a:noFill/>
          <a:ln/>
        </p:spPr>
        <p:txBody>
          <a:bodyPr wrap="square" lIns="0" tIns="0" rIns="0" bIns="0" rtlCol="0" anchor="ctr"/>
          <a:lstStyle/>
          <a:p>
            <a:pPr marL="0" indent="0" algn="ctr">
              <a:buNone/>
            </a:pPr>
            <a:r>
              <a:rPr lang="en-US" sz="1820" b="1" dirty="0">
                <a:solidFill>
                  <a:srgbClr val="FFFFFF"/>
                </a:solidFill>
                <a:latin typeface="Cambria" pitchFamily="34" charset="0"/>
                <a:ea typeface="Cambria" pitchFamily="34" charset="-122"/>
                <a:cs typeface="Cambria" pitchFamily="34" charset="-120"/>
              </a:rPr>
              <a:t>2</a:t>
            </a:r>
            <a:endParaRPr lang="en-US" sz="1820" dirty="0"/>
          </a:p>
        </p:txBody>
      </p:sp>
      <p:sp>
        <p:nvSpPr>
          <p:cNvPr id="13" name="Text 11"/>
          <p:cNvSpPr txBox="1"/>
          <p:nvPr/>
        </p:nvSpPr>
        <p:spPr>
          <a:xfrm>
            <a:off x="4526280" y="3730752"/>
            <a:ext cx="3154680" cy="411480"/>
          </a:xfrm>
          <a:prstGeom prst="rect">
            <a:avLst/>
          </a:prstGeom>
          <a:noFill/>
          <a:ln/>
        </p:spPr>
        <p:txBody>
          <a:bodyPr wrap="square" lIns="0" tIns="0" rIns="0" bIns="0" rtlCol="0" anchor="ctr"/>
          <a:lstStyle/>
          <a:p>
            <a:pPr marL="0" indent="0" algn="ctr">
              <a:buNone/>
            </a:pPr>
            <a:r>
              <a:rPr lang="en-US" sz="1600" b="1" dirty="0">
                <a:solidFill>
                  <a:srgbClr val="BC290A"/>
                </a:solidFill>
                <a:latin typeface="Cambria" pitchFamily="34" charset="0"/>
                <a:ea typeface="Cambria" pitchFamily="34" charset="-122"/>
                <a:cs typeface="Cambria" pitchFamily="34" charset="-120"/>
              </a:rPr>
              <a:t>Responsabilità</a:t>
            </a:r>
            <a:endParaRPr lang="en-US" sz="1600" dirty="0"/>
          </a:p>
        </p:txBody>
      </p:sp>
      <p:sp>
        <p:nvSpPr>
          <p:cNvPr id="14" name="Text 12"/>
          <p:cNvSpPr txBox="1"/>
          <p:nvPr/>
        </p:nvSpPr>
        <p:spPr>
          <a:xfrm>
            <a:off x="4617720" y="4133088"/>
            <a:ext cx="2971800" cy="548640"/>
          </a:xfrm>
          <a:prstGeom prst="rect">
            <a:avLst/>
          </a:prstGeom>
          <a:noFill/>
          <a:ln/>
        </p:spPr>
        <p:txBody>
          <a:bodyPr wrap="square" lIns="0" tIns="0" rIns="0" bIns="0" rtlCol="0" anchor="ctr"/>
          <a:lstStyle/>
          <a:p>
            <a:pPr marL="0" indent="0" algn="ctr">
              <a:lnSpc>
                <a:spcPct val="110000"/>
              </a:lnSpc>
              <a:buNone/>
            </a:pPr>
            <a:r>
              <a:rPr lang="en-US" sz="1150" dirty="0">
                <a:solidFill>
                  <a:srgbClr val="5B5350"/>
                </a:solidFill>
                <a:latin typeface="Calibri" pitchFamily="34" charset="0"/>
                <a:ea typeface="Calibri" pitchFamily="34" charset="-122"/>
                <a:cs typeface="Calibri" pitchFamily="34" charset="-120"/>
              </a:rPr>
              <a:t>leadership responsabile, cultura che dà potere</a:t>
            </a:r>
            <a:endParaRPr lang="en-US" sz="1150" dirty="0"/>
          </a:p>
        </p:txBody>
      </p:sp>
      <p:sp>
        <p:nvSpPr>
          <p:cNvPr id="15" name="Shape 13"/>
          <p:cNvSpPr/>
          <p:nvPr/>
        </p:nvSpPr>
        <p:spPr>
          <a:xfrm>
            <a:off x="8138160" y="2788920"/>
            <a:ext cx="3429000" cy="1965960"/>
          </a:xfrm>
          <a:prstGeom prst="roundRect">
            <a:avLst>
              <a:gd name="adj" fmla="val 4186"/>
            </a:avLst>
          </a:prstGeom>
          <a:solidFill>
            <a:srgbClr val="FAEEEB"/>
          </a:solidFill>
          <a:ln w="9525">
            <a:solidFill>
              <a:srgbClr val="E7E2DD"/>
            </a:solidFill>
            <a:prstDash val="solid"/>
          </a:ln>
          <a:effectLst>
            <a:outerShdw blurRad="76200" dist="25400" dir="5400000" algn="bl" rotWithShape="0">
              <a:srgbClr val="1A1013">
                <a:alpha val="15000"/>
              </a:srgbClr>
            </a:outerShdw>
          </a:effectLst>
        </p:spPr>
        <p:txBody>
          <a:bodyPr/>
          <a:lstStyle/>
          <a:p>
            <a:endParaRPr lang="it-IT"/>
          </a:p>
        </p:txBody>
      </p:sp>
      <p:sp>
        <p:nvSpPr>
          <p:cNvPr id="16" name="Shape 14"/>
          <p:cNvSpPr/>
          <p:nvPr/>
        </p:nvSpPr>
        <p:spPr>
          <a:xfrm>
            <a:off x="9532620" y="2971800"/>
            <a:ext cx="640080" cy="640080"/>
          </a:xfrm>
          <a:prstGeom prst="ellipse">
            <a:avLst/>
          </a:prstGeom>
          <a:solidFill>
            <a:srgbClr val="BC290A"/>
          </a:solidFill>
          <a:ln w="19050">
            <a:solidFill>
              <a:srgbClr val="FFFFFF"/>
            </a:solidFill>
            <a:prstDash val="solid"/>
          </a:ln>
        </p:spPr>
        <p:txBody>
          <a:bodyPr/>
          <a:lstStyle/>
          <a:p>
            <a:endParaRPr lang="it-IT"/>
          </a:p>
        </p:txBody>
      </p:sp>
      <p:sp>
        <p:nvSpPr>
          <p:cNvPr id="17" name="Text 15"/>
          <p:cNvSpPr txBox="1"/>
          <p:nvPr/>
        </p:nvSpPr>
        <p:spPr>
          <a:xfrm>
            <a:off x="9532620" y="2971800"/>
            <a:ext cx="640080" cy="640080"/>
          </a:xfrm>
          <a:prstGeom prst="rect">
            <a:avLst/>
          </a:prstGeom>
          <a:noFill/>
          <a:ln/>
        </p:spPr>
        <p:txBody>
          <a:bodyPr wrap="square" lIns="0" tIns="0" rIns="0" bIns="0" rtlCol="0" anchor="ctr"/>
          <a:lstStyle/>
          <a:p>
            <a:pPr marL="0" indent="0" algn="ctr">
              <a:buNone/>
            </a:pPr>
            <a:r>
              <a:rPr lang="en-US" sz="1820" b="1" dirty="0">
                <a:solidFill>
                  <a:srgbClr val="FFFFFF"/>
                </a:solidFill>
                <a:latin typeface="Cambria" pitchFamily="34" charset="0"/>
                <a:ea typeface="Cambria" pitchFamily="34" charset="-122"/>
                <a:cs typeface="Cambria" pitchFamily="34" charset="-120"/>
              </a:rPr>
              <a:t>3</a:t>
            </a:r>
            <a:endParaRPr lang="en-US" sz="1820" dirty="0"/>
          </a:p>
        </p:txBody>
      </p:sp>
      <p:sp>
        <p:nvSpPr>
          <p:cNvPr id="18" name="Text 16"/>
          <p:cNvSpPr txBox="1"/>
          <p:nvPr/>
        </p:nvSpPr>
        <p:spPr>
          <a:xfrm>
            <a:off x="8275320" y="3730752"/>
            <a:ext cx="3154680" cy="411480"/>
          </a:xfrm>
          <a:prstGeom prst="rect">
            <a:avLst/>
          </a:prstGeom>
          <a:noFill/>
          <a:ln/>
        </p:spPr>
        <p:txBody>
          <a:bodyPr wrap="square" lIns="0" tIns="0" rIns="0" bIns="0" rtlCol="0" anchor="ctr"/>
          <a:lstStyle/>
          <a:p>
            <a:pPr marL="0" indent="0" algn="ctr">
              <a:buNone/>
            </a:pPr>
            <a:r>
              <a:rPr lang="en-US" sz="1600" b="1" dirty="0">
                <a:solidFill>
                  <a:srgbClr val="BC290A"/>
                </a:solidFill>
                <a:latin typeface="Cambria" pitchFamily="34" charset="0"/>
                <a:ea typeface="Cambria" pitchFamily="34" charset="-122"/>
                <a:cs typeface="Cambria" pitchFamily="34" charset="-120"/>
              </a:rPr>
              <a:t>Orientata al valore</a:t>
            </a:r>
            <a:endParaRPr lang="en-US" sz="1600" dirty="0"/>
          </a:p>
        </p:txBody>
      </p:sp>
      <p:sp>
        <p:nvSpPr>
          <p:cNvPr id="19" name="Text 17"/>
          <p:cNvSpPr txBox="1"/>
          <p:nvPr/>
        </p:nvSpPr>
        <p:spPr>
          <a:xfrm>
            <a:off x="8366760" y="4133088"/>
            <a:ext cx="2971800" cy="548640"/>
          </a:xfrm>
          <a:prstGeom prst="rect">
            <a:avLst/>
          </a:prstGeom>
          <a:noFill/>
          <a:ln/>
        </p:spPr>
        <p:txBody>
          <a:bodyPr wrap="square" lIns="0" tIns="0" rIns="0" bIns="0" rtlCol="0" anchor="ctr"/>
          <a:lstStyle/>
          <a:p>
            <a:pPr marL="0" indent="0" algn="ctr">
              <a:lnSpc>
                <a:spcPct val="110000"/>
              </a:lnSpc>
              <a:buNone/>
            </a:pPr>
            <a:r>
              <a:rPr lang="en-US" sz="1150" dirty="0">
                <a:solidFill>
                  <a:srgbClr val="5B5350"/>
                </a:solidFill>
                <a:latin typeface="Calibri" pitchFamily="34" charset="0"/>
                <a:ea typeface="Calibri" pitchFamily="34" charset="-122"/>
                <a:cs typeface="Calibri" pitchFamily="34" charset="-120"/>
              </a:rPr>
              <a:t>concentrarsi sul valore, sostenibilità</a:t>
            </a:r>
            <a:endParaRPr lang="en-US" sz="1150" dirty="0"/>
          </a:p>
        </p:txBody>
      </p:sp>
      <p:sp>
        <p:nvSpPr>
          <p:cNvPr id="20" name="Text 18"/>
          <p:cNvSpPr txBox="1"/>
          <p:nvPr/>
        </p:nvSpPr>
        <p:spPr>
          <a:xfrm>
            <a:off x="548640" y="6473952"/>
            <a:ext cx="7315200" cy="274320"/>
          </a:xfrm>
          <a:prstGeom prst="rect">
            <a:avLst/>
          </a:prstGeom>
          <a:noFill/>
          <a:ln/>
        </p:spPr>
        <p:txBody>
          <a:bodyPr wrap="square" lIns="0" tIns="0" rIns="0" bIns="0" rtlCol="0" anchor="ctr"/>
          <a:lstStyle/>
          <a:p>
            <a:pPr marL="0" indent="0">
              <a:buNone/>
            </a:pPr>
            <a:r>
              <a:rPr lang="en-US" sz="900" kern="0" spc="120" dirty="0">
                <a:solidFill>
                  <a:srgbClr val="7A756F"/>
                </a:solidFill>
                <a:latin typeface="Calibri" pitchFamily="34" charset="0"/>
                <a:ea typeface="Calibri" pitchFamily="34" charset="-122"/>
                <a:cs typeface="Calibri" pitchFamily="34" charset="-120"/>
              </a:rPr>
              <a:t>APPROCCI TRADIZIONALI</a:t>
            </a:r>
            <a:endParaRPr lang="en-US" sz="900" dirty="0"/>
          </a:p>
        </p:txBody>
      </p:sp>
      <p:sp>
        <p:nvSpPr>
          <p:cNvPr id="21" name="Text 19"/>
          <p:cNvSpPr txBox="1"/>
          <p:nvPr/>
        </p:nvSpPr>
        <p:spPr>
          <a:xfrm>
            <a:off x="11277295" y="6473952"/>
            <a:ext cx="457200" cy="274320"/>
          </a:xfrm>
          <a:prstGeom prst="rect">
            <a:avLst/>
          </a:prstGeom>
          <a:noFill/>
          <a:ln/>
        </p:spPr>
        <p:txBody>
          <a:bodyPr wrap="square" lIns="0" tIns="0" rIns="0" bIns="0" rtlCol="0" anchor="ctr"/>
          <a:lstStyle/>
          <a:p>
            <a:pPr marL="0" indent="0" algn="r">
              <a:buNone/>
            </a:pPr>
            <a:r>
              <a:rPr lang="en-US" sz="900" dirty="0">
                <a:solidFill>
                  <a:srgbClr val="BC290A"/>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457200"/>
            <a:ext cx="10515600" cy="320040"/>
          </a:xfrm>
          <a:prstGeom prst="rect">
            <a:avLst/>
          </a:prstGeom>
          <a:noFill/>
          <a:ln/>
        </p:spPr>
        <p:txBody>
          <a:bodyPr wrap="square" lIns="0" tIns="0" rIns="0" bIns="0" rtlCol="0" anchor="ctr"/>
          <a:lstStyle/>
          <a:p>
            <a:pPr marL="0" indent="0">
              <a:buNone/>
            </a:pPr>
            <a:r>
              <a:rPr lang="en-US" sz="1300" b="1" kern="0" spc="150" dirty="0">
                <a:solidFill>
                  <a:srgbClr val="7A756F"/>
                </a:solidFill>
                <a:latin typeface="Calibri" pitchFamily="34" charset="0"/>
                <a:ea typeface="Calibri" pitchFamily="34" charset="-122"/>
                <a:cs typeface="Calibri" pitchFamily="34" charset="-120"/>
              </a:rPr>
              <a:t>CAPITOLO 1 · APPROCCI TRADIZIONALI</a:t>
            </a:r>
            <a:endParaRPr lang="en-US" sz="1300" dirty="0"/>
          </a:p>
        </p:txBody>
      </p:sp>
      <p:sp>
        <p:nvSpPr>
          <p:cNvPr id="3" name="Text 1"/>
          <p:cNvSpPr txBox="1"/>
          <p:nvPr/>
        </p:nvSpPr>
        <p:spPr>
          <a:xfrm>
            <a:off x="548640" y="749808"/>
            <a:ext cx="11064240" cy="868680"/>
          </a:xfrm>
          <a:prstGeom prst="rect">
            <a:avLst/>
          </a:prstGeom>
          <a:noFill/>
          <a:ln/>
        </p:spPr>
        <p:txBody>
          <a:bodyPr wrap="square" lIns="0" tIns="0" rIns="0" bIns="0" rtlCol="0" anchor="t"/>
          <a:lstStyle/>
          <a:p>
            <a:pPr marL="0" indent="0">
              <a:lnSpc>
                <a:spcPct val="102000"/>
              </a:lnSpc>
              <a:buNone/>
            </a:pPr>
            <a:r>
              <a:rPr lang="en-US" sz="3000" b="1" dirty="0">
                <a:solidFill>
                  <a:srgbClr val="BC290A"/>
                </a:solidFill>
                <a:latin typeface="Cambria" pitchFamily="34" charset="0"/>
                <a:ea typeface="Cambria" pitchFamily="34" charset="-122"/>
                <a:cs typeface="Cambria" pitchFamily="34" charset="-120"/>
              </a:rPr>
              <a:t>PMBOK 8: domini ed evoluzione</a:t>
            </a:r>
            <a:endParaRPr lang="en-US" sz="3000" dirty="0"/>
          </a:p>
        </p:txBody>
      </p:sp>
      <p:sp>
        <p:nvSpPr>
          <p:cNvPr id="4" name="Shape 2"/>
          <p:cNvSpPr/>
          <p:nvPr/>
        </p:nvSpPr>
        <p:spPr>
          <a:xfrm>
            <a:off x="640080" y="2057400"/>
            <a:ext cx="1481328" cy="777240"/>
          </a:xfrm>
          <a:prstGeom prst="roundRect">
            <a:avLst>
              <a:gd name="adj" fmla="val 10588"/>
            </a:avLst>
          </a:prstGeom>
          <a:solidFill>
            <a:srgbClr val="FAEEEB"/>
          </a:solidFill>
          <a:ln w="9525">
            <a:solidFill>
              <a:srgbClr val="E7E2DD"/>
            </a:solidFill>
            <a:prstDash val="solid"/>
          </a:ln>
        </p:spPr>
        <p:txBody>
          <a:bodyPr/>
          <a:lstStyle/>
          <a:p>
            <a:endParaRPr lang="it-IT"/>
          </a:p>
        </p:txBody>
      </p:sp>
      <p:sp>
        <p:nvSpPr>
          <p:cNvPr id="5" name="Text 3"/>
          <p:cNvSpPr txBox="1"/>
          <p:nvPr/>
        </p:nvSpPr>
        <p:spPr>
          <a:xfrm>
            <a:off x="685800" y="2057400"/>
            <a:ext cx="1389888" cy="777240"/>
          </a:xfrm>
          <a:prstGeom prst="rect">
            <a:avLst/>
          </a:prstGeom>
          <a:noFill/>
          <a:ln/>
        </p:spPr>
        <p:txBody>
          <a:bodyPr wrap="square" lIns="0" tIns="0" rIns="0" bIns="0" rtlCol="0" anchor="ctr"/>
          <a:lstStyle/>
          <a:p>
            <a:pPr marL="0" indent="0" algn="ctr">
              <a:lnSpc>
                <a:spcPct val="100000"/>
              </a:lnSpc>
              <a:buNone/>
            </a:pPr>
            <a:r>
              <a:rPr lang="en-US" sz="1150" b="1" dirty="0">
                <a:solidFill>
                  <a:srgbClr val="BC290A"/>
                </a:solidFill>
                <a:latin typeface="Calibri" pitchFamily="34" charset="0"/>
                <a:ea typeface="Calibri" pitchFamily="34" charset="-122"/>
                <a:cs typeface="Calibri" pitchFamily="34" charset="-120"/>
              </a:rPr>
              <a:t>Governance</a:t>
            </a:r>
            <a:endParaRPr lang="en-US" sz="1150" dirty="0"/>
          </a:p>
        </p:txBody>
      </p:sp>
      <p:sp>
        <p:nvSpPr>
          <p:cNvPr id="6" name="Shape 4"/>
          <p:cNvSpPr/>
          <p:nvPr/>
        </p:nvSpPr>
        <p:spPr>
          <a:xfrm>
            <a:off x="2221992" y="2057400"/>
            <a:ext cx="1481328" cy="777240"/>
          </a:xfrm>
          <a:prstGeom prst="roundRect">
            <a:avLst>
              <a:gd name="adj" fmla="val 10588"/>
            </a:avLst>
          </a:prstGeom>
          <a:solidFill>
            <a:srgbClr val="FAEEEB"/>
          </a:solidFill>
          <a:ln w="9525">
            <a:solidFill>
              <a:srgbClr val="E7E2DD"/>
            </a:solidFill>
            <a:prstDash val="solid"/>
          </a:ln>
        </p:spPr>
        <p:txBody>
          <a:bodyPr/>
          <a:lstStyle/>
          <a:p>
            <a:endParaRPr lang="it-IT"/>
          </a:p>
        </p:txBody>
      </p:sp>
      <p:sp>
        <p:nvSpPr>
          <p:cNvPr id="7" name="Text 5"/>
          <p:cNvSpPr txBox="1"/>
          <p:nvPr/>
        </p:nvSpPr>
        <p:spPr>
          <a:xfrm>
            <a:off x="2267712" y="2057400"/>
            <a:ext cx="1389888" cy="777240"/>
          </a:xfrm>
          <a:prstGeom prst="rect">
            <a:avLst/>
          </a:prstGeom>
          <a:noFill/>
          <a:ln/>
        </p:spPr>
        <p:txBody>
          <a:bodyPr wrap="square" lIns="0" tIns="0" rIns="0" bIns="0" rtlCol="0" anchor="ctr"/>
          <a:lstStyle/>
          <a:p>
            <a:pPr marL="0" indent="0" algn="ctr">
              <a:lnSpc>
                <a:spcPct val="100000"/>
              </a:lnSpc>
              <a:buNone/>
            </a:pPr>
            <a:r>
              <a:rPr lang="en-US" sz="1150" b="1" dirty="0">
                <a:solidFill>
                  <a:srgbClr val="BC290A"/>
                </a:solidFill>
                <a:latin typeface="Calibri" pitchFamily="34" charset="0"/>
                <a:ea typeface="Calibri" pitchFamily="34" charset="-122"/>
                <a:cs typeface="Calibri" pitchFamily="34" charset="-120"/>
              </a:rPr>
              <a:t>Ambito</a:t>
            </a:r>
            <a:endParaRPr lang="en-US" sz="1150" dirty="0"/>
          </a:p>
        </p:txBody>
      </p:sp>
      <p:sp>
        <p:nvSpPr>
          <p:cNvPr id="8" name="Shape 6"/>
          <p:cNvSpPr/>
          <p:nvPr/>
        </p:nvSpPr>
        <p:spPr>
          <a:xfrm>
            <a:off x="3803904" y="2057400"/>
            <a:ext cx="1481328" cy="777240"/>
          </a:xfrm>
          <a:prstGeom prst="roundRect">
            <a:avLst>
              <a:gd name="adj" fmla="val 10588"/>
            </a:avLst>
          </a:prstGeom>
          <a:solidFill>
            <a:srgbClr val="FAEEEB"/>
          </a:solidFill>
          <a:ln w="9525">
            <a:solidFill>
              <a:srgbClr val="E7E2DD"/>
            </a:solidFill>
            <a:prstDash val="solid"/>
          </a:ln>
        </p:spPr>
        <p:txBody>
          <a:bodyPr/>
          <a:lstStyle/>
          <a:p>
            <a:endParaRPr lang="it-IT"/>
          </a:p>
        </p:txBody>
      </p:sp>
      <p:sp>
        <p:nvSpPr>
          <p:cNvPr id="9" name="Text 7"/>
          <p:cNvSpPr txBox="1"/>
          <p:nvPr/>
        </p:nvSpPr>
        <p:spPr>
          <a:xfrm>
            <a:off x="3849624" y="2057400"/>
            <a:ext cx="1389888" cy="777240"/>
          </a:xfrm>
          <a:prstGeom prst="rect">
            <a:avLst/>
          </a:prstGeom>
          <a:noFill/>
          <a:ln/>
        </p:spPr>
        <p:txBody>
          <a:bodyPr wrap="square" lIns="0" tIns="0" rIns="0" bIns="0" rtlCol="0" anchor="ctr"/>
          <a:lstStyle/>
          <a:p>
            <a:pPr marL="0" indent="0" algn="ctr">
              <a:lnSpc>
                <a:spcPct val="100000"/>
              </a:lnSpc>
              <a:buNone/>
            </a:pPr>
            <a:r>
              <a:rPr lang="en-US" sz="1150" b="1" dirty="0">
                <a:solidFill>
                  <a:srgbClr val="BC290A"/>
                </a:solidFill>
                <a:latin typeface="Calibri" pitchFamily="34" charset="0"/>
                <a:ea typeface="Calibri" pitchFamily="34" charset="-122"/>
                <a:cs typeface="Calibri" pitchFamily="34" charset="-120"/>
              </a:rPr>
              <a:t>Schedulazione</a:t>
            </a:r>
            <a:endParaRPr lang="en-US" sz="1150" dirty="0"/>
          </a:p>
        </p:txBody>
      </p:sp>
      <p:sp>
        <p:nvSpPr>
          <p:cNvPr id="10" name="Shape 8"/>
          <p:cNvSpPr/>
          <p:nvPr/>
        </p:nvSpPr>
        <p:spPr>
          <a:xfrm>
            <a:off x="5385816" y="2057400"/>
            <a:ext cx="1481328" cy="777240"/>
          </a:xfrm>
          <a:prstGeom prst="roundRect">
            <a:avLst>
              <a:gd name="adj" fmla="val 10588"/>
            </a:avLst>
          </a:prstGeom>
          <a:solidFill>
            <a:srgbClr val="FAEEEB"/>
          </a:solidFill>
          <a:ln w="9525">
            <a:solidFill>
              <a:srgbClr val="E7E2DD"/>
            </a:solidFill>
            <a:prstDash val="solid"/>
          </a:ln>
        </p:spPr>
        <p:txBody>
          <a:bodyPr/>
          <a:lstStyle/>
          <a:p>
            <a:endParaRPr lang="it-IT"/>
          </a:p>
        </p:txBody>
      </p:sp>
      <p:sp>
        <p:nvSpPr>
          <p:cNvPr id="11" name="Text 9"/>
          <p:cNvSpPr txBox="1"/>
          <p:nvPr/>
        </p:nvSpPr>
        <p:spPr>
          <a:xfrm>
            <a:off x="5431536" y="2057400"/>
            <a:ext cx="1389888" cy="777240"/>
          </a:xfrm>
          <a:prstGeom prst="rect">
            <a:avLst/>
          </a:prstGeom>
          <a:noFill/>
          <a:ln/>
        </p:spPr>
        <p:txBody>
          <a:bodyPr wrap="square" lIns="0" tIns="0" rIns="0" bIns="0" rtlCol="0" anchor="ctr"/>
          <a:lstStyle/>
          <a:p>
            <a:pPr marL="0" indent="0" algn="ctr">
              <a:lnSpc>
                <a:spcPct val="100000"/>
              </a:lnSpc>
              <a:buNone/>
            </a:pPr>
            <a:r>
              <a:rPr lang="en-US" sz="1150" b="1" dirty="0">
                <a:solidFill>
                  <a:srgbClr val="BC290A"/>
                </a:solidFill>
                <a:latin typeface="Calibri" pitchFamily="34" charset="0"/>
                <a:ea typeface="Calibri" pitchFamily="34" charset="-122"/>
                <a:cs typeface="Calibri" pitchFamily="34" charset="-120"/>
              </a:rPr>
              <a:t>Finanza</a:t>
            </a:r>
            <a:endParaRPr lang="en-US" sz="1150" dirty="0"/>
          </a:p>
        </p:txBody>
      </p:sp>
      <p:sp>
        <p:nvSpPr>
          <p:cNvPr id="12" name="Shape 10"/>
          <p:cNvSpPr/>
          <p:nvPr/>
        </p:nvSpPr>
        <p:spPr>
          <a:xfrm>
            <a:off x="6967728" y="2057400"/>
            <a:ext cx="1481328" cy="777240"/>
          </a:xfrm>
          <a:prstGeom prst="roundRect">
            <a:avLst>
              <a:gd name="adj" fmla="val 10588"/>
            </a:avLst>
          </a:prstGeom>
          <a:solidFill>
            <a:srgbClr val="FAEEEB"/>
          </a:solidFill>
          <a:ln w="9525">
            <a:solidFill>
              <a:srgbClr val="E7E2DD"/>
            </a:solidFill>
            <a:prstDash val="solid"/>
          </a:ln>
        </p:spPr>
        <p:txBody>
          <a:bodyPr/>
          <a:lstStyle/>
          <a:p>
            <a:endParaRPr lang="it-IT"/>
          </a:p>
        </p:txBody>
      </p:sp>
      <p:sp>
        <p:nvSpPr>
          <p:cNvPr id="13" name="Text 11"/>
          <p:cNvSpPr txBox="1"/>
          <p:nvPr/>
        </p:nvSpPr>
        <p:spPr>
          <a:xfrm>
            <a:off x="7013448" y="2057400"/>
            <a:ext cx="1389888" cy="777240"/>
          </a:xfrm>
          <a:prstGeom prst="rect">
            <a:avLst/>
          </a:prstGeom>
          <a:noFill/>
          <a:ln/>
        </p:spPr>
        <p:txBody>
          <a:bodyPr wrap="square" lIns="0" tIns="0" rIns="0" bIns="0" rtlCol="0" anchor="ctr"/>
          <a:lstStyle/>
          <a:p>
            <a:pPr marL="0" indent="0" algn="ctr">
              <a:lnSpc>
                <a:spcPct val="100000"/>
              </a:lnSpc>
              <a:buNone/>
            </a:pPr>
            <a:r>
              <a:rPr lang="en-US" sz="1150" b="1" dirty="0">
                <a:solidFill>
                  <a:srgbClr val="BC290A"/>
                </a:solidFill>
                <a:latin typeface="Calibri" pitchFamily="34" charset="0"/>
                <a:ea typeface="Calibri" pitchFamily="34" charset="-122"/>
                <a:cs typeface="Calibri" pitchFamily="34" charset="-120"/>
              </a:rPr>
              <a:t>Stakeholder</a:t>
            </a:r>
            <a:endParaRPr lang="en-US" sz="1150" dirty="0"/>
          </a:p>
        </p:txBody>
      </p:sp>
      <p:sp>
        <p:nvSpPr>
          <p:cNvPr id="14" name="Shape 12"/>
          <p:cNvSpPr/>
          <p:nvPr/>
        </p:nvSpPr>
        <p:spPr>
          <a:xfrm>
            <a:off x="8549640" y="2057400"/>
            <a:ext cx="1481328" cy="777240"/>
          </a:xfrm>
          <a:prstGeom prst="roundRect">
            <a:avLst>
              <a:gd name="adj" fmla="val 10588"/>
            </a:avLst>
          </a:prstGeom>
          <a:solidFill>
            <a:srgbClr val="FAEEEB"/>
          </a:solidFill>
          <a:ln w="9525">
            <a:solidFill>
              <a:srgbClr val="E7E2DD"/>
            </a:solidFill>
            <a:prstDash val="solid"/>
          </a:ln>
        </p:spPr>
        <p:txBody>
          <a:bodyPr/>
          <a:lstStyle/>
          <a:p>
            <a:endParaRPr lang="it-IT"/>
          </a:p>
        </p:txBody>
      </p:sp>
      <p:sp>
        <p:nvSpPr>
          <p:cNvPr id="15" name="Text 13"/>
          <p:cNvSpPr txBox="1"/>
          <p:nvPr/>
        </p:nvSpPr>
        <p:spPr>
          <a:xfrm>
            <a:off x="8595360" y="2057400"/>
            <a:ext cx="1389888" cy="777240"/>
          </a:xfrm>
          <a:prstGeom prst="rect">
            <a:avLst/>
          </a:prstGeom>
          <a:noFill/>
          <a:ln/>
        </p:spPr>
        <p:txBody>
          <a:bodyPr wrap="square" lIns="0" tIns="0" rIns="0" bIns="0" rtlCol="0" anchor="ctr"/>
          <a:lstStyle/>
          <a:p>
            <a:pPr marL="0" indent="0" algn="ctr">
              <a:lnSpc>
                <a:spcPct val="100000"/>
              </a:lnSpc>
              <a:buNone/>
            </a:pPr>
            <a:r>
              <a:rPr lang="en-US" sz="1150" b="1" dirty="0">
                <a:solidFill>
                  <a:srgbClr val="BC290A"/>
                </a:solidFill>
                <a:latin typeface="Calibri" pitchFamily="34" charset="0"/>
                <a:ea typeface="Calibri" pitchFamily="34" charset="-122"/>
                <a:cs typeface="Calibri" pitchFamily="34" charset="-120"/>
              </a:rPr>
              <a:t>Risorse</a:t>
            </a:r>
            <a:endParaRPr lang="en-US" sz="1150" dirty="0"/>
          </a:p>
        </p:txBody>
      </p:sp>
      <p:sp>
        <p:nvSpPr>
          <p:cNvPr id="16" name="Shape 14"/>
          <p:cNvSpPr/>
          <p:nvPr/>
        </p:nvSpPr>
        <p:spPr>
          <a:xfrm>
            <a:off x="10131552" y="2057400"/>
            <a:ext cx="1481328" cy="777240"/>
          </a:xfrm>
          <a:prstGeom prst="roundRect">
            <a:avLst>
              <a:gd name="adj" fmla="val 10588"/>
            </a:avLst>
          </a:prstGeom>
          <a:solidFill>
            <a:srgbClr val="FAEEEB"/>
          </a:solidFill>
          <a:ln w="9525">
            <a:solidFill>
              <a:srgbClr val="E7E2DD"/>
            </a:solidFill>
            <a:prstDash val="solid"/>
          </a:ln>
        </p:spPr>
        <p:txBody>
          <a:bodyPr/>
          <a:lstStyle/>
          <a:p>
            <a:endParaRPr lang="it-IT"/>
          </a:p>
        </p:txBody>
      </p:sp>
      <p:sp>
        <p:nvSpPr>
          <p:cNvPr id="17" name="Text 15"/>
          <p:cNvSpPr txBox="1"/>
          <p:nvPr/>
        </p:nvSpPr>
        <p:spPr>
          <a:xfrm>
            <a:off x="10177272" y="2057400"/>
            <a:ext cx="1389888" cy="777240"/>
          </a:xfrm>
          <a:prstGeom prst="rect">
            <a:avLst/>
          </a:prstGeom>
          <a:noFill/>
          <a:ln/>
        </p:spPr>
        <p:txBody>
          <a:bodyPr wrap="square" lIns="0" tIns="0" rIns="0" bIns="0" rtlCol="0" anchor="ctr"/>
          <a:lstStyle/>
          <a:p>
            <a:pPr marL="0" indent="0" algn="ctr">
              <a:lnSpc>
                <a:spcPct val="100000"/>
              </a:lnSpc>
              <a:buNone/>
            </a:pPr>
            <a:r>
              <a:rPr lang="en-US" sz="1150" b="1" dirty="0">
                <a:solidFill>
                  <a:srgbClr val="BC290A"/>
                </a:solidFill>
                <a:latin typeface="Calibri" pitchFamily="34" charset="0"/>
                <a:ea typeface="Calibri" pitchFamily="34" charset="-122"/>
                <a:cs typeface="Calibri" pitchFamily="34" charset="-120"/>
              </a:rPr>
              <a:t>Rischio</a:t>
            </a:r>
            <a:endParaRPr lang="en-US" sz="1150" dirty="0"/>
          </a:p>
        </p:txBody>
      </p:sp>
      <p:sp>
        <p:nvSpPr>
          <p:cNvPr id="18" name="Text 16"/>
          <p:cNvSpPr txBox="1"/>
          <p:nvPr/>
        </p:nvSpPr>
        <p:spPr>
          <a:xfrm>
            <a:off x="640080" y="2926080"/>
            <a:ext cx="10881360" cy="365760"/>
          </a:xfrm>
          <a:prstGeom prst="rect">
            <a:avLst/>
          </a:prstGeom>
          <a:noFill/>
          <a:ln/>
        </p:spPr>
        <p:txBody>
          <a:bodyPr wrap="square" lIns="0" tIns="0" rIns="0" bIns="0" rtlCol="0" anchor="ctr"/>
          <a:lstStyle/>
          <a:p>
            <a:pPr marL="0" indent="0" algn="ctr">
              <a:buNone/>
            </a:pPr>
            <a:r>
              <a:rPr lang="en-US" sz="1250" i="1" dirty="0">
                <a:solidFill>
                  <a:srgbClr val="5B5350"/>
                </a:solidFill>
                <a:latin typeface="Calibri" pitchFamily="34" charset="0"/>
                <a:ea typeface="Calibri" pitchFamily="34" charset="-122"/>
                <a:cs typeface="Calibri" pitchFamily="34" charset="-120"/>
              </a:rPr>
              <a:t>7 domini di performance che corrono in parallelo lungo tutto il ciclo di vita</a:t>
            </a:r>
            <a:endParaRPr lang="en-US" sz="1250" dirty="0"/>
          </a:p>
        </p:txBody>
      </p:sp>
      <p:sp>
        <p:nvSpPr>
          <p:cNvPr id="19" name="Shape 17"/>
          <p:cNvSpPr/>
          <p:nvPr/>
        </p:nvSpPr>
        <p:spPr>
          <a:xfrm>
            <a:off x="1188720" y="4251960"/>
            <a:ext cx="9784080" cy="0"/>
          </a:xfrm>
          <a:prstGeom prst="line">
            <a:avLst/>
          </a:prstGeom>
          <a:noFill/>
          <a:ln w="31750">
            <a:solidFill>
              <a:srgbClr val="BC290A"/>
            </a:solidFill>
            <a:prstDash val="solid"/>
            <a:headEnd type="triangle"/>
            <a:tailEnd type="triangle"/>
          </a:ln>
        </p:spPr>
        <p:txBody>
          <a:bodyPr/>
          <a:lstStyle/>
          <a:p>
            <a:endParaRPr lang="it-IT"/>
          </a:p>
        </p:txBody>
      </p:sp>
      <p:sp>
        <p:nvSpPr>
          <p:cNvPr id="20" name="Shape 18"/>
          <p:cNvSpPr/>
          <p:nvPr/>
        </p:nvSpPr>
        <p:spPr>
          <a:xfrm>
            <a:off x="1874520" y="4114800"/>
            <a:ext cx="274320" cy="274320"/>
          </a:xfrm>
          <a:prstGeom prst="ellipse">
            <a:avLst/>
          </a:prstGeom>
          <a:solidFill>
            <a:srgbClr val="BC290A"/>
          </a:solidFill>
          <a:ln w="25400">
            <a:solidFill>
              <a:srgbClr val="FFFFFF"/>
            </a:solidFill>
            <a:prstDash val="solid"/>
          </a:ln>
        </p:spPr>
        <p:txBody>
          <a:bodyPr/>
          <a:lstStyle/>
          <a:p>
            <a:endParaRPr lang="it-IT"/>
          </a:p>
        </p:txBody>
      </p:sp>
      <p:sp>
        <p:nvSpPr>
          <p:cNvPr id="21" name="Text 19"/>
          <p:cNvSpPr txBox="1"/>
          <p:nvPr/>
        </p:nvSpPr>
        <p:spPr>
          <a:xfrm>
            <a:off x="1188720" y="4498848"/>
            <a:ext cx="1645920" cy="320040"/>
          </a:xfrm>
          <a:prstGeom prst="rect">
            <a:avLst/>
          </a:prstGeom>
          <a:noFill/>
          <a:ln/>
        </p:spPr>
        <p:txBody>
          <a:bodyPr wrap="square" lIns="0" tIns="0" rIns="0" bIns="0" rtlCol="0" anchor="ctr"/>
          <a:lstStyle/>
          <a:p>
            <a:pPr marL="0" indent="0" algn="ctr">
              <a:buNone/>
            </a:pPr>
            <a:r>
              <a:rPr lang="en-US" sz="1500" b="1" dirty="0">
                <a:solidFill>
                  <a:srgbClr val="BC290A"/>
                </a:solidFill>
                <a:latin typeface="Cambria" pitchFamily="34" charset="0"/>
                <a:ea typeface="Cambria" pitchFamily="34" charset="-122"/>
                <a:cs typeface="Cambria" pitchFamily="34" charset="-120"/>
              </a:rPr>
              <a:t>Predittivo</a:t>
            </a:r>
            <a:endParaRPr lang="en-US" sz="1500" dirty="0"/>
          </a:p>
        </p:txBody>
      </p:sp>
      <p:sp>
        <p:nvSpPr>
          <p:cNvPr id="22" name="Text 20"/>
          <p:cNvSpPr txBox="1"/>
          <p:nvPr/>
        </p:nvSpPr>
        <p:spPr>
          <a:xfrm>
            <a:off x="685800" y="4828032"/>
            <a:ext cx="2651760" cy="685800"/>
          </a:xfrm>
          <a:prstGeom prst="rect">
            <a:avLst/>
          </a:prstGeom>
          <a:noFill/>
          <a:ln/>
        </p:spPr>
        <p:txBody>
          <a:bodyPr wrap="square" lIns="0" tIns="0" rIns="0" bIns="0" rtlCol="0" anchor="ctr"/>
          <a:lstStyle/>
          <a:p>
            <a:pPr marL="0" indent="0" algn="ctr">
              <a:lnSpc>
                <a:spcPct val="110000"/>
              </a:lnSpc>
              <a:buNone/>
            </a:pPr>
            <a:r>
              <a:rPr lang="en-US" sz="1050" dirty="0">
                <a:solidFill>
                  <a:srgbClr val="5B5350"/>
                </a:solidFill>
                <a:latin typeface="Calibri" pitchFamily="34" charset="0"/>
                <a:ea typeface="Calibri" pitchFamily="34" charset="-122"/>
                <a:cs typeface="Calibri" pitchFamily="34" charset="-120"/>
              </a:rPr>
              <a:t>ambito fisso, tempi e costi assorbono le variazioni</a:t>
            </a:r>
            <a:endParaRPr lang="en-US" sz="1050" dirty="0"/>
          </a:p>
        </p:txBody>
      </p:sp>
      <p:sp>
        <p:nvSpPr>
          <p:cNvPr id="23" name="Shape 21"/>
          <p:cNvSpPr/>
          <p:nvPr/>
        </p:nvSpPr>
        <p:spPr>
          <a:xfrm>
            <a:off x="5943600" y="4114800"/>
            <a:ext cx="274320" cy="274320"/>
          </a:xfrm>
          <a:prstGeom prst="ellipse">
            <a:avLst/>
          </a:prstGeom>
          <a:solidFill>
            <a:srgbClr val="BC290A"/>
          </a:solidFill>
          <a:ln w="25400">
            <a:solidFill>
              <a:srgbClr val="FFFFFF"/>
            </a:solidFill>
            <a:prstDash val="solid"/>
          </a:ln>
        </p:spPr>
        <p:txBody>
          <a:bodyPr/>
          <a:lstStyle/>
          <a:p>
            <a:endParaRPr lang="it-IT"/>
          </a:p>
        </p:txBody>
      </p:sp>
      <p:sp>
        <p:nvSpPr>
          <p:cNvPr id="24" name="Text 22"/>
          <p:cNvSpPr txBox="1"/>
          <p:nvPr/>
        </p:nvSpPr>
        <p:spPr>
          <a:xfrm>
            <a:off x="5257800" y="4498848"/>
            <a:ext cx="1645920" cy="320040"/>
          </a:xfrm>
          <a:prstGeom prst="rect">
            <a:avLst/>
          </a:prstGeom>
          <a:noFill/>
          <a:ln/>
        </p:spPr>
        <p:txBody>
          <a:bodyPr wrap="square" lIns="0" tIns="0" rIns="0" bIns="0" rtlCol="0" anchor="ctr"/>
          <a:lstStyle/>
          <a:p>
            <a:pPr marL="0" indent="0" algn="ctr">
              <a:buNone/>
            </a:pPr>
            <a:r>
              <a:rPr lang="en-US" sz="1500" b="1" dirty="0">
                <a:solidFill>
                  <a:srgbClr val="BC290A"/>
                </a:solidFill>
                <a:latin typeface="Cambria" pitchFamily="34" charset="0"/>
                <a:ea typeface="Cambria" pitchFamily="34" charset="-122"/>
                <a:cs typeface="Cambria" pitchFamily="34" charset="-120"/>
              </a:rPr>
              <a:t>Ibrido</a:t>
            </a:r>
            <a:endParaRPr lang="en-US" sz="1500" dirty="0"/>
          </a:p>
        </p:txBody>
      </p:sp>
      <p:sp>
        <p:nvSpPr>
          <p:cNvPr id="25" name="Text 23"/>
          <p:cNvSpPr txBox="1"/>
          <p:nvPr/>
        </p:nvSpPr>
        <p:spPr>
          <a:xfrm>
            <a:off x="4754880" y="4828032"/>
            <a:ext cx="2651760" cy="685800"/>
          </a:xfrm>
          <a:prstGeom prst="rect">
            <a:avLst/>
          </a:prstGeom>
          <a:noFill/>
          <a:ln/>
        </p:spPr>
        <p:txBody>
          <a:bodyPr wrap="square" lIns="0" tIns="0" rIns="0" bIns="0" rtlCol="0" anchor="ctr"/>
          <a:lstStyle/>
          <a:p>
            <a:pPr marL="0" indent="0" algn="ctr">
              <a:lnSpc>
                <a:spcPct val="110000"/>
              </a:lnSpc>
              <a:buNone/>
            </a:pPr>
            <a:r>
              <a:rPr lang="en-US" sz="1050" dirty="0">
                <a:solidFill>
                  <a:srgbClr val="5B5350"/>
                </a:solidFill>
                <a:latin typeface="Calibri" pitchFamily="34" charset="0"/>
                <a:ea typeface="Calibri" pitchFamily="34" charset="-122"/>
                <a:cs typeface="Calibri" pitchFamily="34" charset="-120"/>
              </a:rPr>
              <a:t>il più vantaggioso per la maggior parte dei progetti</a:t>
            </a:r>
            <a:endParaRPr lang="en-US" sz="1050" dirty="0"/>
          </a:p>
        </p:txBody>
      </p:sp>
      <p:sp>
        <p:nvSpPr>
          <p:cNvPr id="26" name="Shape 24"/>
          <p:cNvSpPr/>
          <p:nvPr/>
        </p:nvSpPr>
        <p:spPr>
          <a:xfrm>
            <a:off x="10012680" y="4114800"/>
            <a:ext cx="274320" cy="274320"/>
          </a:xfrm>
          <a:prstGeom prst="ellipse">
            <a:avLst/>
          </a:prstGeom>
          <a:solidFill>
            <a:srgbClr val="BC290A"/>
          </a:solidFill>
          <a:ln w="25400">
            <a:solidFill>
              <a:srgbClr val="FFFFFF"/>
            </a:solidFill>
            <a:prstDash val="solid"/>
          </a:ln>
        </p:spPr>
        <p:txBody>
          <a:bodyPr/>
          <a:lstStyle/>
          <a:p>
            <a:endParaRPr lang="it-IT"/>
          </a:p>
        </p:txBody>
      </p:sp>
      <p:sp>
        <p:nvSpPr>
          <p:cNvPr id="27" name="Text 25"/>
          <p:cNvSpPr txBox="1"/>
          <p:nvPr/>
        </p:nvSpPr>
        <p:spPr>
          <a:xfrm>
            <a:off x="9326880" y="4498848"/>
            <a:ext cx="1645920" cy="320040"/>
          </a:xfrm>
          <a:prstGeom prst="rect">
            <a:avLst/>
          </a:prstGeom>
          <a:noFill/>
          <a:ln/>
        </p:spPr>
        <p:txBody>
          <a:bodyPr wrap="square" lIns="0" tIns="0" rIns="0" bIns="0" rtlCol="0" anchor="ctr"/>
          <a:lstStyle/>
          <a:p>
            <a:pPr marL="0" indent="0" algn="ctr">
              <a:buNone/>
            </a:pPr>
            <a:r>
              <a:rPr lang="en-US" sz="1500" b="1" dirty="0">
                <a:solidFill>
                  <a:srgbClr val="BC290A"/>
                </a:solidFill>
                <a:latin typeface="Cambria" pitchFamily="34" charset="0"/>
                <a:ea typeface="Cambria" pitchFamily="34" charset="-122"/>
                <a:cs typeface="Cambria" pitchFamily="34" charset="-120"/>
              </a:rPr>
              <a:t>Adattivo</a:t>
            </a:r>
            <a:endParaRPr lang="en-US" sz="1500" dirty="0"/>
          </a:p>
        </p:txBody>
      </p:sp>
      <p:sp>
        <p:nvSpPr>
          <p:cNvPr id="28" name="Text 26"/>
          <p:cNvSpPr txBox="1"/>
          <p:nvPr/>
        </p:nvSpPr>
        <p:spPr>
          <a:xfrm>
            <a:off x="8823960" y="4828032"/>
            <a:ext cx="2651760" cy="685800"/>
          </a:xfrm>
          <a:prstGeom prst="rect">
            <a:avLst/>
          </a:prstGeom>
          <a:noFill/>
          <a:ln/>
        </p:spPr>
        <p:txBody>
          <a:bodyPr wrap="square" lIns="0" tIns="0" rIns="0" bIns="0" rtlCol="0" anchor="ctr"/>
          <a:lstStyle/>
          <a:p>
            <a:pPr marL="0" indent="0" algn="ctr">
              <a:lnSpc>
                <a:spcPct val="110000"/>
              </a:lnSpc>
              <a:buNone/>
            </a:pPr>
            <a:r>
              <a:rPr lang="en-US" sz="1050" dirty="0">
                <a:solidFill>
                  <a:srgbClr val="5B5350"/>
                </a:solidFill>
                <a:latin typeface="Calibri" pitchFamily="34" charset="0"/>
                <a:ea typeface="Calibri" pitchFamily="34" charset="-122"/>
                <a:cs typeface="Calibri" pitchFamily="34" charset="-120"/>
              </a:rPr>
              <a:t>tempi e budget fissi, l'ambito assorbe le variazioni</a:t>
            </a:r>
            <a:endParaRPr lang="en-US" sz="1050" dirty="0"/>
          </a:p>
        </p:txBody>
      </p:sp>
      <p:sp>
        <p:nvSpPr>
          <p:cNvPr id="29" name="Text 27"/>
          <p:cNvSpPr txBox="1"/>
          <p:nvPr/>
        </p:nvSpPr>
        <p:spPr>
          <a:xfrm>
            <a:off x="1188720" y="3675888"/>
            <a:ext cx="9784080" cy="274320"/>
          </a:xfrm>
          <a:prstGeom prst="rect">
            <a:avLst/>
          </a:prstGeom>
          <a:noFill/>
          <a:ln/>
        </p:spPr>
        <p:txBody>
          <a:bodyPr wrap="square" lIns="0" tIns="0" rIns="0" bIns="0" rtlCol="0" anchor="ctr"/>
          <a:lstStyle/>
          <a:p>
            <a:pPr marL="0" indent="0" algn="r">
              <a:buNone/>
            </a:pPr>
            <a:r>
              <a:rPr lang="en-US" sz="1000" i="1" dirty="0">
                <a:solidFill>
                  <a:srgbClr val="7A756F"/>
                </a:solidFill>
                <a:latin typeface="Calibri" pitchFamily="34" charset="0"/>
                <a:ea typeface="Calibri" pitchFamily="34" charset="-122"/>
                <a:cs typeface="Calibri" pitchFamily="34" charset="-120"/>
              </a:rPr>
              <a:t>sempre più iterativo e incrementale  →</a:t>
            </a:r>
            <a:endParaRPr lang="en-US" sz="1000" dirty="0"/>
          </a:p>
        </p:txBody>
      </p:sp>
      <p:sp>
        <p:nvSpPr>
          <p:cNvPr id="30" name="Text 28"/>
          <p:cNvSpPr txBox="1"/>
          <p:nvPr/>
        </p:nvSpPr>
        <p:spPr>
          <a:xfrm>
            <a:off x="548640" y="6473952"/>
            <a:ext cx="7315200" cy="274320"/>
          </a:xfrm>
          <a:prstGeom prst="rect">
            <a:avLst/>
          </a:prstGeom>
          <a:noFill/>
          <a:ln/>
        </p:spPr>
        <p:txBody>
          <a:bodyPr wrap="square" lIns="0" tIns="0" rIns="0" bIns="0" rtlCol="0" anchor="ctr"/>
          <a:lstStyle/>
          <a:p>
            <a:pPr marL="0" indent="0">
              <a:buNone/>
            </a:pPr>
            <a:r>
              <a:rPr lang="en-US" sz="900" kern="0" spc="120" dirty="0">
                <a:solidFill>
                  <a:srgbClr val="7A756F"/>
                </a:solidFill>
                <a:latin typeface="Calibri" pitchFamily="34" charset="0"/>
                <a:ea typeface="Calibri" pitchFamily="34" charset="-122"/>
                <a:cs typeface="Calibri" pitchFamily="34" charset="-120"/>
              </a:rPr>
              <a:t>APPROCCI TRADIZIONALI</a:t>
            </a:r>
            <a:endParaRPr lang="en-US" sz="900" dirty="0"/>
          </a:p>
        </p:txBody>
      </p:sp>
      <p:sp>
        <p:nvSpPr>
          <p:cNvPr id="31" name="Text 29"/>
          <p:cNvSpPr txBox="1"/>
          <p:nvPr/>
        </p:nvSpPr>
        <p:spPr>
          <a:xfrm>
            <a:off x="11277295" y="6473952"/>
            <a:ext cx="457200" cy="274320"/>
          </a:xfrm>
          <a:prstGeom prst="rect">
            <a:avLst/>
          </a:prstGeom>
          <a:noFill/>
          <a:ln/>
        </p:spPr>
        <p:txBody>
          <a:bodyPr wrap="square" lIns="0" tIns="0" rIns="0" bIns="0" rtlCol="0" anchor="ctr"/>
          <a:lstStyle/>
          <a:p>
            <a:pPr marL="0" indent="0" algn="r">
              <a:buNone/>
            </a:pPr>
            <a:r>
              <a:rPr lang="en-US" sz="900" dirty="0">
                <a:solidFill>
                  <a:srgbClr val="BC290A"/>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457200"/>
            <a:ext cx="10515600" cy="320040"/>
          </a:xfrm>
          <a:prstGeom prst="rect">
            <a:avLst/>
          </a:prstGeom>
          <a:noFill/>
          <a:ln/>
        </p:spPr>
        <p:txBody>
          <a:bodyPr wrap="square" lIns="0" tIns="0" rIns="0" bIns="0" rtlCol="0" anchor="ctr"/>
          <a:lstStyle/>
          <a:p>
            <a:pPr marL="0" indent="0">
              <a:buNone/>
            </a:pPr>
            <a:r>
              <a:rPr lang="en-US" sz="1300" b="1" kern="0" spc="150" dirty="0">
                <a:solidFill>
                  <a:srgbClr val="7A756F"/>
                </a:solidFill>
                <a:latin typeface="Calibri" pitchFamily="34" charset="0"/>
                <a:ea typeface="Calibri" pitchFamily="34" charset="-122"/>
                <a:cs typeface="Calibri" pitchFamily="34" charset="-120"/>
              </a:rPr>
              <a:t>CAPITOLO 1 · APPROCCI TRADIZIONALI</a:t>
            </a:r>
            <a:endParaRPr lang="en-US" sz="1300" dirty="0"/>
          </a:p>
        </p:txBody>
      </p:sp>
      <p:sp>
        <p:nvSpPr>
          <p:cNvPr id="3" name="Text 1"/>
          <p:cNvSpPr txBox="1"/>
          <p:nvPr/>
        </p:nvSpPr>
        <p:spPr>
          <a:xfrm>
            <a:off x="548640" y="749808"/>
            <a:ext cx="11064240" cy="868680"/>
          </a:xfrm>
          <a:prstGeom prst="rect">
            <a:avLst/>
          </a:prstGeom>
          <a:noFill/>
          <a:ln/>
        </p:spPr>
        <p:txBody>
          <a:bodyPr wrap="square" lIns="0" tIns="0" rIns="0" bIns="0" rtlCol="0" anchor="t"/>
          <a:lstStyle/>
          <a:p>
            <a:pPr marL="0" indent="0">
              <a:lnSpc>
                <a:spcPct val="102000"/>
              </a:lnSpc>
              <a:buNone/>
            </a:pPr>
            <a:r>
              <a:rPr lang="en-US" sz="3000" b="1" dirty="0">
                <a:solidFill>
                  <a:srgbClr val="BC290A"/>
                </a:solidFill>
                <a:latin typeface="Cambria" pitchFamily="34" charset="0"/>
                <a:ea typeface="Cambria" pitchFamily="34" charset="-122"/>
                <a:cs typeface="Cambria" pitchFamily="34" charset="-120"/>
              </a:rPr>
              <a:t>PRINCE2: un metodo</a:t>
            </a:r>
            <a:endParaRPr lang="en-US" sz="3000" dirty="0"/>
          </a:p>
        </p:txBody>
      </p:sp>
      <p:sp>
        <p:nvSpPr>
          <p:cNvPr id="4" name="Shape 2"/>
          <p:cNvSpPr/>
          <p:nvPr/>
        </p:nvSpPr>
        <p:spPr>
          <a:xfrm>
            <a:off x="640080" y="2057400"/>
            <a:ext cx="10908792" cy="777240"/>
          </a:xfrm>
          <a:prstGeom prst="roundRect">
            <a:avLst>
              <a:gd name="adj" fmla="val 10588"/>
            </a:avLst>
          </a:prstGeom>
          <a:solidFill>
            <a:srgbClr val="BC290A"/>
          </a:solidFill>
          <a:ln/>
        </p:spPr>
        <p:txBody>
          <a:bodyPr/>
          <a:lstStyle/>
          <a:p>
            <a:endParaRPr lang="it-IT"/>
          </a:p>
        </p:txBody>
      </p:sp>
      <p:sp>
        <p:nvSpPr>
          <p:cNvPr id="5" name="Text 3"/>
          <p:cNvSpPr txBox="1"/>
          <p:nvPr/>
        </p:nvSpPr>
        <p:spPr>
          <a:xfrm>
            <a:off x="822960" y="2057400"/>
            <a:ext cx="10515600" cy="777240"/>
          </a:xfrm>
          <a:prstGeom prst="rect">
            <a:avLst/>
          </a:prstGeom>
          <a:noFill/>
          <a:ln/>
        </p:spPr>
        <p:txBody>
          <a:bodyPr wrap="square" lIns="0" tIns="0" rIns="0" bIns="0" rtlCol="0" anchor="ctr"/>
          <a:lstStyle/>
          <a:p>
            <a:pPr marL="0" indent="0">
              <a:buNone/>
            </a:pPr>
            <a:r>
              <a:rPr lang="en-US" sz="1600" b="1" dirty="0">
                <a:solidFill>
                  <a:srgbClr val="FFFFFF"/>
                </a:solidFill>
                <a:latin typeface="Cambria" pitchFamily="34" charset="0"/>
                <a:ea typeface="Cambria" pitchFamily="34" charset="-122"/>
                <a:cs typeface="Cambria" pitchFamily="34" charset="-120"/>
              </a:rPr>
              <a:t>7 principi, tutti obbligatori — se anche uno solo manca, non è un progetto PRINCE2</a:t>
            </a:r>
            <a:endParaRPr lang="en-US" sz="1600" dirty="0"/>
          </a:p>
        </p:txBody>
      </p:sp>
      <p:sp>
        <p:nvSpPr>
          <p:cNvPr id="6" name="Shape 4"/>
          <p:cNvSpPr/>
          <p:nvPr/>
        </p:nvSpPr>
        <p:spPr>
          <a:xfrm>
            <a:off x="640080" y="3108960"/>
            <a:ext cx="1481328" cy="2148840"/>
          </a:xfrm>
          <a:prstGeom prst="roundRect">
            <a:avLst>
              <a:gd name="adj" fmla="val 5556"/>
            </a:avLst>
          </a:prstGeom>
          <a:solidFill>
            <a:srgbClr val="FAEEEB"/>
          </a:solidFill>
          <a:ln w="9525">
            <a:solidFill>
              <a:srgbClr val="E7E2DD"/>
            </a:solidFill>
            <a:prstDash val="solid"/>
          </a:ln>
          <a:effectLst>
            <a:outerShdw blurRad="76200" dist="25400" dir="5400000" algn="bl" rotWithShape="0">
              <a:srgbClr val="1A1013">
                <a:alpha val="15000"/>
              </a:srgbClr>
            </a:outerShdw>
          </a:effectLst>
        </p:spPr>
        <p:txBody>
          <a:bodyPr/>
          <a:lstStyle/>
          <a:p>
            <a:endParaRPr lang="it-IT"/>
          </a:p>
        </p:txBody>
      </p:sp>
      <p:sp>
        <p:nvSpPr>
          <p:cNvPr id="7" name="Text 5"/>
          <p:cNvSpPr txBox="1"/>
          <p:nvPr/>
        </p:nvSpPr>
        <p:spPr>
          <a:xfrm>
            <a:off x="713232" y="3246120"/>
            <a:ext cx="1335024" cy="731520"/>
          </a:xfrm>
          <a:prstGeom prst="rect">
            <a:avLst/>
          </a:prstGeom>
          <a:noFill/>
          <a:ln/>
        </p:spPr>
        <p:txBody>
          <a:bodyPr wrap="square" lIns="0" tIns="0" rIns="0" bIns="0" rtlCol="0" anchor="ctr"/>
          <a:lstStyle/>
          <a:p>
            <a:pPr marL="0" indent="0" algn="ctr">
              <a:lnSpc>
                <a:spcPct val="105000"/>
              </a:lnSpc>
              <a:buNone/>
            </a:pPr>
            <a:r>
              <a:rPr lang="en-US" sz="1250" b="1" dirty="0">
                <a:solidFill>
                  <a:srgbClr val="BC290A"/>
                </a:solidFill>
                <a:latin typeface="Calibri" pitchFamily="34" charset="0"/>
                <a:ea typeface="Calibri" pitchFamily="34" charset="-122"/>
                <a:cs typeface="Calibri" pitchFamily="34" charset="-120"/>
              </a:rPr>
              <a:t>Business case</a:t>
            </a:r>
            <a:endParaRPr lang="en-US" sz="1250" dirty="0"/>
          </a:p>
        </p:txBody>
      </p:sp>
      <p:sp>
        <p:nvSpPr>
          <p:cNvPr id="8" name="Shape 6"/>
          <p:cNvSpPr/>
          <p:nvPr/>
        </p:nvSpPr>
        <p:spPr>
          <a:xfrm>
            <a:off x="914400" y="4041648"/>
            <a:ext cx="932688" cy="0"/>
          </a:xfrm>
          <a:prstGeom prst="line">
            <a:avLst/>
          </a:prstGeom>
          <a:noFill/>
          <a:ln w="9525">
            <a:solidFill>
              <a:srgbClr val="C9C2BA"/>
            </a:solidFill>
            <a:prstDash val="solid"/>
          </a:ln>
        </p:spPr>
        <p:txBody>
          <a:bodyPr/>
          <a:lstStyle/>
          <a:p>
            <a:endParaRPr lang="it-IT"/>
          </a:p>
        </p:txBody>
      </p:sp>
      <p:sp>
        <p:nvSpPr>
          <p:cNvPr id="9" name="Text 7"/>
          <p:cNvSpPr txBox="1"/>
          <p:nvPr/>
        </p:nvSpPr>
        <p:spPr>
          <a:xfrm>
            <a:off x="713232" y="4160520"/>
            <a:ext cx="1335024" cy="1005840"/>
          </a:xfrm>
          <a:prstGeom prst="rect">
            <a:avLst/>
          </a:prstGeom>
          <a:noFill/>
          <a:ln/>
        </p:spPr>
        <p:txBody>
          <a:bodyPr wrap="square" lIns="0" tIns="0" rIns="0" bIns="0" rtlCol="0" anchor="ctr"/>
          <a:lstStyle/>
          <a:p>
            <a:pPr marL="0" indent="0" algn="ctr">
              <a:lnSpc>
                <a:spcPct val="110000"/>
              </a:lnSpc>
              <a:buNone/>
            </a:pPr>
            <a:r>
              <a:rPr lang="en-US" sz="1100" i="1" dirty="0">
                <a:solidFill>
                  <a:srgbClr val="5B5350"/>
                </a:solidFill>
                <a:latin typeface="Calibri" pitchFamily="34" charset="0"/>
                <a:ea typeface="Calibri" pitchFamily="34" charset="-122"/>
                <a:cs typeface="Calibri" pitchFamily="34" charset="-120"/>
              </a:rPr>
              <a:t>Perché?</a:t>
            </a:r>
            <a:endParaRPr lang="en-US" sz="1100" dirty="0"/>
          </a:p>
        </p:txBody>
      </p:sp>
      <p:sp>
        <p:nvSpPr>
          <p:cNvPr id="10" name="Shape 8"/>
          <p:cNvSpPr/>
          <p:nvPr/>
        </p:nvSpPr>
        <p:spPr>
          <a:xfrm>
            <a:off x="2231136" y="3108960"/>
            <a:ext cx="1481328" cy="2148840"/>
          </a:xfrm>
          <a:prstGeom prst="roundRect">
            <a:avLst>
              <a:gd name="adj" fmla="val 5556"/>
            </a:avLst>
          </a:prstGeom>
          <a:solidFill>
            <a:srgbClr val="FAEEEB"/>
          </a:solidFill>
          <a:ln w="9525">
            <a:solidFill>
              <a:srgbClr val="E7E2DD"/>
            </a:solidFill>
            <a:prstDash val="solid"/>
          </a:ln>
          <a:effectLst>
            <a:outerShdw blurRad="76200" dist="25400" dir="5400000" algn="bl" rotWithShape="0">
              <a:srgbClr val="1A1013">
                <a:alpha val="15000"/>
              </a:srgbClr>
            </a:outerShdw>
          </a:effectLst>
        </p:spPr>
        <p:txBody>
          <a:bodyPr/>
          <a:lstStyle/>
          <a:p>
            <a:endParaRPr lang="it-IT"/>
          </a:p>
        </p:txBody>
      </p:sp>
      <p:sp>
        <p:nvSpPr>
          <p:cNvPr id="11" name="Text 9"/>
          <p:cNvSpPr txBox="1"/>
          <p:nvPr/>
        </p:nvSpPr>
        <p:spPr>
          <a:xfrm>
            <a:off x="2304288" y="3246120"/>
            <a:ext cx="1335024" cy="731520"/>
          </a:xfrm>
          <a:prstGeom prst="rect">
            <a:avLst/>
          </a:prstGeom>
          <a:noFill/>
          <a:ln/>
        </p:spPr>
        <p:txBody>
          <a:bodyPr wrap="square" lIns="0" tIns="0" rIns="0" bIns="0" rtlCol="0" anchor="ctr"/>
          <a:lstStyle/>
          <a:p>
            <a:pPr marL="0" indent="0" algn="ctr">
              <a:lnSpc>
                <a:spcPct val="105000"/>
              </a:lnSpc>
              <a:buNone/>
            </a:pPr>
            <a:r>
              <a:rPr lang="en-US" sz="1250" b="1" dirty="0">
                <a:solidFill>
                  <a:srgbClr val="BC290A"/>
                </a:solidFill>
                <a:latin typeface="Calibri" pitchFamily="34" charset="0"/>
                <a:ea typeface="Calibri" pitchFamily="34" charset="-122"/>
                <a:cs typeface="Calibri" pitchFamily="34" charset="-120"/>
              </a:rPr>
              <a:t>Organizzazione</a:t>
            </a:r>
            <a:endParaRPr lang="en-US" sz="1250" dirty="0"/>
          </a:p>
        </p:txBody>
      </p:sp>
      <p:sp>
        <p:nvSpPr>
          <p:cNvPr id="12" name="Shape 10"/>
          <p:cNvSpPr/>
          <p:nvPr/>
        </p:nvSpPr>
        <p:spPr>
          <a:xfrm>
            <a:off x="2505456" y="4041648"/>
            <a:ext cx="932688" cy="0"/>
          </a:xfrm>
          <a:prstGeom prst="line">
            <a:avLst/>
          </a:prstGeom>
          <a:noFill/>
          <a:ln w="9525">
            <a:solidFill>
              <a:srgbClr val="C9C2BA"/>
            </a:solidFill>
            <a:prstDash val="solid"/>
          </a:ln>
        </p:spPr>
        <p:txBody>
          <a:bodyPr/>
          <a:lstStyle/>
          <a:p>
            <a:endParaRPr lang="it-IT"/>
          </a:p>
        </p:txBody>
      </p:sp>
      <p:sp>
        <p:nvSpPr>
          <p:cNvPr id="13" name="Text 11"/>
          <p:cNvSpPr txBox="1"/>
          <p:nvPr/>
        </p:nvSpPr>
        <p:spPr>
          <a:xfrm>
            <a:off x="2304288" y="4160520"/>
            <a:ext cx="1335024" cy="1005840"/>
          </a:xfrm>
          <a:prstGeom prst="rect">
            <a:avLst/>
          </a:prstGeom>
          <a:noFill/>
          <a:ln/>
        </p:spPr>
        <p:txBody>
          <a:bodyPr wrap="square" lIns="0" tIns="0" rIns="0" bIns="0" rtlCol="0" anchor="ctr"/>
          <a:lstStyle/>
          <a:p>
            <a:pPr marL="0" indent="0" algn="ctr">
              <a:lnSpc>
                <a:spcPct val="110000"/>
              </a:lnSpc>
              <a:buNone/>
            </a:pPr>
            <a:r>
              <a:rPr lang="en-US" sz="1100" i="1" dirty="0">
                <a:solidFill>
                  <a:srgbClr val="5B5350"/>
                </a:solidFill>
                <a:latin typeface="Calibri" pitchFamily="34" charset="0"/>
                <a:ea typeface="Calibri" pitchFamily="34" charset="-122"/>
                <a:cs typeface="Calibri" pitchFamily="34" charset="-120"/>
              </a:rPr>
              <a:t>Chi?</a:t>
            </a:r>
            <a:endParaRPr lang="en-US" sz="1100" dirty="0"/>
          </a:p>
        </p:txBody>
      </p:sp>
      <p:sp>
        <p:nvSpPr>
          <p:cNvPr id="14" name="Shape 12"/>
          <p:cNvSpPr/>
          <p:nvPr/>
        </p:nvSpPr>
        <p:spPr>
          <a:xfrm>
            <a:off x="3822192" y="3108960"/>
            <a:ext cx="1481328" cy="2148840"/>
          </a:xfrm>
          <a:prstGeom prst="roundRect">
            <a:avLst>
              <a:gd name="adj" fmla="val 5556"/>
            </a:avLst>
          </a:prstGeom>
          <a:solidFill>
            <a:srgbClr val="FAEEEB"/>
          </a:solidFill>
          <a:ln w="9525">
            <a:solidFill>
              <a:srgbClr val="E7E2DD"/>
            </a:solidFill>
            <a:prstDash val="solid"/>
          </a:ln>
          <a:effectLst>
            <a:outerShdw blurRad="76200" dist="25400" dir="5400000" algn="bl" rotWithShape="0">
              <a:srgbClr val="1A1013">
                <a:alpha val="15000"/>
              </a:srgbClr>
            </a:outerShdw>
          </a:effectLst>
        </p:spPr>
        <p:txBody>
          <a:bodyPr/>
          <a:lstStyle/>
          <a:p>
            <a:endParaRPr lang="it-IT"/>
          </a:p>
        </p:txBody>
      </p:sp>
      <p:sp>
        <p:nvSpPr>
          <p:cNvPr id="15" name="Text 13"/>
          <p:cNvSpPr txBox="1"/>
          <p:nvPr/>
        </p:nvSpPr>
        <p:spPr>
          <a:xfrm>
            <a:off x="3895344" y="3246120"/>
            <a:ext cx="1335024" cy="731520"/>
          </a:xfrm>
          <a:prstGeom prst="rect">
            <a:avLst/>
          </a:prstGeom>
          <a:noFill/>
          <a:ln/>
        </p:spPr>
        <p:txBody>
          <a:bodyPr wrap="square" lIns="0" tIns="0" rIns="0" bIns="0" rtlCol="0" anchor="ctr"/>
          <a:lstStyle/>
          <a:p>
            <a:pPr marL="0" indent="0" algn="ctr">
              <a:lnSpc>
                <a:spcPct val="105000"/>
              </a:lnSpc>
              <a:buNone/>
            </a:pPr>
            <a:r>
              <a:rPr lang="en-US" sz="1250" b="1" dirty="0">
                <a:solidFill>
                  <a:srgbClr val="BC290A"/>
                </a:solidFill>
                <a:latin typeface="Calibri" pitchFamily="34" charset="0"/>
                <a:ea typeface="Calibri" pitchFamily="34" charset="-122"/>
                <a:cs typeface="Calibri" pitchFamily="34" charset="-120"/>
              </a:rPr>
              <a:t>Piani</a:t>
            </a:r>
            <a:endParaRPr lang="en-US" sz="1250" dirty="0"/>
          </a:p>
        </p:txBody>
      </p:sp>
      <p:sp>
        <p:nvSpPr>
          <p:cNvPr id="16" name="Shape 14"/>
          <p:cNvSpPr/>
          <p:nvPr/>
        </p:nvSpPr>
        <p:spPr>
          <a:xfrm>
            <a:off x="4096512" y="4041648"/>
            <a:ext cx="932688" cy="0"/>
          </a:xfrm>
          <a:prstGeom prst="line">
            <a:avLst/>
          </a:prstGeom>
          <a:noFill/>
          <a:ln w="9525">
            <a:solidFill>
              <a:srgbClr val="C9C2BA"/>
            </a:solidFill>
            <a:prstDash val="solid"/>
          </a:ln>
        </p:spPr>
        <p:txBody>
          <a:bodyPr/>
          <a:lstStyle/>
          <a:p>
            <a:endParaRPr lang="it-IT"/>
          </a:p>
        </p:txBody>
      </p:sp>
      <p:sp>
        <p:nvSpPr>
          <p:cNvPr id="17" name="Text 15"/>
          <p:cNvSpPr txBox="1"/>
          <p:nvPr/>
        </p:nvSpPr>
        <p:spPr>
          <a:xfrm>
            <a:off x="3895344" y="4160520"/>
            <a:ext cx="1335024" cy="1005840"/>
          </a:xfrm>
          <a:prstGeom prst="rect">
            <a:avLst/>
          </a:prstGeom>
          <a:noFill/>
          <a:ln/>
        </p:spPr>
        <p:txBody>
          <a:bodyPr wrap="square" lIns="0" tIns="0" rIns="0" bIns="0" rtlCol="0" anchor="ctr"/>
          <a:lstStyle/>
          <a:p>
            <a:pPr marL="0" indent="0" algn="ctr">
              <a:lnSpc>
                <a:spcPct val="110000"/>
              </a:lnSpc>
              <a:buNone/>
            </a:pPr>
            <a:r>
              <a:rPr lang="en-US" sz="1100" i="1" dirty="0">
                <a:solidFill>
                  <a:srgbClr val="5B5350"/>
                </a:solidFill>
                <a:latin typeface="Calibri" pitchFamily="34" charset="0"/>
                <a:ea typeface="Calibri" pitchFamily="34" charset="-122"/>
                <a:cs typeface="Calibri" pitchFamily="34" charset="-120"/>
              </a:rPr>
              <a:t>Come? Quanto? Quando?</a:t>
            </a:r>
            <a:endParaRPr lang="en-US" sz="1100" dirty="0"/>
          </a:p>
        </p:txBody>
      </p:sp>
      <p:sp>
        <p:nvSpPr>
          <p:cNvPr id="18" name="Shape 16"/>
          <p:cNvSpPr/>
          <p:nvPr/>
        </p:nvSpPr>
        <p:spPr>
          <a:xfrm>
            <a:off x="5413248" y="3108960"/>
            <a:ext cx="1481328" cy="2148840"/>
          </a:xfrm>
          <a:prstGeom prst="roundRect">
            <a:avLst>
              <a:gd name="adj" fmla="val 5556"/>
            </a:avLst>
          </a:prstGeom>
          <a:solidFill>
            <a:srgbClr val="FAEEEB"/>
          </a:solidFill>
          <a:ln w="9525">
            <a:solidFill>
              <a:srgbClr val="E7E2DD"/>
            </a:solidFill>
            <a:prstDash val="solid"/>
          </a:ln>
          <a:effectLst>
            <a:outerShdw blurRad="76200" dist="25400" dir="5400000" algn="bl" rotWithShape="0">
              <a:srgbClr val="1A1013">
                <a:alpha val="15000"/>
              </a:srgbClr>
            </a:outerShdw>
          </a:effectLst>
        </p:spPr>
        <p:txBody>
          <a:bodyPr/>
          <a:lstStyle/>
          <a:p>
            <a:endParaRPr lang="it-IT"/>
          </a:p>
        </p:txBody>
      </p:sp>
      <p:sp>
        <p:nvSpPr>
          <p:cNvPr id="19" name="Text 17"/>
          <p:cNvSpPr txBox="1"/>
          <p:nvPr/>
        </p:nvSpPr>
        <p:spPr>
          <a:xfrm>
            <a:off x="5486400" y="3246120"/>
            <a:ext cx="1335024" cy="731520"/>
          </a:xfrm>
          <a:prstGeom prst="rect">
            <a:avLst/>
          </a:prstGeom>
          <a:noFill/>
          <a:ln/>
        </p:spPr>
        <p:txBody>
          <a:bodyPr wrap="square" lIns="0" tIns="0" rIns="0" bIns="0" rtlCol="0" anchor="ctr"/>
          <a:lstStyle/>
          <a:p>
            <a:pPr marL="0" indent="0" algn="ctr">
              <a:lnSpc>
                <a:spcPct val="105000"/>
              </a:lnSpc>
              <a:buNone/>
            </a:pPr>
            <a:r>
              <a:rPr lang="en-US" sz="1250" b="1" dirty="0">
                <a:solidFill>
                  <a:srgbClr val="BC290A"/>
                </a:solidFill>
                <a:latin typeface="Calibri" pitchFamily="34" charset="0"/>
                <a:ea typeface="Calibri" pitchFamily="34" charset="-122"/>
                <a:cs typeface="Calibri" pitchFamily="34" charset="-120"/>
              </a:rPr>
              <a:t>Qualità</a:t>
            </a:r>
            <a:endParaRPr lang="en-US" sz="1250" dirty="0"/>
          </a:p>
        </p:txBody>
      </p:sp>
      <p:sp>
        <p:nvSpPr>
          <p:cNvPr id="20" name="Shape 18"/>
          <p:cNvSpPr/>
          <p:nvPr/>
        </p:nvSpPr>
        <p:spPr>
          <a:xfrm>
            <a:off x="5687568" y="4041648"/>
            <a:ext cx="932688" cy="0"/>
          </a:xfrm>
          <a:prstGeom prst="line">
            <a:avLst/>
          </a:prstGeom>
          <a:noFill/>
          <a:ln w="9525">
            <a:solidFill>
              <a:srgbClr val="C9C2BA"/>
            </a:solidFill>
            <a:prstDash val="solid"/>
          </a:ln>
        </p:spPr>
        <p:txBody>
          <a:bodyPr/>
          <a:lstStyle/>
          <a:p>
            <a:endParaRPr lang="it-IT"/>
          </a:p>
        </p:txBody>
      </p:sp>
      <p:sp>
        <p:nvSpPr>
          <p:cNvPr id="21" name="Text 19"/>
          <p:cNvSpPr txBox="1"/>
          <p:nvPr/>
        </p:nvSpPr>
        <p:spPr>
          <a:xfrm>
            <a:off x="5486400" y="4160520"/>
            <a:ext cx="1335024" cy="1005840"/>
          </a:xfrm>
          <a:prstGeom prst="rect">
            <a:avLst/>
          </a:prstGeom>
          <a:noFill/>
          <a:ln/>
        </p:spPr>
        <p:txBody>
          <a:bodyPr wrap="square" lIns="0" tIns="0" rIns="0" bIns="0" rtlCol="0" anchor="ctr"/>
          <a:lstStyle/>
          <a:p>
            <a:pPr marL="0" indent="0" algn="ctr">
              <a:lnSpc>
                <a:spcPct val="110000"/>
              </a:lnSpc>
              <a:buNone/>
            </a:pPr>
            <a:r>
              <a:rPr lang="en-US" sz="1100" i="1" dirty="0">
                <a:solidFill>
                  <a:srgbClr val="5B5350"/>
                </a:solidFill>
                <a:latin typeface="Calibri" pitchFamily="34" charset="0"/>
                <a:ea typeface="Calibri" pitchFamily="34" charset="-122"/>
                <a:cs typeface="Calibri" pitchFamily="34" charset="-120"/>
              </a:rPr>
              <a:t>Che cosa?</a:t>
            </a:r>
            <a:endParaRPr lang="en-US" sz="1100" dirty="0"/>
          </a:p>
        </p:txBody>
      </p:sp>
      <p:sp>
        <p:nvSpPr>
          <p:cNvPr id="22" name="Shape 20"/>
          <p:cNvSpPr/>
          <p:nvPr/>
        </p:nvSpPr>
        <p:spPr>
          <a:xfrm>
            <a:off x="7004304" y="3108960"/>
            <a:ext cx="1481328" cy="2148840"/>
          </a:xfrm>
          <a:prstGeom prst="roundRect">
            <a:avLst>
              <a:gd name="adj" fmla="val 5556"/>
            </a:avLst>
          </a:prstGeom>
          <a:solidFill>
            <a:srgbClr val="FAEEEB"/>
          </a:solidFill>
          <a:ln w="9525">
            <a:solidFill>
              <a:srgbClr val="E7E2DD"/>
            </a:solidFill>
            <a:prstDash val="solid"/>
          </a:ln>
          <a:effectLst>
            <a:outerShdw blurRad="76200" dist="25400" dir="5400000" algn="bl" rotWithShape="0">
              <a:srgbClr val="1A1013">
                <a:alpha val="15000"/>
              </a:srgbClr>
            </a:outerShdw>
          </a:effectLst>
        </p:spPr>
        <p:txBody>
          <a:bodyPr/>
          <a:lstStyle/>
          <a:p>
            <a:endParaRPr lang="it-IT"/>
          </a:p>
        </p:txBody>
      </p:sp>
      <p:sp>
        <p:nvSpPr>
          <p:cNvPr id="23" name="Text 21"/>
          <p:cNvSpPr txBox="1"/>
          <p:nvPr/>
        </p:nvSpPr>
        <p:spPr>
          <a:xfrm>
            <a:off x="7077456" y="3246120"/>
            <a:ext cx="1335024" cy="731520"/>
          </a:xfrm>
          <a:prstGeom prst="rect">
            <a:avLst/>
          </a:prstGeom>
          <a:noFill/>
          <a:ln/>
        </p:spPr>
        <p:txBody>
          <a:bodyPr wrap="square" lIns="0" tIns="0" rIns="0" bIns="0" rtlCol="0" anchor="ctr"/>
          <a:lstStyle/>
          <a:p>
            <a:pPr marL="0" indent="0" algn="ctr">
              <a:lnSpc>
                <a:spcPct val="105000"/>
              </a:lnSpc>
              <a:buNone/>
            </a:pPr>
            <a:r>
              <a:rPr lang="en-US" sz="1250" b="1" dirty="0">
                <a:solidFill>
                  <a:srgbClr val="BC290A"/>
                </a:solidFill>
                <a:latin typeface="Calibri" pitchFamily="34" charset="0"/>
                <a:ea typeface="Calibri" pitchFamily="34" charset="-122"/>
                <a:cs typeface="Calibri" pitchFamily="34" charset="-120"/>
              </a:rPr>
              <a:t>Rischio</a:t>
            </a:r>
            <a:endParaRPr lang="en-US" sz="1250" dirty="0"/>
          </a:p>
        </p:txBody>
      </p:sp>
      <p:sp>
        <p:nvSpPr>
          <p:cNvPr id="24" name="Shape 22"/>
          <p:cNvSpPr/>
          <p:nvPr/>
        </p:nvSpPr>
        <p:spPr>
          <a:xfrm>
            <a:off x="7278624" y="4041648"/>
            <a:ext cx="932688" cy="0"/>
          </a:xfrm>
          <a:prstGeom prst="line">
            <a:avLst/>
          </a:prstGeom>
          <a:noFill/>
          <a:ln w="9525">
            <a:solidFill>
              <a:srgbClr val="C9C2BA"/>
            </a:solidFill>
            <a:prstDash val="solid"/>
          </a:ln>
        </p:spPr>
        <p:txBody>
          <a:bodyPr/>
          <a:lstStyle/>
          <a:p>
            <a:endParaRPr lang="it-IT"/>
          </a:p>
        </p:txBody>
      </p:sp>
      <p:sp>
        <p:nvSpPr>
          <p:cNvPr id="25" name="Text 23"/>
          <p:cNvSpPr txBox="1"/>
          <p:nvPr/>
        </p:nvSpPr>
        <p:spPr>
          <a:xfrm>
            <a:off x="7077456" y="4160520"/>
            <a:ext cx="1335024" cy="1005840"/>
          </a:xfrm>
          <a:prstGeom prst="rect">
            <a:avLst/>
          </a:prstGeom>
          <a:noFill/>
          <a:ln/>
        </p:spPr>
        <p:txBody>
          <a:bodyPr wrap="square" lIns="0" tIns="0" rIns="0" bIns="0" rtlCol="0" anchor="ctr"/>
          <a:lstStyle/>
          <a:p>
            <a:pPr marL="0" indent="0" algn="ctr">
              <a:lnSpc>
                <a:spcPct val="110000"/>
              </a:lnSpc>
              <a:buNone/>
            </a:pPr>
            <a:r>
              <a:rPr lang="en-US" sz="1100" i="1" dirty="0">
                <a:solidFill>
                  <a:srgbClr val="5B5350"/>
                </a:solidFill>
                <a:latin typeface="Calibri" pitchFamily="34" charset="0"/>
                <a:ea typeface="Calibri" pitchFamily="34" charset="-122"/>
                <a:cs typeface="Calibri" pitchFamily="34" charset="-120"/>
              </a:rPr>
              <a:t>E se?</a:t>
            </a:r>
            <a:endParaRPr lang="en-US" sz="1100" dirty="0"/>
          </a:p>
        </p:txBody>
      </p:sp>
      <p:sp>
        <p:nvSpPr>
          <p:cNvPr id="26" name="Shape 24"/>
          <p:cNvSpPr/>
          <p:nvPr/>
        </p:nvSpPr>
        <p:spPr>
          <a:xfrm>
            <a:off x="8595360" y="3108960"/>
            <a:ext cx="1481328" cy="2148840"/>
          </a:xfrm>
          <a:prstGeom prst="roundRect">
            <a:avLst>
              <a:gd name="adj" fmla="val 5556"/>
            </a:avLst>
          </a:prstGeom>
          <a:solidFill>
            <a:srgbClr val="FAEEEB"/>
          </a:solidFill>
          <a:ln w="9525">
            <a:solidFill>
              <a:srgbClr val="E7E2DD"/>
            </a:solidFill>
            <a:prstDash val="solid"/>
          </a:ln>
          <a:effectLst>
            <a:outerShdw blurRad="76200" dist="25400" dir="5400000" algn="bl" rotWithShape="0">
              <a:srgbClr val="1A1013">
                <a:alpha val="15000"/>
              </a:srgbClr>
            </a:outerShdw>
          </a:effectLst>
        </p:spPr>
        <p:txBody>
          <a:bodyPr/>
          <a:lstStyle/>
          <a:p>
            <a:endParaRPr lang="it-IT"/>
          </a:p>
        </p:txBody>
      </p:sp>
      <p:sp>
        <p:nvSpPr>
          <p:cNvPr id="27" name="Text 25"/>
          <p:cNvSpPr txBox="1"/>
          <p:nvPr/>
        </p:nvSpPr>
        <p:spPr>
          <a:xfrm>
            <a:off x="8668512" y="3246120"/>
            <a:ext cx="1335024" cy="731520"/>
          </a:xfrm>
          <a:prstGeom prst="rect">
            <a:avLst/>
          </a:prstGeom>
          <a:noFill/>
          <a:ln/>
        </p:spPr>
        <p:txBody>
          <a:bodyPr wrap="square" lIns="0" tIns="0" rIns="0" bIns="0" rtlCol="0" anchor="ctr"/>
          <a:lstStyle/>
          <a:p>
            <a:pPr marL="0" indent="0" algn="ctr">
              <a:lnSpc>
                <a:spcPct val="105000"/>
              </a:lnSpc>
              <a:buNone/>
            </a:pPr>
            <a:r>
              <a:rPr lang="en-US" sz="1250" b="1" dirty="0">
                <a:solidFill>
                  <a:srgbClr val="BC290A"/>
                </a:solidFill>
                <a:latin typeface="Calibri" pitchFamily="34" charset="0"/>
                <a:ea typeface="Calibri" pitchFamily="34" charset="-122"/>
                <a:cs typeface="Calibri" pitchFamily="34" charset="-120"/>
              </a:rPr>
              <a:t>Cambiamenti</a:t>
            </a:r>
            <a:endParaRPr lang="en-US" sz="1250" dirty="0"/>
          </a:p>
        </p:txBody>
      </p:sp>
      <p:sp>
        <p:nvSpPr>
          <p:cNvPr id="28" name="Shape 26"/>
          <p:cNvSpPr/>
          <p:nvPr/>
        </p:nvSpPr>
        <p:spPr>
          <a:xfrm>
            <a:off x="8869680" y="4041648"/>
            <a:ext cx="932688" cy="0"/>
          </a:xfrm>
          <a:prstGeom prst="line">
            <a:avLst/>
          </a:prstGeom>
          <a:noFill/>
          <a:ln w="9525">
            <a:solidFill>
              <a:srgbClr val="C9C2BA"/>
            </a:solidFill>
            <a:prstDash val="solid"/>
          </a:ln>
        </p:spPr>
        <p:txBody>
          <a:bodyPr/>
          <a:lstStyle/>
          <a:p>
            <a:endParaRPr lang="it-IT"/>
          </a:p>
        </p:txBody>
      </p:sp>
      <p:sp>
        <p:nvSpPr>
          <p:cNvPr id="29" name="Text 27"/>
          <p:cNvSpPr txBox="1"/>
          <p:nvPr/>
        </p:nvSpPr>
        <p:spPr>
          <a:xfrm>
            <a:off x="8668512" y="4160520"/>
            <a:ext cx="1335024" cy="1005840"/>
          </a:xfrm>
          <a:prstGeom prst="rect">
            <a:avLst/>
          </a:prstGeom>
          <a:noFill/>
          <a:ln/>
        </p:spPr>
        <p:txBody>
          <a:bodyPr wrap="square" lIns="0" tIns="0" rIns="0" bIns="0" rtlCol="0" anchor="ctr"/>
          <a:lstStyle/>
          <a:p>
            <a:pPr marL="0" indent="0" algn="ctr">
              <a:lnSpc>
                <a:spcPct val="110000"/>
              </a:lnSpc>
              <a:buNone/>
            </a:pPr>
            <a:r>
              <a:rPr lang="en-US" sz="1100" i="1" dirty="0">
                <a:solidFill>
                  <a:srgbClr val="5B5350"/>
                </a:solidFill>
                <a:latin typeface="Calibri" pitchFamily="34" charset="0"/>
                <a:ea typeface="Calibri" pitchFamily="34" charset="-122"/>
                <a:cs typeface="Calibri" pitchFamily="34" charset="-120"/>
              </a:rPr>
              <a:t>E adesso?</a:t>
            </a:r>
            <a:endParaRPr lang="en-US" sz="1100" dirty="0"/>
          </a:p>
        </p:txBody>
      </p:sp>
      <p:sp>
        <p:nvSpPr>
          <p:cNvPr id="30" name="Shape 28"/>
          <p:cNvSpPr/>
          <p:nvPr/>
        </p:nvSpPr>
        <p:spPr>
          <a:xfrm>
            <a:off x="10186416" y="3108960"/>
            <a:ext cx="1481328" cy="2148840"/>
          </a:xfrm>
          <a:prstGeom prst="roundRect">
            <a:avLst>
              <a:gd name="adj" fmla="val 5556"/>
            </a:avLst>
          </a:prstGeom>
          <a:solidFill>
            <a:srgbClr val="FAEEEB"/>
          </a:solidFill>
          <a:ln w="9525">
            <a:solidFill>
              <a:srgbClr val="E7E2DD"/>
            </a:solidFill>
            <a:prstDash val="solid"/>
          </a:ln>
          <a:effectLst>
            <a:outerShdw blurRad="76200" dist="25400" dir="5400000" algn="bl" rotWithShape="0">
              <a:srgbClr val="1A1013">
                <a:alpha val="15000"/>
              </a:srgbClr>
            </a:outerShdw>
          </a:effectLst>
        </p:spPr>
        <p:txBody>
          <a:bodyPr/>
          <a:lstStyle/>
          <a:p>
            <a:endParaRPr lang="it-IT"/>
          </a:p>
        </p:txBody>
      </p:sp>
      <p:sp>
        <p:nvSpPr>
          <p:cNvPr id="31" name="Text 29"/>
          <p:cNvSpPr txBox="1"/>
          <p:nvPr/>
        </p:nvSpPr>
        <p:spPr>
          <a:xfrm>
            <a:off x="10259568" y="3246120"/>
            <a:ext cx="1335024" cy="731520"/>
          </a:xfrm>
          <a:prstGeom prst="rect">
            <a:avLst/>
          </a:prstGeom>
          <a:noFill/>
          <a:ln/>
        </p:spPr>
        <p:txBody>
          <a:bodyPr wrap="square" lIns="0" tIns="0" rIns="0" bIns="0" rtlCol="0" anchor="ctr"/>
          <a:lstStyle/>
          <a:p>
            <a:pPr marL="0" indent="0" algn="ctr">
              <a:lnSpc>
                <a:spcPct val="105000"/>
              </a:lnSpc>
              <a:buNone/>
            </a:pPr>
            <a:r>
              <a:rPr lang="en-US" sz="1250" b="1" dirty="0">
                <a:solidFill>
                  <a:srgbClr val="BC290A"/>
                </a:solidFill>
                <a:latin typeface="Calibri" pitchFamily="34" charset="0"/>
                <a:ea typeface="Calibri" pitchFamily="34" charset="-122"/>
                <a:cs typeface="Calibri" pitchFamily="34" charset="-120"/>
              </a:rPr>
              <a:t>Progresso</a:t>
            </a:r>
            <a:endParaRPr lang="en-US" sz="1250" dirty="0"/>
          </a:p>
        </p:txBody>
      </p:sp>
      <p:sp>
        <p:nvSpPr>
          <p:cNvPr id="32" name="Shape 30"/>
          <p:cNvSpPr/>
          <p:nvPr/>
        </p:nvSpPr>
        <p:spPr>
          <a:xfrm>
            <a:off x="10460736" y="4041648"/>
            <a:ext cx="932688" cy="0"/>
          </a:xfrm>
          <a:prstGeom prst="line">
            <a:avLst/>
          </a:prstGeom>
          <a:noFill/>
          <a:ln w="9525">
            <a:solidFill>
              <a:srgbClr val="C9C2BA"/>
            </a:solidFill>
            <a:prstDash val="solid"/>
          </a:ln>
        </p:spPr>
        <p:txBody>
          <a:bodyPr/>
          <a:lstStyle/>
          <a:p>
            <a:endParaRPr lang="it-IT"/>
          </a:p>
        </p:txBody>
      </p:sp>
      <p:sp>
        <p:nvSpPr>
          <p:cNvPr id="33" name="Text 31"/>
          <p:cNvSpPr txBox="1"/>
          <p:nvPr/>
        </p:nvSpPr>
        <p:spPr>
          <a:xfrm>
            <a:off x="10259568" y="4160520"/>
            <a:ext cx="1335024" cy="1005840"/>
          </a:xfrm>
          <a:prstGeom prst="rect">
            <a:avLst/>
          </a:prstGeom>
          <a:noFill/>
          <a:ln/>
        </p:spPr>
        <p:txBody>
          <a:bodyPr wrap="square" lIns="0" tIns="0" rIns="0" bIns="0" rtlCol="0" anchor="ctr"/>
          <a:lstStyle/>
          <a:p>
            <a:pPr marL="0" indent="0" algn="ctr">
              <a:lnSpc>
                <a:spcPct val="110000"/>
              </a:lnSpc>
              <a:buNone/>
            </a:pPr>
            <a:r>
              <a:rPr lang="en-US" sz="1100" i="1" dirty="0">
                <a:solidFill>
                  <a:srgbClr val="5B5350"/>
                </a:solidFill>
                <a:latin typeface="Calibri" pitchFamily="34" charset="0"/>
                <a:ea typeface="Calibri" pitchFamily="34" charset="-122"/>
                <a:cs typeface="Calibri" pitchFamily="34" charset="-120"/>
              </a:rPr>
              <a:t>A che punto siamo?</a:t>
            </a:r>
            <a:endParaRPr lang="en-US" sz="1100" dirty="0"/>
          </a:p>
        </p:txBody>
      </p:sp>
      <p:sp>
        <p:nvSpPr>
          <p:cNvPr id="34" name="Text 32"/>
          <p:cNvSpPr txBox="1"/>
          <p:nvPr/>
        </p:nvSpPr>
        <p:spPr>
          <a:xfrm>
            <a:off x="548640" y="6473952"/>
            <a:ext cx="7315200" cy="274320"/>
          </a:xfrm>
          <a:prstGeom prst="rect">
            <a:avLst/>
          </a:prstGeom>
          <a:noFill/>
          <a:ln/>
        </p:spPr>
        <p:txBody>
          <a:bodyPr wrap="square" lIns="0" tIns="0" rIns="0" bIns="0" rtlCol="0" anchor="ctr"/>
          <a:lstStyle/>
          <a:p>
            <a:pPr marL="0" indent="0">
              <a:buNone/>
            </a:pPr>
            <a:r>
              <a:rPr lang="en-US" sz="900" kern="0" spc="120" dirty="0">
                <a:solidFill>
                  <a:srgbClr val="7A756F"/>
                </a:solidFill>
                <a:latin typeface="Calibri" pitchFamily="34" charset="0"/>
                <a:ea typeface="Calibri" pitchFamily="34" charset="-122"/>
                <a:cs typeface="Calibri" pitchFamily="34" charset="-120"/>
              </a:rPr>
              <a:t>APPROCCI TRADIZIONALI</a:t>
            </a:r>
            <a:endParaRPr lang="en-US" sz="900" dirty="0"/>
          </a:p>
        </p:txBody>
      </p:sp>
      <p:sp>
        <p:nvSpPr>
          <p:cNvPr id="35" name="Text 33"/>
          <p:cNvSpPr txBox="1"/>
          <p:nvPr/>
        </p:nvSpPr>
        <p:spPr>
          <a:xfrm>
            <a:off x="11277295" y="6473952"/>
            <a:ext cx="457200" cy="274320"/>
          </a:xfrm>
          <a:prstGeom prst="rect">
            <a:avLst/>
          </a:prstGeom>
          <a:noFill/>
          <a:ln/>
        </p:spPr>
        <p:txBody>
          <a:bodyPr wrap="square" lIns="0" tIns="0" rIns="0" bIns="0" rtlCol="0" anchor="ctr"/>
          <a:lstStyle/>
          <a:p>
            <a:pPr marL="0" indent="0" algn="r">
              <a:buNone/>
            </a:pPr>
            <a:r>
              <a:rPr lang="en-US" sz="900" dirty="0">
                <a:solidFill>
                  <a:srgbClr val="BC290A"/>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457200"/>
            <a:ext cx="10515600" cy="320040"/>
          </a:xfrm>
          <a:prstGeom prst="rect">
            <a:avLst/>
          </a:prstGeom>
          <a:noFill/>
          <a:ln/>
        </p:spPr>
        <p:txBody>
          <a:bodyPr wrap="square" lIns="0" tIns="0" rIns="0" bIns="0" rtlCol="0" anchor="ctr"/>
          <a:lstStyle/>
          <a:p>
            <a:pPr marL="0" indent="0">
              <a:buNone/>
            </a:pPr>
            <a:r>
              <a:rPr lang="en-US" sz="1300" b="1" kern="0" spc="150" dirty="0">
                <a:solidFill>
                  <a:srgbClr val="7A756F"/>
                </a:solidFill>
                <a:latin typeface="Calibri" pitchFamily="34" charset="0"/>
                <a:ea typeface="Calibri" pitchFamily="34" charset="-122"/>
                <a:cs typeface="Calibri" pitchFamily="34" charset="-120"/>
              </a:rPr>
              <a:t>CAPITOLO 1 · APPROCCI TRADIZIONALI</a:t>
            </a:r>
            <a:endParaRPr lang="en-US" sz="1300" dirty="0"/>
          </a:p>
        </p:txBody>
      </p:sp>
      <p:sp>
        <p:nvSpPr>
          <p:cNvPr id="3" name="Text 1"/>
          <p:cNvSpPr txBox="1"/>
          <p:nvPr/>
        </p:nvSpPr>
        <p:spPr>
          <a:xfrm>
            <a:off x="548640" y="749808"/>
            <a:ext cx="11064240" cy="868680"/>
          </a:xfrm>
          <a:prstGeom prst="rect">
            <a:avLst/>
          </a:prstGeom>
          <a:noFill/>
          <a:ln/>
        </p:spPr>
        <p:txBody>
          <a:bodyPr wrap="square" lIns="0" tIns="0" rIns="0" bIns="0" rtlCol="0" anchor="t"/>
          <a:lstStyle/>
          <a:p>
            <a:pPr marL="0" indent="0">
              <a:lnSpc>
                <a:spcPct val="102000"/>
              </a:lnSpc>
              <a:buNone/>
            </a:pPr>
            <a:r>
              <a:rPr lang="en-US" sz="3000" b="1" dirty="0">
                <a:solidFill>
                  <a:srgbClr val="BC290A"/>
                </a:solidFill>
                <a:latin typeface="Cambria" pitchFamily="34" charset="0"/>
                <a:ea typeface="Cambria" pitchFamily="34" charset="-122"/>
                <a:cs typeface="Cambria" pitchFamily="34" charset="-120"/>
              </a:rPr>
              <a:t>PRINCE2: organizzazione e ciclo di vita</a:t>
            </a:r>
            <a:endParaRPr lang="en-US" sz="3000" dirty="0"/>
          </a:p>
        </p:txBody>
      </p:sp>
      <p:sp>
        <p:nvSpPr>
          <p:cNvPr id="4" name="Shape 2"/>
          <p:cNvSpPr/>
          <p:nvPr/>
        </p:nvSpPr>
        <p:spPr>
          <a:xfrm>
            <a:off x="1508760" y="2103120"/>
            <a:ext cx="2834640" cy="594360"/>
          </a:xfrm>
          <a:prstGeom prst="roundRect">
            <a:avLst>
              <a:gd name="adj" fmla="val 13846"/>
            </a:avLst>
          </a:prstGeom>
          <a:solidFill>
            <a:srgbClr val="BC290A"/>
          </a:solidFill>
          <a:ln/>
        </p:spPr>
        <p:txBody>
          <a:bodyPr/>
          <a:lstStyle/>
          <a:p>
            <a:endParaRPr lang="it-IT"/>
          </a:p>
        </p:txBody>
      </p:sp>
      <p:sp>
        <p:nvSpPr>
          <p:cNvPr id="5" name="Text 3"/>
          <p:cNvSpPr txBox="1"/>
          <p:nvPr/>
        </p:nvSpPr>
        <p:spPr>
          <a:xfrm>
            <a:off x="1508760" y="2103120"/>
            <a:ext cx="2834640" cy="5943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Project Board</a:t>
            </a:r>
            <a:endParaRPr lang="en-US" sz="1300" dirty="0"/>
          </a:p>
        </p:txBody>
      </p:sp>
      <p:sp>
        <p:nvSpPr>
          <p:cNvPr id="6" name="Text 4"/>
          <p:cNvSpPr txBox="1"/>
          <p:nvPr/>
        </p:nvSpPr>
        <p:spPr>
          <a:xfrm>
            <a:off x="1325880" y="2724912"/>
            <a:ext cx="3200400" cy="274320"/>
          </a:xfrm>
          <a:prstGeom prst="rect">
            <a:avLst/>
          </a:prstGeom>
          <a:noFill/>
          <a:ln/>
        </p:spPr>
        <p:txBody>
          <a:bodyPr wrap="square" lIns="0" tIns="0" rIns="0" bIns="0" rtlCol="0" anchor="ctr"/>
          <a:lstStyle/>
          <a:p>
            <a:pPr marL="0" indent="0" algn="ctr">
              <a:buNone/>
            </a:pPr>
            <a:r>
              <a:rPr lang="en-US" sz="950" i="1" dirty="0">
                <a:solidFill>
                  <a:srgbClr val="5B5350"/>
                </a:solidFill>
                <a:latin typeface="Calibri" pitchFamily="34" charset="0"/>
                <a:ea typeface="Calibri" pitchFamily="34" charset="-122"/>
                <a:cs typeface="Calibri" pitchFamily="34" charset="-120"/>
              </a:rPr>
              <a:t>Executive · Senior User · Senior Supplier</a:t>
            </a:r>
            <a:endParaRPr lang="en-US" sz="950" dirty="0"/>
          </a:p>
        </p:txBody>
      </p:sp>
      <p:sp>
        <p:nvSpPr>
          <p:cNvPr id="7" name="Shape 5"/>
          <p:cNvSpPr/>
          <p:nvPr/>
        </p:nvSpPr>
        <p:spPr>
          <a:xfrm>
            <a:off x="2926080" y="3017520"/>
            <a:ext cx="0" cy="320040"/>
          </a:xfrm>
          <a:prstGeom prst="line">
            <a:avLst/>
          </a:prstGeom>
          <a:noFill/>
          <a:ln w="19050">
            <a:solidFill>
              <a:srgbClr val="C9C2BA"/>
            </a:solidFill>
            <a:prstDash val="solid"/>
          </a:ln>
        </p:spPr>
        <p:txBody>
          <a:bodyPr/>
          <a:lstStyle/>
          <a:p>
            <a:endParaRPr lang="it-IT"/>
          </a:p>
        </p:txBody>
      </p:sp>
      <p:sp>
        <p:nvSpPr>
          <p:cNvPr id="8" name="Shape 6"/>
          <p:cNvSpPr/>
          <p:nvPr/>
        </p:nvSpPr>
        <p:spPr>
          <a:xfrm>
            <a:off x="1737360" y="3337560"/>
            <a:ext cx="2377440" cy="548640"/>
          </a:xfrm>
          <a:prstGeom prst="roundRect">
            <a:avLst>
              <a:gd name="adj" fmla="val 15000"/>
            </a:avLst>
          </a:prstGeom>
          <a:solidFill>
            <a:srgbClr val="FAEEEB"/>
          </a:solidFill>
          <a:ln w="9525">
            <a:solidFill>
              <a:srgbClr val="E7E2DD"/>
            </a:solidFill>
            <a:prstDash val="solid"/>
          </a:ln>
        </p:spPr>
        <p:txBody>
          <a:bodyPr/>
          <a:lstStyle/>
          <a:p>
            <a:endParaRPr lang="it-IT"/>
          </a:p>
        </p:txBody>
      </p:sp>
      <p:sp>
        <p:nvSpPr>
          <p:cNvPr id="9" name="Text 7"/>
          <p:cNvSpPr txBox="1"/>
          <p:nvPr/>
        </p:nvSpPr>
        <p:spPr>
          <a:xfrm>
            <a:off x="1737360" y="3337560"/>
            <a:ext cx="2377440" cy="548640"/>
          </a:xfrm>
          <a:prstGeom prst="rect">
            <a:avLst/>
          </a:prstGeom>
          <a:noFill/>
          <a:ln/>
        </p:spPr>
        <p:txBody>
          <a:bodyPr wrap="square" lIns="0" tIns="0" rIns="0" bIns="0" rtlCol="0" anchor="ctr"/>
          <a:lstStyle/>
          <a:p>
            <a:pPr marL="0" indent="0" algn="ctr">
              <a:buNone/>
            </a:pPr>
            <a:r>
              <a:rPr lang="en-US" sz="1250" b="1" dirty="0">
                <a:solidFill>
                  <a:srgbClr val="BC290A"/>
                </a:solidFill>
                <a:latin typeface="Calibri" pitchFamily="34" charset="0"/>
                <a:ea typeface="Calibri" pitchFamily="34" charset="-122"/>
                <a:cs typeface="Calibri" pitchFamily="34" charset="-120"/>
              </a:rPr>
              <a:t>Project Manager</a:t>
            </a:r>
            <a:endParaRPr lang="en-US" sz="1250" dirty="0"/>
          </a:p>
        </p:txBody>
      </p:sp>
      <p:sp>
        <p:nvSpPr>
          <p:cNvPr id="10" name="Shape 8"/>
          <p:cNvSpPr/>
          <p:nvPr/>
        </p:nvSpPr>
        <p:spPr>
          <a:xfrm>
            <a:off x="2926080" y="3886200"/>
            <a:ext cx="0" cy="274320"/>
          </a:xfrm>
          <a:prstGeom prst="line">
            <a:avLst/>
          </a:prstGeom>
          <a:noFill/>
          <a:ln w="19050">
            <a:solidFill>
              <a:srgbClr val="C9C2BA"/>
            </a:solidFill>
            <a:prstDash val="solid"/>
          </a:ln>
        </p:spPr>
        <p:txBody>
          <a:bodyPr/>
          <a:lstStyle/>
          <a:p>
            <a:endParaRPr lang="it-IT"/>
          </a:p>
        </p:txBody>
      </p:sp>
      <p:sp>
        <p:nvSpPr>
          <p:cNvPr id="11" name="Shape 9"/>
          <p:cNvSpPr/>
          <p:nvPr/>
        </p:nvSpPr>
        <p:spPr>
          <a:xfrm>
            <a:off x="1508760" y="4160520"/>
            <a:ext cx="2834640" cy="502920"/>
          </a:xfrm>
          <a:prstGeom prst="roundRect">
            <a:avLst>
              <a:gd name="adj" fmla="val 16364"/>
            </a:avLst>
          </a:prstGeom>
          <a:solidFill>
            <a:srgbClr val="FAEEEB"/>
          </a:solidFill>
          <a:ln w="9525">
            <a:solidFill>
              <a:srgbClr val="E7E2DD"/>
            </a:solidFill>
            <a:prstDash val="solid"/>
          </a:ln>
        </p:spPr>
        <p:txBody>
          <a:bodyPr/>
          <a:lstStyle/>
          <a:p>
            <a:endParaRPr lang="it-IT"/>
          </a:p>
        </p:txBody>
      </p:sp>
      <p:sp>
        <p:nvSpPr>
          <p:cNvPr id="12" name="Text 10"/>
          <p:cNvSpPr txBox="1"/>
          <p:nvPr/>
        </p:nvSpPr>
        <p:spPr>
          <a:xfrm>
            <a:off x="1508760" y="4160520"/>
            <a:ext cx="2834640" cy="502920"/>
          </a:xfrm>
          <a:prstGeom prst="rect">
            <a:avLst/>
          </a:prstGeom>
          <a:noFill/>
          <a:ln/>
        </p:spPr>
        <p:txBody>
          <a:bodyPr wrap="square" lIns="0" tIns="0" rIns="0" bIns="0" rtlCol="0" anchor="ctr"/>
          <a:lstStyle/>
          <a:p>
            <a:pPr marL="0" indent="0" algn="ctr">
              <a:buNone/>
            </a:pPr>
            <a:r>
              <a:rPr lang="en-US" sz="1150" dirty="0">
                <a:solidFill>
                  <a:srgbClr val="BC290A"/>
                </a:solidFill>
                <a:latin typeface="Calibri" pitchFamily="34" charset="0"/>
                <a:ea typeface="Calibri" pitchFamily="34" charset="-122"/>
                <a:cs typeface="Calibri" pitchFamily="34" charset="-120"/>
              </a:rPr>
              <a:t>Team Manager · Membri del team</a:t>
            </a:r>
            <a:endParaRPr lang="en-US" sz="1150" dirty="0"/>
          </a:p>
        </p:txBody>
      </p:sp>
      <p:sp>
        <p:nvSpPr>
          <p:cNvPr id="13" name="Shape 11"/>
          <p:cNvSpPr/>
          <p:nvPr/>
        </p:nvSpPr>
        <p:spPr>
          <a:xfrm>
            <a:off x="6263640" y="2103120"/>
            <a:ext cx="5257800" cy="3291840"/>
          </a:xfrm>
          <a:prstGeom prst="roundRect">
            <a:avLst>
              <a:gd name="adj" fmla="val 2500"/>
            </a:avLst>
          </a:prstGeom>
          <a:solidFill>
            <a:srgbClr val="FAEEEB"/>
          </a:solidFill>
          <a:ln w="9525">
            <a:solidFill>
              <a:srgbClr val="E7E2DD"/>
            </a:solidFill>
            <a:prstDash val="solid"/>
          </a:ln>
          <a:effectLst>
            <a:outerShdw blurRad="76200" dist="25400" dir="5400000" algn="bl" rotWithShape="0">
              <a:srgbClr val="1A1013">
                <a:alpha val="15000"/>
              </a:srgbClr>
            </a:outerShdw>
          </a:effectLst>
        </p:spPr>
        <p:txBody>
          <a:bodyPr/>
          <a:lstStyle/>
          <a:p>
            <a:endParaRPr lang="it-IT"/>
          </a:p>
        </p:txBody>
      </p:sp>
      <p:sp>
        <p:nvSpPr>
          <p:cNvPr id="14" name="Shape 12"/>
          <p:cNvSpPr/>
          <p:nvPr/>
        </p:nvSpPr>
        <p:spPr>
          <a:xfrm>
            <a:off x="6537960" y="2395728"/>
            <a:ext cx="420624" cy="420624"/>
          </a:xfrm>
          <a:prstGeom prst="ellipse">
            <a:avLst/>
          </a:prstGeom>
          <a:solidFill>
            <a:srgbClr val="BC290A"/>
          </a:solidFill>
          <a:ln/>
        </p:spPr>
        <p:txBody>
          <a:bodyPr/>
          <a:lstStyle/>
          <a:p>
            <a:endParaRPr lang="it-IT"/>
          </a:p>
        </p:txBody>
      </p:sp>
      <p:sp>
        <p:nvSpPr>
          <p:cNvPr id="15" name="Text 13"/>
          <p:cNvSpPr txBox="1"/>
          <p:nvPr/>
        </p:nvSpPr>
        <p:spPr>
          <a:xfrm>
            <a:off x="6537960" y="2395728"/>
            <a:ext cx="420624" cy="420624"/>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6" name="Text 14"/>
          <p:cNvSpPr txBox="1"/>
          <p:nvPr/>
        </p:nvSpPr>
        <p:spPr>
          <a:xfrm>
            <a:off x="7159752" y="2340864"/>
            <a:ext cx="4087368" cy="530352"/>
          </a:xfrm>
          <a:prstGeom prst="rect">
            <a:avLst/>
          </a:prstGeom>
          <a:noFill/>
          <a:ln/>
        </p:spPr>
        <p:txBody>
          <a:bodyPr wrap="square" lIns="0" tIns="0" rIns="0" bIns="0" rtlCol="0" anchor="ctr"/>
          <a:lstStyle/>
          <a:p>
            <a:pPr marL="0" indent="0">
              <a:lnSpc>
                <a:spcPct val="105000"/>
              </a:lnSpc>
              <a:buNone/>
            </a:pPr>
            <a:r>
              <a:rPr lang="en-US" sz="1300" dirty="0">
                <a:solidFill>
                  <a:srgbClr val="2C2624"/>
                </a:solidFill>
                <a:latin typeface="Calibri" pitchFamily="34" charset="0"/>
                <a:ea typeface="Calibri" pitchFamily="34" charset="-122"/>
                <a:cs typeface="Calibri" pitchFamily="34" charset="-120"/>
              </a:rPr>
              <a:t>7 processi coprono l'intero ciclo di vita, dall'avvio alla chiusura</a:t>
            </a:r>
            <a:endParaRPr lang="en-US" sz="1300" dirty="0"/>
          </a:p>
        </p:txBody>
      </p:sp>
      <p:sp>
        <p:nvSpPr>
          <p:cNvPr id="17" name="Shape 15"/>
          <p:cNvSpPr/>
          <p:nvPr/>
        </p:nvSpPr>
        <p:spPr>
          <a:xfrm>
            <a:off x="6537960" y="3154680"/>
            <a:ext cx="420624" cy="420624"/>
          </a:xfrm>
          <a:prstGeom prst="ellipse">
            <a:avLst/>
          </a:prstGeom>
          <a:solidFill>
            <a:srgbClr val="BC290A"/>
          </a:solidFill>
          <a:ln/>
        </p:spPr>
        <p:txBody>
          <a:bodyPr/>
          <a:lstStyle/>
          <a:p>
            <a:endParaRPr lang="it-IT"/>
          </a:p>
        </p:txBody>
      </p:sp>
      <p:sp>
        <p:nvSpPr>
          <p:cNvPr id="18" name="Text 16"/>
          <p:cNvSpPr txBox="1"/>
          <p:nvPr/>
        </p:nvSpPr>
        <p:spPr>
          <a:xfrm>
            <a:off x="6537960" y="3154680"/>
            <a:ext cx="420624" cy="420624"/>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9" name="Text 17"/>
          <p:cNvSpPr txBox="1"/>
          <p:nvPr/>
        </p:nvSpPr>
        <p:spPr>
          <a:xfrm>
            <a:off x="7159752" y="3099816"/>
            <a:ext cx="4087368" cy="530352"/>
          </a:xfrm>
          <a:prstGeom prst="rect">
            <a:avLst/>
          </a:prstGeom>
          <a:noFill/>
          <a:ln/>
        </p:spPr>
        <p:txBody>
          <a:bodyPr wrap="square" lIns="0" tIns="0" rIns="0" bIns="0" rtlCol="0" anchor="ctr"/>
          <a:lstStyle/>
          <a:p>
            <a:pPr marL="0" indent="0">
              <a:lnSpc>
                <a:spcPct val="105000"/>
              </a:lnSpc>
              <a:buNone/>
            </a:pPr>
            <a:r>
              <a:rPr lang="en-US" sz="1300" dirty="0">
                <a:solidFill>
                  <a:srgbClr val="2C2624"/>
                </a:solidFill>
                <a:latin typeface="Calibri" pitchFamily="34" charset="0"/>
                <a:ea typeface="Calibri" pitchFamily="34" charset="-122"/>
                <a:cs typeface="Calibri" pitchFamily="34" charset="-120"/>
              </a:rPr>
              <a:t>Gestione per fasi: pianificazione, monitoraggio e controllo fase per fase</a:t>
            </a:r>
            <a:endParaRPr lang="en-US" sz="1300" dirty="0"/>
          </a:p>
        </p:txBody>
      </p:sp>
      <p:sp>
        <p:nvSpPr>
          <p:cNvPr id="20" name="Shape 18"/>
          <p:cNvSpPr/>
          <p:nvPr/>
        </p:nvSpPr>
        <p:spPr>
          <a:xfrm>
            <a:off x="6537960" y="3913632"/>
            <a:ext cx="420624" cy="420624"/>
          </a:xfrm>
          <a:prstGeom prst="ellipse">
            <a:avLst/>
          </a:prstGeom>
          <a:solidFill>
            <a:srgbClr val="BC290A"/>
          </a:solidFill>
          <a:ln/>
        </p:spPr>
        <p:txBody>
          <a:bodyPr/>
          <a:lstStyle/>
          <a:p>
            <a:endParaRPr lang="it-IT"/>
          </a:p>
        </p:txBody>
      </p:sp>
      <p:sp>
        <p:nvSpPr>
          <p:cNvPr id="21" name="Text 19"/>
          <p:cNvSpPr txBox="1"/>
          <p:nvPr/>
        </p:nvSpPr>
        <p:spPr>
          <a:xfrm>
            <a:off x="6537960" y="3913632"/>
            <a:ext cx="420624" cy="420624"/>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2" name="Text 20"/>
          <p:cNvSpPr txBox="1"/>
          <p:nvPr/>
        </p:nvSpPr>
        <p:spPr>
          <a:xfrm>
            <a:off x="7159752" y="3858768"/>
            <a:ext cx="4087368" cy="530352"/>
          </a:xfrm>
          <a:prstGeom prst="rect">
            <a:avLst/>
          </a:prstGeom>
          <a:noFill/>
          <a:ln/>
        </p:spPr>
        <p:txBody>
          <a:bodyPr wrap="square" lIns="0" tIns="0" rIns="0" bIns="0" rtlCol="0" anchor="ctr"/>
          <a:lstStyle/>
          <a:p>
            <a:pPr marL="0" indent="0">
              <a:lnSpc>
                <a:spcPct val="105000"/>
              </a:lnSpc>
              <a:buNone/>
            </a:pPr>
            <a:r>
              <a:rPr lang="en-US" sz="1300" dirty="0">
                <a:solidFill>
                  <a:srgbClr val="2C2624"/>
                </a:solidFill>
                <a:latin typeface="Calibri" pitchFamily="34" charset="0"/>
                <a:ea typeface="Calibri" pitchFamily="34" charset="-122"/>
                <a:cs typeface="Calibri" pitchFamily="34" charset="-120"/>
              </a:rPr>
              <a:t>Gestione per eccezione: si risale di livello solo se si superano le tolleranze</a:t>
            </a:r>
            <a:endParaRPr lang="en-US" sz="1300" dirty="0"/>
          </a:p>
        </p:txBody>
      </p:sp>
      <p:sp>
        <p:nvSpPr>
          <p:cNvPr id="23" name="Shape 21"/>
          <p:cNvSpPr/>
          <p:nvPr/>
        </p:nvSpPr>
        <p:spPr>
          <a:xfrm>
            <a:off x="6537960" y="4672584"/>
            <a:ext cx="420624" cy="420624"/>
          </a:xfrm>
          <a:prstGeom prst="ellipse">
            <a:avLst/>
          </a:prstGeom>
          <a:solidFill>
            <a:srgbClr val="BC290A"/>
          </a:solidFill>
          <a:ln/>
        </p:spPr>
        <p:txBody>
          <a:bodyPr/>
          <a:lstStyle/>
          <a:p>
            <a:endParaRPr lang="it-IT"/>
          </a:p>
        </p:txBody>
      </p:sp>
      <p:sp>
        <p:nvSpPr>
          <p:cNvPr id="24" name="Text 22"/>
          <p:cNvSpPr txBox="1"/>
          <p:nvPr/>
        </p:nvSpPr>
        <p:spPr>
          <a:xfrm>
            <a:off x="6537960" y="4672584"/>
            <a:ext cx="420624" cy="420624"/>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5" name="Text 23"/>
          <p:cNvSpPr txBox="1"/>
          <p:nvPr/>
        </p:nvSpPr>
        <p:spPr>
          <a:xfrm>
            <a:off x="7159752" y="4617720"/>
            <a:ext cx="4087368" cy="530352"/>
          </a:xfrm>
          <a:prstGeom prst="rect">
            <a:avLst/>
          </a:prstGeom>
          <a:noFill/>
          <a:ln/>
        </p:spPr>
        <p:txBody>
          <a:bodyPr wrap="square" lIns="0" tIns="0" rIns="0" bIns="0" rtlCol="0" anchor="ctr"/>
          <a:lstStyle/>
          <a:p>
            <a:pPr marL="0" indent="0">
              <a:lnSpc>
                <a:spcPct val="105000"/>
              </a:lnSpc>
              <a:buNone/>
            </a:pPr>
            <a:r>
              <a:rPr lang="en-US" sz="1300" dirty="0">
                <a:solidFill>
                  <a:srgbClr val="2C2624"/>
                </a:solidFill>
                <a:latin typeface="Calibri" pitchFamily="34" charset="0"/>
                <a:ea typeface="Calibri" pitchFamily="34" charset="-122"/>
                <a:cs typeface="Calibri" pitchFamily="34" charset="-120"/>
              </a:rPr>
              <a:t>Tailoring “intransigente”: adatta il metodo, mai i 7 principi</a:t>
            </a:r>
            <a:endParaRPr lang="en-US" sz="1300" dirty="0"/>
          </a:p>
        </p:txBody>
      </p:sp>
      <p:sp>
        <p:nvSpPr>
          <p:cNvPr id="26" name="Text 24"/>
          <p:cNvSpPr txBox="1"/>
          <p:nvPr/>
        </p:nvSpPr>
        <p:spPr>
          <a:xfrm>
            <a:off x="548640" y="6473952"/>
            <a:ext cx="7315200" cy="274320"/>
          </a:xfrm>
          <a:prstGeom prst="rect">
            <a:avLst/>
          </a:prstGeom>
          <a:noFill/>
          <a:ln/>
        </p:spPr>
        <p:txBody>
          <a:bodyPr wrap="square" lIns="0" tIns="0" rIns="0" bIns="0" rtlCol="0" anchor="ctr"/>
          <a:lstStyle/>
          <a:p>
            <a:pPr marL="0" indent="0">
              <a:buNone/>
            </a:pPr>
            <a:r>
              <a:rPr lang="en-US" sz="900" kern="0" spc="120" dirty="0">
                <a:solidFill>
                  <a:srgbClr val="7A756F"/>
                </a:solidFill>
                <a:latin typeface="Calibri" pitchFamily="34" charset="0"/>
                <a:ea typeface="Calibri" pitchFamily="34" charset="-122"/>
                <a:cs typeface="Calibri" pitchFamily="34" charset="-120"/>
              </a:rPr>
              <a:t>APPROCCI TRADIZIONALI</a:t>
            </a:r>
            <a:endParaRPr lang="en-US" sz="900" dirty="0"/>
          </a:p>
        </p:txBody>
      </p:sp>
      <p:sp>
        <p:nvSpPr>
          <p:cNvPr id="27" name="Text 25"/>
          <p:cNvSpPr txBox="1"/>
          <p:nvPr/>
        </p:nvSpPr>
        <p:spPr>
          <a:xfrm>
            <a:off x="11277295" y="6473952"/>
            <a:ext cx="457200" cy="274320"/>
          </a:xfrm>
          <a:prstGeom prst="rect">
            <a:avLst/>
          </a:prstGeom>
          <a:noFill/>
          <a:ln/>
        </p:spPr>
        <p:txBody>
          <a:bodyPr wrap="square" lIns="0" tIns="0" rIns="0" bIns="0" rtlCol="0" anchor="ctr"/>
          <a:lstStyle/>
          <a:p>
            <a:pPr marL="0" indent="0" algn="r">
              <a:buNone/>
            </a:pPr>
            <a:r>
              <a:rPr lang="en-US" sz="900" dirty="0">
                <a:solidFill>
                  <a:srgbClr val="BC290A"/>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457200"/>
            <a:ext cx="10515600" cy="320040"/>
          </a:xfrm>
          <a:prstGeom prst="rect">
            <a:avLst/>
          </a:prstGeom>
          <a:noFill/>
          <a:ln/>
        </p:spPr>
        <p:txBody>
          <a:bodyPr wrap="square" lIns="0" tIns="0" rIns="0" bIns="0" rtlCol="0" anchor="ctr"/>
          <a:lstStyle/>
          <a:p>
            <a:pPr marL="0" indent="0">
              <a:buNone/>
            </a:pPr>
            <a:r>
              <a:rPr lang="en-US" sz="1300" b="1" kern="0" spc="150" dirty="0">
                <a:solidFill>
                  <a:srgbClr val="7A756F"/>
                </a:solidFill>
                <a:latin typeface="Calibri" pitchFamily="34" charset="0"/>
                <a:ea typeface="Calibri" pitchFamily="34" charset="-122"/>
                <a:cs typeface="Calibri" pitchFamily="34" charset="-120"/>
              </a:rPr>
              <a:t>CAPITOLO 1 · APPROCCI TRADIZIONALI</a:t>
            </a:r>
            <a:endParaRPr lang="en-US" sz="1300" dirty="0"/>
          </a:p>
        </p:txBody>
      </p:sp>
      <p:sp>
        <p:nvSpPr>
          <p:cNvPr id="3" name="Text 1"/>
          <p:cNvSpPr txBox="1"/>
          <p:nvPr/>
        </p:nvSpPr>
        <p:spPr>
          <a:xfrm>
            <a:off x="548640" y="749808"/>
            <a:ext cx="11064240" cy="868680"/>
          </a:xfrm>
          <a:prstGeom prst="rect">
            <a:avLst/>
          </a:prstGeom>
          <a:noFill/>
          <a:ln/>
        </p:spPr>
        <p:txBody>
          <a:bodyPr wrap="square" lIns="0" tIns="0" rIns="0" bIns="0" rtlCol="0" anchor="t"/>
          <a:lstStyle/>
          <a:p>
            <a:pPr marL="0" indent="0">
              <a:lnSpc>
                <a:spcPct val="102000"/>
              </a:lnSpc>
              <a:buNone/>
            </a:pPr>
            <a:r>
              <a:rPr lang="en-US" sz="3000" b="1" dirty="0">
                <a:solidFill>
                  <a:srgbClr val="BC290A"/>
                </a:solidFill>
                <a:latin typeface="Cambria" pitchFamily="34" charset="0"/>
                <a:ea typeface="Cambria" pitchFamily="34" charset="-122"/>
                <a:cs typeface="Cambria" pitchFamily="34" charset="-120"/>
              </a:rPr>
              <a:t>PMBOK vs PRINCE2</a:t>
            </a:r>
            <a:endParaRPr lang="en-US" sz="3000" dirty="0"/>
          </a:p>
        </p:txBody>
      </p:sp>
      <p:sp>
        <p:nvSpPr>
          <p:cNvPr id="4" name="Shape 2"/>
          <p:cNvSpPr/>
          <p:nvPr/>
        </p:nvSpPr>
        <p:spPr>
          <a:xfrm>
            <a:off x="640080" y="2057400"/>
            <a:ext cx="5212080" cy="502920"/>
          </a:xfrm>
          <a:prstGeom prst="roundRect">
            <a:avLst>
              <a:gd name="adj" fmla="val 16364"/>
            </a:avLst>
          </a:prstGeom>
          <a:solidFill>
            <a:srgbClr val="BC290A"/>
          </a:solidFill>
          <a:ln/>
        </p:spPr>
        <p:txBody>
          <a:bodyPr/>
          <a:lstStyle/>
          <a:p>
            <a:endParaRPr lang="it-IT"/>
          </a:p>
        </p:txBody>
      </p:sp>
      <p:sp>
        <p:nvSpPr>
          <p:cNvPr id="5" name="Text 3"/>
          <p:cNvSpPr txBox="1"/>
          <p:nvPr/>
        </p:nvSpPr>
        <p:spPr>
          <a:xfrm>
            <a:off x="640080" y="2057400"/>
            <a:ext cx="5212080" cy="502920"/>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PMBOK 8</a:t>
            </a:r>
            <a:endParaRPr lang="en-US" sz="1600" dirty="0"/>
          </a:p>
        </p:txBody>
      </p:sp>
      <p:sp>
        <p:nvSpPr>
          <p:cNvPr id="6" name="Shape 4"/>
          <p:cNvSpPr/>
          <p:nvPr/>
        </p:nvSpPr>
        <p:spPr>
          <a:xfrm>
            <a:off x="6355080" y="2057400"/>
            <a:ext cx="5212080" cy="502920"/>
          </a:xfrm>
          <a:prstGeom prst="roundRect">
            <a:avLst>
              <a:gd name="adj" fmla="val 16364"/>
            </a:avLst>
          </a:prstGeom>
          <a:solidFill>
            <a:srgbClr val="BC290A"/>
          </a:solidFill>
          <a:ln/>
        </p:spPr>
        <p:txBody>
          <a:bodyPr/>
          <a:lstStyle/>
          <a:p>
            <a:endParaRPr lang="it-IT"/>
          </a:p>
        </p:txBody>
      </p:sp>
      <p:sp>
        <p:nvSpPr>
          <p:cNvPr id="7" name="Text 5"/>
          <p:cNvSpPr txBox="1"/>
          <p:nvPr/>
        </p:nvSpPr>
        <p:spPr>
          <a:xfrm>
            <a:off x="6355080" y="2057400"/>
            <a:ext cx="5212080" cy="502920"/>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PRINCE2 7</a:t>
            </a:r>
            <a:endParaRPr lang="en-US" sz="1600" dirty="0"/>
          </a:p>
        </p:txBody>
      </p:sp>
      <p:sp>
        <p:nvSpPr>
          <p:cNvPr id="8" name="Text 6"/>
          <p:cNvSpPr txBox="1"/>
          <p:nvPr/>
        </p:nvSpPr>
        <p:spPr>
          <a:xfrm>
            <a:off x="640080" y="2697480"/>
            <a:ext cx="10927080" cy="292608"/>
          </a:xfrm>
          <a:prstGeom prst="rect">
            <a:avLst/>
          </a:prstGeom>
          <a:noFill/>
          <a:ln/>
        </p:spPr>
        <p:txBody>
          <a:bodyPr wrap="square" lIns="0" tIns="0" rIns="0" bIns="0" rtlCol="0" anchor="ctr"/>
          <a:lstStyle/>
          <a:p>
            <a:pPr marL="0" indent="0">
              <a:buNone/>
            </a:pPr>
            <a:r>
              <a:rPr lang="en-US" sz="1150" b="1" kern="0" spc="100" dirty="0">
                <a:solidFill>
                  <a:srgbClr val="7A756F"/>
                </a:solidFill>
                <a:latin typeface="Calibri" pitchFamily="34" charset="0"/>
                <a:ea typeface="Calibri" pitchFamily="34" charset="-122"/>
                <a:cs typeface="Calibri" pitchFamily="34" charset="-120"/>
              </a:rPr>
              <a:t>Statuto</a:t>
            </a:r>
            <a:endParaRPr lang="en-US" sz="1150" dirty="0"/>
          </a:p>
        </p:txBody>
      </p:sp>
      <p:sp>
        <p:nvSpPr>
          <p:cNvPr id="9" name="Shape 7"/>
          <p:cNvSpPr/>
          <p:nvPr/>
        </p:nvSpPr>
        <p:spPr>
          <a:xfrm>
            <a:off x="640080" y="3008376"/>
            <a:ext cx="5212080" cy="502920"/>
          </a:xfrm>
          <a:prstGeom prst="roundRect">
            <a:avLst>
              <a:gd name="adj" fmla="val 16364"/>
            </a:avLst>
          </a:prstGeom>
          <a:solidFill>
            <a:srgbClr val="FAEEEB"/>
          </a:solidFill>
          <a:ln w="9525">
            <a:solidFill>
              <a:srgbClr val="E7E2DD"/>
            </a:solidFill>
            <a:prstDash val="solid"/>
          </a:ln>
        </p:spPr>
        <p:txBody>
          <a:bodyPr/>
          <a:lstStyle/>
          <a:p>
            <a:endParaRPr lang="it-IT"/>
          </a:p>
        </p:txBody>
      </p:sp>
      <p:sp>
        <p:nvSpPr>
          <p:cNvPr id="10" name="Text 8"/>
          <p:cNvSpPr txBox="1"/>
          <p:nvPr/>
        </p:nvSpPr>
        <p:spPr>
          <a:xfrm>
            <a:off x="868680" y="3008376"/>
            <a:ext cx="4754880" cy="502920"/>
          </a:xfrm>
          <a:prstGeom prst="rect">
            <a:avLst/>
          </a:prstGeom>
          <a:noFill/>
          <a:ln/>
        </p:spPr>
        <p:txBody>
          <a:bodyPr wrap="square" lIns="0" tIns="0" rIns="0" bIns="0" rtlCol="0" anchor="ctr"/>
          <a:lstStyle/>
          <a:p>
            <a:pPr marL="0" indent="0">
              <a:lnSpc>
                <a:spcPct val="110000"/>
              </a:lnSpc>
              <a:buNone/>
            </a:pPr>
            <a:r>
              <a:rPr lang="en-US" sz="1250" dirty="0">
                <a:solidFill>
                  <a:srgbClr val="2C2624"/>
                </a:solidFill>
                <a:latin typeface="Calibri" pitchFamily="34" charset="0"/>
                <a:ea typeface="Calibri" pitchFamily="34" charset="-122"/>
                <a:cs typeface="Calibri" pitchFamily="34" charset="-120"/>
              </a:rPr>
              <a:t>Guida a un corpo di conoscenza,</a:t>
            </a:r>
            <a:endParaRPr lang="en-US" sz="1250" dirty="0"/>
          </a:p>
          <a:p>
            <a:pPr marL="0" indent="0">
              <a:lnSpc>
                <a:spcPct val="110000"/>
              </a:lnSpc>
              <a:buNone/>
            </a:pPr>
            <a:r>
              <a:rPr lang="en-US" sz="1250" dirty="0">
                <a:solidFill>
                  <a:srgbClr val="2C2624"/>
                </a:solidFill>
                <a:latin typeface="Calibri" pitchFamily="34" charset="0"/>
                <a:ea typeface="Calibri" pitchFamily="34" charset="-122"/>
                <a:cs typeface="Calibri" pitchFamily="34" charset="-120"/>
              </a:rPr>
              <a:t>processi non prescrittivi</a:t>
            </a:r>
            <a:endParaRPr lang="en-US" sz="1250" dirty="0"/>
          </a:p>
        </p:txBody>
      </p:sp>
      <p:sp>
        <p:nvSpPr>
          <p:cNvPr id="11" name="Shape 9"/>
          <p:cNvSpPr/>
          <p:nvPr/>
        </p:nvSpPr>
        <p:spPr>
          <a:xfrm>
            <a:off x="6355080" y="3008376"/>
            <a:ext cx="5212080" cy="502920"/>
          </a:xfrm>
          <a:prstGeom prst="roundRect">
            <a:avLst>
              <a:gd name="adj" fmla="val 16364"/>
            </a:avLst>
          </a:prstGeom>
          <a:solidFill>
            <a:srgbClr val="FAEEEB"/>
          </a:solidFill>
          <a:ln w="9525">
            <a:solidFill>
              <a:srgbClr val="E7E2DD"/>
            </a:solidFill>
            <a:prstDash val="solid"/>
          </a:ln>
        </p:spPr>
        <p:txBody>
          <a:bodyPr/>
          <a:lstStyle/>
          <a:p>
            <a:endParaRPr lang="it-IT"/>
          </a:p>
        </p:txBody>
      </p:sp>
      <p:sp>
        <p:nvSpPr>
          <p:cNvPr id="12" name="Text 10"/>
          <p:cNvSpPr txBox="1"/>
          <p:nvPr/>
        </p:nvSpPr>
        <p:spPr>
          <a:xfrm>
            <a:off x="6583680" y="3008376"/>
            <a:ext cx="4754880" cy="502920"/>
          </a:xfrm>
          <a:prstGeom prst="rect">
            <a:avLst/>
          </a:prstGeom>
          <a:noFill/>
          <a:ln/>
        </p:spPr>
        <p:txBody>
          <a:bodyPr wrap="square" lIns="0" tIns="0" rIns="0" bIns="0" rtlCol="0" anchor="ctr"/>
          <a:lstStyle/>
          <a:p>
            <a:pPr marL="0" indent="0">
              <a:lnSpc>
                <a:spcPct val="110000"/>
              </a:lnSpc>
              <a:buNone/>
            </a:pPr>
            <a:r>
              <a:rPr lang="en-US" sz="1250" dirty="0">
                <a:solidFill>
                  <a:srgbClr val="2C2624"/>
                </a:solidFill>
                <a:latin typeface="Calibri" pitchFamily="34" charset="0"/>
                <a:ea typeface="Calibri" pitchFamily="34" charset="-122"/>
                <a:cs typeface="Calibri" pitchFamily="34" charset="-120"/>
              </a:rPr>
              <a:t>Metodo, soglia di conformità</a:t>
            </a:r>
            <a:endParaRPr lang="en-US" sz="1250" dirty="0"/>
          </a:p>
          <a:p>
            <a:pPr marL="0" indent="0">
              <a:lnSpc>
                <a:spcPct val="110000"/>
              </a:lnSpc>
              <a:buNone/>
            </a:pPr>
            <a:r>
              <a:rPr lang="en-US" sz="1250" dirty="0">
                <a:solidFill>
                  <a:srgbClr val="2C2624"/>
                </a:solidFill>
                <a:latin typeface="Calibri" pitchFamily="34" charset="0"/>
                <a:ea typeface="Calibri" pitchFamily="34" charset="-122"/>
                <a:cs typeface="Calibri" pitchFamily="34" charset="-120"/>
              </a:rPr>
              <a:t>esplicita sui 7 principi</a:t>
            </a:r>
            <a:endParaRPr lang="en-US" sz="1250" dirty="0"/>
          </a:p>
        </p:txBody>
      </p:sp>
      <p:sp>
        <p:nvSpPr>
          <p:cNvPr id="13" name="Text 11"/>
          <p:cNvSpPr txBox="1"/>
          <p:nvPr/>
        </p:nvSpPr>
        <p:spPr>
          <a:xfrm>
            <a:off x="640080" y="3675888"/>
            <a:ext cx="10927080" cy="292608"/>
          </a:xfrm>
          <a:prstGeom prst="rect">
            <a:avLst/>
          </a:prstGeom>
          <a:noFill/>
          <a:ln/>
        </p:spPr>
        <p:txBody>
          <a:bodyPr wrap="square" lIns="0" tIns="0" rIns="0" bIns="0" rtlCol="0" anchor="ctr"/>
          <a:lstStyle/>
          <a:p>
            <a:pPr marL="0" indent="0">
              <a:buNone/>
            </a:pPr>
            <a:r>
              <a:rPr lang="en-US" sz="1150" b="1" kern="0" spc="100" dirty="0">
                <a:solidFill>
                  <a:srgbClr val="7A756F"/>
                </a:solidFill>
                <a:latin typeface="Calibri" pitchFamily="34" charset="0"/>
                <a:ea typeface="Calibri" pitchFamily="34" charset="-122"/>
                <a:cs typeface="Calibri" pitchFamily="34" charset="-120"/>
              </a:rPr>
              <a:t>Governance</a:t>
            </a:r>
            <a:endParaRPr lang="en-US" sz="1150" dirty="0"/>
          </a:p>
        </p:txBody>
      </p:sp>
      <p:sp>
        <p:nvSpPr>
          <p:cNvPr id="14" name="Shape 12"/>
          <p:cNvSpPr/>
          <p:nvPr/>
        </p:nvSpPr>
        <p:spPr>
          <a:xfrm>
            <a:off x="640080" y="3986784"/>
            <a:ext cx="5212080" cy="502920"/>
          </a:xfrm>
          <a:prstGeom prst="roundRect">
            <a:avLst>
              <a:gd name="adj" fmla="val 16364"/>
            </a:avLst>
          </a:prstGeom>
          <a:solidFill>
            <a:srgbClr val="FAEEEB"/>
          </a:solidFill>
          <a:ln w="9525">
            <a:solidFill>
              <a:srgbClr val="E7E2DD"/>
            </a:solidFill>
            <a:prstDash val="solid"/>
          </a:ln>
        </p:spPr>
        <p:txBody>
          <a:bodyPr/>
          <a:lstStyle/>
          <a:p>
            <a:endParaRPr lang="it-IT"/>
          </a:p>
        </p:txBody>
      </p:sp>
      <p:sp>
        <p:nvSpPr>
          <p:cNvPr id="15" name="Text 13"/>
          <p:cNvSpPr txBox="1"/>
          <p:nvPr/>
        </p:nvSpPr>
        <p:spPr>
          <a:xfrm>
            <a:off x="868680" y="3986784"/>
            <a:ext cx="4754880" cy="502920"/>
          </a:xfrm>
          <a:prstGeom prst="rect">
            <a:avLst/>
          </a:prstGeom>
          <a:noFill/>
          <a:ln/>
        </p:spPr>
        <p:txBody>
          <a:bodyPr wrap="square" lIns="0" tIns="0" rIns="0" bIns="0" rtlCol="0" anchor="ctr"/>
          <a:lstStyle/>
          <a:p>
            <a:pPr marL="0" indent="0">
              <a:lnSpc>
                <a:spcPct val="110000"/>
              </a:lnSpc>
              <a:buNone/>
            </a:pPr>
            <a:r>
              <a:rPr lang="en-US" sz="1250" dirty="0">
                <a:solidFill>
                  <a:srgbClr val="2C2624"/>
                </a:solidFill>
                <a:latin typeface="Calibri" pitchFamily="34" charset="0"/>
                <a:ea typeface="Calibri" pitchFamily="34" charset="-122"/>
                <a:cs typeface="Calibri" pitchFamily="34" charset="-120"/>
              </a:rPr>
              <a:t>Funzioni assegnabili liberamente,</a:t>
            </a:r>
            <a:endParaRPr lang="en-US" sz="1250" dirty="0"/>
          </a:p>
          <a:p>
            <a:pPr marL="0" indent="0">
              <a:lnSpc>
                <a:spcPct val="110000"/>
              </a:lnSpc>
              <a:buNone/>
            </a:pPr>
            <a:r>
              <a:rPr lang="en-US" sz="1250" dirty="0">
                <a:solidFill>
                  <a:srgbClr val="2C2624"/>
                </a:solidFill>
                <a:latin typeface="Calibri" pitchFamily="34" charset="0"/>
                <a:ea typeface="Calibri" pitchFamily="34" charset="-122"/>
                <a:cs typeface="Calibri" pitchFamily="34" charset="-120"/>
              </a:rPr>
              <a:t>nessun ruolo obbligatorio</a:t>
            </a:r>
            <a:endParaRPr lang="en-US" sz="1250" dirty="0"/>
          </a:p>
        </p:txBody>
      </p:sp>
      <p:sp>
        <p:nvSpPr>
          <p:cNvPr id="16" name="Shape 14"/>
          <p:cNvSpPr/>
          <p:nvPr/>
        </p:nvSpPr>
        <p:spPr>
          <a:xfrm>
            <a:off x="6355080" y="3986784"/>
            <a:ext cx="5212080" cy="502920"/>
          </a:xfrm>
          <a:prstGeom prst="roundRect">
            <a:avLst>
              <a:gd name="adj" fmla="val 16364"/>
            </a:avLst>
          </a:prstGeom>
          <a:solidFill>
            <a:srgbClr val="FAEEEB"/>
          </a:solidFill>
          <a:ln w="9525">
            <a:solidFill>
              <a:srgbClr val="E7E2DD"/>
            </a:solidFill>
            <a:prstDash val="solid"/>
          </a:ln>
        </p:spPr>
        <p:txBody>
          <a:bodyPr/>
          <a:lstStyle/>
          <a:p>
            <a:endParaRPr lang="it-IT"/>
          </a:p>
        </p:txBody>
      </p:sp>
      <p:sp>
        <p:nvSpPr>
          <p:cNvPr id="17" name="Text 15"/>
          <p:cNvSpPr txBox="1"/>
          <p:nvPr/>
        </p:nvSpPr>
        <p:spPr>
          <a:xfrm>
            <a:off x="6583680" y="3986784"/>
            <a:ext cx="4754880" cy="502920"/>
          </a:xfrm>
          <a:prstGeom prst="rect">
            <a:avLst/>
          </a:prstGeom>
          <a:noFill/>
          <a:ln/>
        </p:spPr>
        <p:txBody>
          <a:bodyPr wrap="square" lIns="0" tIns="0" rIns="0" bIns="0" rtlCol="0" anchor="ctr"/>
          <a:lstStyle/>
          <a:p>
            <a:pPr marL="0" indent="0">
              <a:lnSpc>
                <a:spcPct val="110000"/>
              </a:lnSpc>
              <a:buNone/>
            </a:pPr>
            <a:r>
              <a:rPr lang="en-US" sz="1250" dirty="0">
                <a:solidFill>
                  <a:srgbClr val="2C2624"/>
                </a:solidFill>
                <a:latin typeface="Calibri" pitchFamily="34" charset="0"/>
                <a:ea typeface="Calibri" pitchFamily="34" charset="-122"/>
                <a:cs typeface="Calibri" pitchFamily="34" charset="-120"/>
              </a:rPr>
              <a:t>4 livelli di gestione, project board</a:t>
            </a:r>
            <a:endParaRPr lang="en-US" sz="1250" dirty="0"/>
          </a:p>
          <a:p>
            <a:pPr marL="0" indent="0">
              <a:lnSpc>
                <a:spcPct val="110000"/>
              </a:lnSpc>
              <a:buNone/>
            </a:pPr>
            <a:r>
              <a:rPr lang="en-US" sz="1250" dirty="0">
                <a:solidFill>
                  <a:srgbClr val="2C2624"/>
                </a:solidFill>
                <a:latin typeface="Calibri" pitchFamily="34" charset="0"/>
                <a:ea typeface="Calibri" pitchFamily="34" charset="-122"/>
                <a:cs typeface="Calibri" pitchFamily="34" charset="-120"/>
              </a:rPr>
              <a:t>e 7 ruoli con vincoli espliciti</a:t>
            </a:r>
            <a:endParaRPr lang="en-US" sz="1250" dirty="0"/>
          </a:p>
        </p:txBody>
      </p:sp>
      <p:sp>
        <p:nvSpPr>
          <p:cNvPr id="18" name="Text 16"/>
          <p:cNvSpPr txBox="1"/>
          <p:nvPr/>
        </p:nvSpPr>
        <p:spPr>
          <a:xfrm>
            <a:off x="640080" y="4654296"/>
            <a:ext cx="10927080" cy="292608"/>
          </a:xfrm>
          <a:prstGeom prst="rect">
            <a:avLst/>
          </a:prstGeom>
          <a:noFill/>
          <a:ln/>
        </p:spPr>
        <p:txBody>
          <a:bodyPr wrap="square" lIns="0" tIns="0" rIns="0" bIns="0" rtlCol="0" anchor="ctr"/>
          <a:lstStyle/>
          <a:p>
            <a:pPr marL="0" indent="0">
              <a:buNone/>
            </a:pPr>
            <a:r>
              <a:rPr lang="en-US" sz="1150" b="1" kern="0" spc="100" dirty="0">
                <a:solidFill>
                  <a:srgbClr val="7A756F"/>
                </a:solidFill>
                <a:latin typeface="Calibri" pitchFamily="34" charset="0"/>
                <a:ea typeface="Calibri" pitchFamily="34" charset="-122"/>
                <a:cs typeface="Calibri" pitchFamily="34" charset="-120"/>
              </a:rPr>
              <a:t>Tailoring</a:t>
            </a:r>
            <a:endParaRPr lang="en-US" sz="1150" dirty="0"/>
          </a:p>
        </p:txBody>
      </p:sp>
      <p:sp>
        <p:nvSpPr>
          <p:cNvPr id="19" name="Shape 17"/>
          <p:cNvSpPr/>
          <p:nvPr/>
        </p:nvSpPr>
        <p:spPr>
          <a:xfrm>
            <a:off x="640080" y="4965192"/>
            <a:ext cx="5212080" cy="502920"/>
          </a:xfrm>
          <a:prstGeom prst="roundRect">
            <a:avLst>
              <a:gd name="adj" fmla="val 16364"/>
            </a:avLst>
          </a:prstGeom>
          <a:solidFill>
            <a:srgbClr val="FAEEEB"/>
          </a:solidFill>
          <a:ln w="9525">
            <a:solidFill>
              <a:srgbClr val="E7E2DD"/>
            </a:solidFill>
            <a:prstDash val="solid"/>
          </a:ln>
        </p:spPr>
        <p:txBody>
          <a:bodyPr/>
          <a:lstStyle/>
          <a:p>
            <a:endParaRPr lang="it-IT"/>
          </a:p>
        </p:txBody>
      </p:sp>
      <p:sp>
        <p:nvSpPr>
          <p:cNvPr id="20" name="Text 18"/>
          <p:cNvSpPr txBox="1"/>
          <p:nvPr/>
        </p:nvSpPr>
        <p:spPr>
          <a:xfrm>
            <a:off x="868680" y="4965192"/>
            <a:ext cx="4754880" cy="502920"/>
          </a:xfrm>
          <a:prstGeom prst="rect">
            <a:avLst/>
          </a:prstGeom>
          <a:noFill/>
          <a:ln/>
        </p:spPr>
        <p:txBody>
          <a:bodyPr wrap="square" lIns="0" tIns="0" rIns="0" bIns="0" rtlCol="0" anchor="ctr"/>
          <a:lstStyle/>
          <a:p>
            <a:pPr marL="0" indent="0">
              <a:lnSpc>
                <a:spcPct val="110000"/>
              </a:lnSpc>
              <a:buNone/>
            </a:pPr>
            <a:r>
              <a:rPr lang="en-US" sz="1250" dirty="0">
                <a:solidFill>
                  <a:srgbClr val="2C2624"/>
                </a:solidFill>
                <a:latin typeface="Calibri" pitchFamily="34" charset="0"/>
                <a:ea typeface="Calibri" pitchFamily="34" charset="-122"/>
                <a:cs typeface="Calibri" pitchFamily="34" charset="-120"/>
              </a:rPr>
              <a:t>Procedura in 4 passi,</a:t>
            </a:r>
            <a:endParaRPr lang="en-US" sz="1250" dirty="0"/>
          </a:p>
          <a:p>
            <a:pPr marL="0" indent="0">
              <a:lnSpc>
                <a:spcPct val="110000"/>
              </a:lnSpc>
              <a:buNone/>
            </a:pPr>
            <a:r>
              <a:rPr lang="en-US" sz="1250" dirty="0">
                <a:solidFill>
                  <a:srgbClr val="2C2624"/>
                </a:solidFill>
                <a:latin typeface="Calibri" pitchFamily="34" charset="0"/>
                <a:ea typeface="Calibri" pitchFamily="34" charset="-122"/>
                <a:cs typeface="Calibri" pitchFamily="34" charset="-120"/>
              </a:rPr>
              <a:t>sezione autonoma</a:t>
            </a:r>
            <a:endParaRPr lang="en-US" sz="1250" dirty="0"/>
          </a:p>
        </p:txBody>
      </p:sp>
      <p:sp>
        <p:nvSpPr>
          <p:cNvPr id="21" name="Shape 19"/>
          <p:cNvSpPr/>
          <p:nvPr/>
        </p:nvSpPr>
        <p:spPr>
          <a:xfrm>
            <a:off x="6355080" y="4965192"/>
            <a:ext cx="5212080" cy="502920"/>
          </a:xfrm>
          <a:prstGeom prst="roundRect">
            <a:avLst>
              <a:gd name="adj" fmla="val 16364"/>
            </a:avLst>
          </a:prstGeom>
          <a:solidFill>
            <a:srgbClr val="FAEEEB"/>
          </a:solidFill>
          <a:ln w="9525">
            <a:solidFill>
              <a:srgbClr val="E7E2DD"/>
            </a:solidFill>
            <a:prstDash val="solid"/>
          </a:ln>
        </p:spPr>
        <p:txBody>
          <a:bodyPr/>
          <a:lstStyle/>
          <a:p>
            <a:endParaRPr lang="it-IT"/>
          </a:p>
        </p:txBody>
      </p:sp>
      <p:sp>
        <p:nvSpPr>
          <p:cNvPr id="22" name="Text 20"/>
          <p:cNvSpPr txBox="1"/>
          <p:nvPr/>
        </p:nvSpPr>
        <p:spPr>
          <a:xfrm>
            <a:off x="6583680" y="4965192"/>
            <a:ext cx="4754880" cy="502920"/>
          </a:xfrm>
          <a:prstGeom prst="rect">
            <a:avLst/>
          </a:prstGeom>
          <a:noFill/>
          <a:ln/>
        </p:spPr>
        <p:txBody>
          <a:bodyPr wrap="square" lIns="0" tIns="0" rIns="0" bIns="0" rtlCol="0" anchor="ctr"/>
          <a:lstStyle/>
          <a:p>
            <a:pPr marL="0" indent="0">
              <a:lnSpc>
                <a:spcPct val="110000"/>
              </a:lnSpc>
              <a:buNone/>
            </a:pPr>
            <a:r>
              <a:rPr lang="en-US" sz="1250" dirty="0">
                <a:solidFill>
                  <a:srgbClr val="2C2624"/>
                </a:solidFill>
                <a:latin typeface="Calibri" pitchFamily="34" charset="0"/>
                <a:ea typeface="Calibri" pitchFamily="34" charset="-122"/>
                <a:cs typeface="Calibri" pitchFamily="34" charset="-120"/>
              </a:rPr>
              <a:t>Il tailoring è il 7° principio:</a:t>
            </a:r>
            <a:endParaRPr lang="en-US" sz="1250" dirty="0"/>
          </a:p>
          <a:p>
            <a:pPr marL="0" indent="0">
              <a:lnSpc>
                <a:spcPct val="110000"/>
              </a:lnSpc>
              <a:buNone/>
            </a:pPr>
            <a:r>
              <a:rPr lang="en-US" sz="1250" dirty="0">
                <a:solidFill>
                  <a:srgbClr val="2C2624"/>
                </a:solidFill>
                <a:latin typeface="Calibri" pitchFamily="34" charset="0"/>
                <a:ea typeface="Calibri" pitchFamily="34" charset="-122"/>
                <a:cs typeface="Calibri" pitchFamily="34" charset="-120"/>
              </a:rPr>
              <a:t>obbligatorio, senza toccare gli altri 6</a:t>
            </a:r>
            <a:endParaRPr lang="en-US" sz="1250" dirty="0"/>
          </a:p>
        </p:txBody>
      </p:sp>
      <p:sp>
        <p:nvSpPr>
          <p:cNvPr id="23" name="Text 21"/>
          <p:cNvSpPr txBox="1"/>
          <p:nvPr/>
        </p:nvSpPr>
        <p:spPr>
          <a:xfrm>
            <a:off x="640080" y="5650992"/>
            <a:ext cx="10881360" cy="365760"/>
          </a:xfrm>
          <a:prstGeom prst="rect">
            <a:avLst/>
          </a:prstGeom>
          <a:noFill/>
          <a:ln/>
        </p:spPr>
        <p:txBody>
          <a:bodyPr wrap="square" lIns="0" tIns="0" rIns="0" bIns="0" rtlCol="0" anchor="ctr"/>
          <a:lstStyle/>
          <a:p>
            <a:pPr marL="0" indent="0" algn="ctr">
              <a:buNone/>
            </a:pPr>
            <a:r>
              <a:rPr lang="en-US" sz="1250" i="1" dirty="0">
                <a:solidFill>
                  <a:srgbClr val="BC290A"/>
                </a:solidFill>
                <a:latin typeface="Calibri" pitchFamily="34" charset="0"/>
                <a:ea typeface="Calibri" pitchFamily="34" charset="-122"/>
                <a:cs typeface="Calibri" pitchFamily="34" charset="-120"/>
              </a:rPr>
              <a:t>Stessa catena del valore</a:t>
            </a:r>
            <a:endParaRPr lang="en-US" sz="1250" dirty="0"/>
          </a:p>
        </p:txBody>
      </p:sp>
      <p:sp>
        <p:nvSpPr>
          <p:cNvPr id="24" name="Text 22"/>
          <p:cNvSpPr txBox="1"/>
          <p:nvPr/>
        </p:nvSpPr>
        <p:spPr>
          <a:xfrm>
            <a:off x="548640" y="6473952"/>
            <a:ext cx="7315200" cy="274320"/>
          </a:xfrm>
          <a:prstGeom prst="rect">
            <a:avLst/>
          </a:prstGeom>
          <a:noFill/>
          <a:ln/>
        </p:spPr>
        <p:txBody>
          <a:bodyPr wrap="square" lIns="0" tIns="0" rIns="0" bIns="0" rtlCol="0" anchor="ctr"/>
          <a:lstStyle/>
          <a:p>
            <a:pPr marL="0" indent="0">
              <a:buNone/>
            </a:pPr>
            <a:r>
              <a:rPr lang="en-US" sz="900" kern="0" spc="120" dirty="0">
                <a:solidFill>
                  <a:srgbClr val="7A756F"/>
                </a:solidFill>
                <a:latin typeface="Calibri" pitchFamily="34" charset="0"/>
                <a:ea typeface="Calibri" pitchFamily="34" charset="-122"/>
                <a:cs typeface="Calibri" pitchFamily="34" charset="-120"/>
              </a:rPr>
              <a:t>APPROCCI TRADIZIONALI</a:t>
            </a:r>
            <a:endParaRPr lang="en-US" sz="900" dirty="0"/>
          </a:p>
        </p:txBody>
      </p:sp>
      <p:sp>
        <p:nvSpPr>
          <p:cNvPr id="25" name="Text 23"/>
          <p:cNvSpPr txBox="1"/>
          <p:nvPr/>
        </p:nvSpPr>
        <p:spPr>
          <a:xfrm>
            <a:off x="11277295" y="6473952"/>
            <a:ext cx="457200" cy="274320"/>
          </a:xfrm>
          <a:prstGeom prst="rect">
            <a:avLst/>
          </a:prstGeom>
          <a:noFill/>
          <a:ln/>
        </p:spPr>
        <p:txBody>
          <a:bodyPr wrap="square" lIns="0" tIns="0" rIns="0" bIns="0" rtlCol="0" anchor="ctr"/>
          <a:lstStyle/>
          <a:p>
            <a:pPr marL="0" indent="0" algn="r">
              <a:buNone/>
            </a:pPr>
            <a:r>
              <a:rPr lang="en-US" sz="900" dirty="0">
                <a:solidFill>
                  <a:srgbClr val="BC290A"/>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48640" y="457200"/>
            <a:ext cx="10515600" cy="320040"/>
          </a:xfrm>
          <a:prstGeom prst="rect">
            <a:avLst/>
          </a:prstGeom>
          <a:noFill/>
          <a:ln/>
        </p:spPr>
        <p:txBody>
          <a:bodyPr wrap="square" lIns="0" tIns="0" rIns="0" bIns="0" rtlCol="0" anchor="ctr"/>
          <a:lstStyle/>
          <a:p>
            <a:pPr marL="0" indent="0">
              <a:buNone/>
            </a:pPr>
            <a:r>
              <a:rPr lang="en-US" sz="1300" b="1" kern="0" spc="150" dirty="0">
                <a:solidFill>
                  <a:srgbClr val="7A756F"/>
                </a:solidFill>
                <a:latin typeface="Calibri" pitchFamily="34" charset="0"/>
                <a:ea typeface="Calibri" pitchFamily="34" charset="-122"/>
                <a:cs typeface="Calibri" pitchFamily="34" charset="-120"/>
              </a:rPr>
              <a:t>CAPITOLO 2 · APPROCCI AGILE</a:t>
            </a:r>
            <a:endParaRPr lang="en-US" sz="1300" dirty="0"/>
          </a:p>
        </p:txBody>
      </p:sp>
      <p:sp>
        <p:nvSpPr>
          <p:cNvPr id="3" name="Text 1"/>
          <p:cNvSpPr txBox="1"/>
          <p:nvPr/>
        </p:nvSpPr>
        <p:spPr>
          <a:xfrm>
            <a:off x="548640" y="749808"/>
            <a:ext cx="11064240" cy="868680"/>
          </a:xfrm>
          <a:prstGeom prst="rect">
            <a:avLst/>
          </a:prstGeom>
          <a:noFill/>
          <a:ln/>
        </p:spPr>
        <p:txBody>
          <a:bodyPr wrap="square" lIns="0" tIns="0" rIns="0" bIns="0" rtlCol="0" anchor="t"/>
          <a:lstStyle/>
          <a:p>
            <a:pPr marL="0" indent="0">
              <a:lnSpc>
                <a:spcPct val="102000"/>
              </a:lnSpc>
              <a:buNone/>
            </a:pPr>
            <a:r>
              <a:rPr lang="en-US" sz="3000" b="1" dirty="0">
                <a:solidFill>
                  <a:srgbClr val="BC290A"/>
                </a:solidFill>
                <a:latin typeface="Cambria" pitchFamily="34" charset="0"/>
                <a:ea typeface="Cambria" pitchFamily="34" charset="-122"/>
                <a:cs typeface="Cambria" pitchFamily="34" charset="-120"/>
              </a:rPr>
              <a:t>Il Manifesto Agile (2001)</a:t>
            </a:r>
            <a:endParaRPr lang="en-US" sz="3000" dirty="0"/>
          </a:p>
        </p:txBody>
      </p:sp>
      <p:sp>
        <p:nvSpPr>
          <p:cNvPr id="4" name="Shape 2"/>
          <p:cNvSpPr/>
          <p:nvPr/>
        </p:nvSpPr>
        <p:spPr>
          <a:xfrm>
            <a:off x="640080" y="2148840"/>
            <a:ext cx="5212080" cy="1298448"/>
          </a:xfrm>
          <a:prstGeom prst="roundRect">
            <a:avLst>
              <a:gd name="adj" fmla="val 6338"/>
            </a:avLst>
          </a:prstGeom>
          <a:solidFill>
            <a:srgbClr val="FAEEEB"/>
          </a:solidFill>
          <a:ln w="9525">
            <a:solidFill>
              <a:srgbClr val="E7E2DD"/>
            </a:solidFill>
            <a:prstDash val="solid"/>
          </a:ln>
          <a:effectLst>
            <a:outerShdw blurRad="76200" dist="25400" dir="5400000" algn="bl" rotWithShape="0">
              <a:srgbClr val="1A1013">
                <a:alpha val="15000"/>
              </a:srgbClr>
            </a:outerShdw>
          </a:effectLst>
        </p:spPr>
        <p:txBody>
          <a:bodyPr/>
          <a:lstStyle/>
          <a:p>
            <a:endParaRPr lang="it-IT"/>
          </a:p>
        </p:txBody>
      </p:sp>
      <p:sp>
        <p:nvSpPr>
          <p:cNvPr id="5" name="Text 3"/>
          <p:cNvSpPr txBox="1"/>
          <p:nvPr/>
        </p:nvSpPr>
        <p:spPr>
          <a:xfrm>
            <a:off x="868680" y="2276856"/>
            <a:ext cx="4754880" cy="502920"/>
          </a:xfrm>
          <a:prstGeom prst="rect">
            <a:avLst/>
          </a:prstGeom>
          <a:noFill/>
          <a:ln/>
        </p:spPr>
        <p:txBody>
          <a:bodyPr wrap="square" lIns="0" tIns="0" rIns="0" bIns="0" rtlCol="0" anchor="ctr"/>
          <a:lstStyle/>
          <a:p>
            <a:pPr marL="0" indent="0">
              <a:lnSpc>
                <a:spcPct val="105000"/>
              </a:lnSpc>
              <a:buNone/>
            </a:pPr>
            <a:r>
              <a:rPr lang="en-US" sz="1450" b="1" dirty="0">
                <a:solidFill>
                  <a:srgbClr val="BC290A"/>
                </a:solidFill>
                <a:latin typeface="Calibri" pitchFamily="34" charset="0"/>
                <a:ea typeface="Calibri" pitchFamily="34" charset="-122"/>
                <a:cs typeface="Calibri" pitchFamily="34" charset="-120"/>
              </a:rPr>
              <a:t>Gli individui e le interazioni</a:t>
            </a:r>
            <a:endParaRPr lang="en-US" sz="1450" dirty="0"/>
          </a:p>
        </p:txBody>
      </p:sp>
      <p:sp>
        <p:nvSpPr>
          <p:cNvPr id="6" name="Text 4"/>
          <p:cNvSpPr txBox="1"/>
          <p:nvPr/>
        </p:nvSpPr>
        <p:spPr>
          <a:xfrm>
            <a:off x="868680" y="2807208"/>
            <a:ext cx="4754880" cy="502920"/>
          </a:xfrm>
          <a:prstGeom prst="rect">
            <a:avLst/>
          </a:prstGeom>
          <a:noFill/>
          <a:ln/>
        </p:spPr>
        <p:txBody>
          <a:bodyPr wrap="square" lIns="0" tIns="0" rIns="0" bIns="0" rtlCol="0" anchor="ctr"/>
          <a:lstStyle/>
          <a:p>
            <a:pPr marL="0" indent="0">
              <a:lnSpc>
                <a:spcPct val="105000"/>
              </a:lnSpc>
              <a:buNone/>
            </a:pPr>
            <a:r>
              <a:rPr lang="en-US" sz="1200" i="1" dirty="0">
                <a:solidFill>
                  <a:srgbClr val="5B5350"/>
                </a:solidFill>
                <a:latin typeface="Calibri" pitchFamily="34" charset="0"/>
                <a:ea typeface="Calibri" pitchFamily="34" charset="-122"/>
                <a:cs typeface="Calibri" pitchFamily="34" charset="-120"/>
              </a:rPr>
              <a:t>più che processi e strumenti</a:t>
            </a:r>
            <a:endParaRPr lang="en-US" sz="1200" dirty="0"/>
          </a:p>
        </p:txBody>
      </p:sp>
      <p:sp>
        <p:nvSpPr>
          <p:cNvPr id="7" name="Shape 5"/>
          <p:cNvSpPr/>
          <p:nvPr/>
        </p:nvSpPr>
        <p:spPr>
          <a:xfrm>
            <a:off x="6172200" y="2148840"/>
            <a:ext cx="5212080" cy="1298448"/>
          </a:xfrm>
          <a:prstGeom prst="roundRect">
            <a:avLst>
              <a:gd name="adj" fmla="val 6338"/>
            </a:avLst>
          </a:prstGeom>
          <a:solidFill>
            <a:srgbClr val="FAEEEB"/>
          </a:solidFill>
          <a:ln w="9525">
            <a:solidFill>
              <a:srgbClr val="E7E2DD"/>
            </a:solidFill>
            <a:prstDash val="solid"/>
          </a:ln>
          <a:effectLst>
            <a:outerShdw blurRad="76200" dist="25400" dir="5400000" algn="bl" rotWithShape="0">
              <a:srgbClr val="1A1013">
                <a:alpha val="15000"/>
              </a:srgbClr>
            </a:outerShdw>
          </a:effectLst>
        </p:spPr>
        <p:txBody>
          <a:bodyPr/>
          <a:lstStyle/>
          <a:p>
            <a:endParaRPr lang="it-IT"/>
          </a:p>
        </p:txBody>
      </p:sp>
      <p:sp>
        <p:nvSpPr>
          <p:cNvPr id="8" name="Text 6"/>
          <p:cNvSpPr txBox="1"/>
          <p:nvPr/>
        </p:nvSpPr>
        <p:spPr>
          <a:xfrm>
            <a:off x="6400800" y="2276856"/>
            <a:ext cx="4754880" cy="502920"/>
          </a:xfrm>
          <a:prstGeom prst="rect">
            <a:avLst/>
          </a:prstGeom>
          <a:noFill/>
          <a:ln/>
        </p:spPr>
        <p:txBody>
          <a:bodyPr wrap="square" lIns="0" tIns="0" rIns="0" bIns="0" rtlCol="0" anchor="ctr"/>
          <a:lstStyle/>
          <a:p>
            <a:pPr marL="0" indent="0">
              <a:lnSpc>
                <a:spcPct val="105000"/>
              </a:lnSpc>
              <a:buNone/>
            </a:pPr>
            <a:r>
              <a:rPr lang="en-US" sz="1450" b="1" dirty="0">
                <a:solidFill>
                  <a:srgbClr val="BC290A"/>
                </a:solidFill>
                <a:latin typeface="Calibri" pitchFamily="34" charset="0"/>
                <a:ea typeface="Calibri" pitchFamily="34" charset="-122"/>
                <a:cs typeface="Calibri" pitchFamily="34" charset="-120"/>
              </a:rPr>
              <a:t>Il software funzionante</a:t>
            </a:r>
            <a:endParaRPr lang="en-US" sz="1450" dirty="0"/>
          </a:p>
        </p:txBody>
      </p:sp>
      <p:sp>
        <p:nvSpPr>
          <p:cNvPr id="9" name="Text 7"/>
          <p:cNvSpPr txBox="1"/>
          <p:nvPr/>
        </p:nvSpPr>
        <p:spPr>
          <a:xfrm>
            <a:off x="6400800" y="2807208"/>
            <a:ext cx="4754880" cy="502920"/>
          </a:xfrm>
          <a:prstGeom prst="rect">
            <a:avLst/>
          </a:prstGeom>
          <a:noFill/>
          <a:ln/>
        </p:spPr>
        <p:txBody>
          <a:bodyPr wrap="square" lIns="0" tIns="0" rIns="0" bIns="0" rtlCol="0" anchor="ctr"/>
          <a:lstStyle/>
          <a:p>
            <a:pPr marL="0" indent="0">
              <a:lnSpc>
                <a:spcPct val="105000"/>
              </a:lnSpc>
              <a:buNone/>
            </a:pPr>
            <a:r>
              <a:rPr lang="en-US" sz="1200" i="1" dirty="0">
                <a:solidFill>
                  <a:srgbClr val="5B5350"/>
                </a:solidFill>
                <a:latin typeface="Calibri" pitchFamily="34" charset="0"/>
                <a:ea typeface="Calibri" pitchFamily="34" charset="-122"/>
                <a:cs typeface="Calibri" pitchFamily="34" charset="-120"/>
              </a:rPr>
              <a:t>più che la documentazione esaustiva</a:t>
            </a:r>
            <a:endParaRPr lang="en-US" sz="1200" dirty="0"/>
          </a:p>
        </p:txBody>
      </p:sp>
      <p:sp>
        <p:nvSpPr>
          <p:cNvPr id="10" name="Shape 8"/>
          <p:cNvSpPr/>
          <p:nvPr/>
        </p:nvSpPr>
        <p:spPr>
          <a:xfrm>
            <a:off x="640080" y="3675888"/>
            <a:ext cx="5212080" cy="1298448"/>
          </a:xfrm>
          <a:prstGeom prst="roundRect">
            <a:avLst>
              <a:gd name="adj" fmla="val 6338"/>
            </a:avLst>
          </a:prstGeom>
          <a:solidFill>
            <a:srgbClr val="FAEEEB"/>
          </a:solidFill>
          <a:ln w="9525">
            <a:solidFill>
              <a:srgbClr val="E7E2DD"/>
            </a:solidFill>
            <a:prstDash val="solid"/>
          </a:ln>
          <a:effectLst>
            <a:outerShdw blurRad="76200" dist="25400" dir="5400000" algn="bl" rotWithShape="0">
              <a:srgbClr val="1A1013">
                <a:alpha val="15000"/>
              </a:srgbClr>
            </a:outerShdw>
          </a:effectLst>
        </p:spPr>
        <p:txBody>
          <a:bodyPr/>
          <a:lstStyle/>
          <a:p>
            <a:endParaRPr lang="it-IT"/>
          </a:p>
        </p:txBody>
      </p:sp>
      <p:sp>
        <p:nvSpPr>
          <p:cNvPr id="11" name="Text 9"/>
          <p:cNvSpPr txBox="1"/>
          <p:nvPr/>
        </p:nvSpPr>
        <p:spPr>
          <a:xfrm>
            <a:off x="868680" y="3803904"/>
            <a:ext cx="4754880" cy="502920"/>
          </a:xfrm>
          <a:prstGeom prst="rect">
            <a:avLst/>
          </a:prstGeom>
          <a:noFill/>
          <a:ln/>
        </p:spPr>
        <p:txBody>
          <a:bodyPr wrap="square" lIns="0" tIns="0" rIns="0" bIns="0" rtlCol="0" anchor="ctr"/>
          <a:lstStyle/>
          <a:p>
            <a:pPr marL="0" indent="0">
              <a:lnSpc>
                <a:spcPct val="105000"/>
              </a:lnSpc>
              <a:buNone/>
            </a:pPr>
            <a:r>
              <a:rPr lang="en-US" sz="1450" b="1" dirty="0">
                <a:solidFill>
                  <a:srgbClr val="BC290A"/>
                </a:solidFill>
                <a:latin typeface="Calibri" pitchFamily="34" charset="0"/>
                <a:ea typeface="Calibri" pitchFamily="34" charset="-122"/>
                <a:cs typeface="Calibri" pitchFamily="34" charset="-120"/>
              </a:rPr>
              <a:t>La collaborazione col cliente</a:t>
            </a:r>
            <a:endParaRPr lang="en-US" sz="1450" dirty="0"/>
          </a:p>
        </p:txBody>
      </p:sp>
      <p:sp>
        <p:nvSpPr>
          <p:cNvPr id="12" name="Text 10"/>
          <p:cNvSpPr txBox="1"/>
          <p:nvPr/>
        </p:nvSpPr>
        <p:spPr>
          <a:xfrm>
            <a:off x="868680" y="4334256"/>
            <a:ext cx="4754880" cy="502920"/>
          </a:xfrm>
          <a:prstGeom prst="rect">
            <a:avLst/>
          </a:prstGeom>
          <a:noFill/>
          <a:ln/>
        </p:spPr>
        <p:txBody>
          <a:bodyPr wrap="square" lIns="0" tIns="0" rIns="0" bIns="0" rtlCol="0" anchor="ctr"/>
          <a:lstStyle/>
          <a:p>
            <a:pPr marL="0" indent="0">
              <a:lnSpc>
                <a:spcPct val="105000"/>
              </a:lnSpc>
              <a:buNone/>
            </a:pPr>
            <a:r>
              <a:rPr lang="en-US" sz="1200" i="1" dirty="0">
                <a:solidFill>
                  <a:srgbClr val="5B5350"/>
                </a:solidFill>
                <a:latin typeface="Calibri" pitchFamily="34" charset="0"/>
                <a:ea typeface="Calibri" pitchFamily="34" charset="-122"/>
                <a:cs typeface="Calibri" pitchFamily="34" charset="-120"/>
              </a:rPr>
              <a:t>più che la negoziazione dei contratti</a:t>
            </a:r>
            <a:endParaRPr lang="en-US" sz="1200" dirty="0"/>
          </a:p>
        </p:txBody>
      </p:sp>
      <p:sp>
        <p:nvSpPr>
          <p:cNvPr id="13" name="Shape 11"/>
          <p:cNvSpPr/>
          <p:nvPr/>
        </p:nvSpPr>
        <p:spPr>
          <a:xfrm>
            <a:off x="6172200" y="3675888"/>
            <a:ext cx="5212080" cy="1298448"/>
          </a:xfrm>
          <a:prstGeom prst="roundRect">
            <a:avLst>
              <a:gd name="adj" fmla="val 6338"/>
            </a:avLst>
          </a:prstGeom>
          <a:solidFill>
            <a:srgbClr val="FAEEEB"/>
          </a:solidFill>
          <a:ln w="9525">
            <a:solidFill>
              <a:srgbClr val="E7E2DD"/>
            </a:solidFill>
            <a:prstDash val="solid"/>
          </a:ln>
          <a:effectLst>
            <a:outerShdw blurRad="76200" dist="25400" dir="5400000" algn="bl" rotWithShape="0">
              <a:srgbClr val="1A1013">
                <a:alpha val="15000"/>
              </a:srgbClr>
            </a:outerShdw>
          </a:effectLst>
        </p:spPr>
        <p:txBody>
          <a:bodyPr/>
          <a:lstStyle/>
          <a:p>
            <a:endParaRPr lang="it-IT"/>
          </a:p>
        </p:txBody>
      </p:sp>
      <p:sp>
        <p:nvSpPr>
          <p:cNvPr id="14" name="Text 12"/>
          <p:cNvSpPr txBox="1"/>
          <p:nvPr/>
        </p:nvSpPr>
        <p:spPr>
          <a:xfrm>
            <a:off x="6400800" y="3803904"/>
            <a:ext cx="4754880" cy="502920"/>
          </a:xfrm>
          <a:prstGeom prst="rect">
            <a:avLst/>
          </a:prstGeom>
          <a:noFill/>
          <a:ln/>
        </p:spPr>
        <p:txBody>
          <a:bodyPr wrap="square" lIns="0" tIns="0" rIns="0" bIns="0" rtlCol="0" anchor="ctr"/>
          <a:lstStyle/>
          <a:p>
            <a:pPr marL="0" indent="0">
              <a:lnSpc>
                <a:spcPct val="105000"/>
              </a:lnSpc>
              <a:buNone/>
            </a:pPr>
            <a:r>
              <a:rPr lang="en-US" sz="1450" b="1" dirty="0">
                <a:solidFill>
                  <a:srgbClr val="BC290A"/>
                </a:solidFill>
                <a:latin typeface="Calibri" pitchFamily="34" charset="0"/>
                <a:ea typeface="Calibri" pitchFamily="34" charset="-122"/>
                <a:cs typeface="Calibri" pitchFamily="34" charset="-120"/>
              </a:rPr>
              <a:t>Rispondere al cambiamento</a:t>
            </a:r>
            <a:endParaRPr lang="en-US" sz="1450" dirty="0"/>
          </a:p>
        </p:txBody>
      </p:sp>
      <p:sp>
        <p:nvSpPr>
          <p:cNvPr id="15" name="Text 13"/>
          <p:cNvSpPr txBox="1"/>
          <p:nvPr/>
        </p:nvSpPr>
        <p:spPr>
          <a:xfrm>
            <a:off x="6400800" y="4334256"/>
            <a:ext cx="4754880" cy="502920"/>
          </a:xfrm>
          <a:prstGeom prst="rect">
            <a:avLst/>
          </a:prstGeom>
          <a:noFill/>
          <a:ln/>
        </p:spPr>
        <p:txBody>
          <a:bodyPr wrap="square" lIns="0" tIns="0" rIns="0" bIns="0" rtlCol="0" anchor="ctr"/>
          <a:lstStyle/>
          <a:p>
            <a:pPr marL="0" indent="0">
              <a:lnSpc>
                <a:spcPct val="105000"/>
              </a:lnSpc>
              <a:buNone/>
            </a:pPr>
            <a:r>
              <a:rPr lang="en-US" sz="1200" i="1" dirty="0">
                <a:solidFill>
                  <a:srgbClr val="5B5350"/>
                </a:solidFill>
                <a:latin typeface="Calibri" pitchFamily="34" charset="0"/>
                <a:ea typeface="Calibri" pitchFamily="34" charset="-122"/>
                <a:cs typeface="Calibri" pitchFamily="34" charset="-120"/>
              </a:rPr>
              <a:t>più che seguire un piano</a:t>
            </a:r>
            <a:endParaRPr lang="en-US" sz="1200" dirty="0"/>
          </a:p>
        </p:txBody>
      </p:sp>
      <p:sp>
        <p:nvSpPr>
          <p:cNvPr id="17" name="Text 15"/>
          <p:cNvSpPr txBox="1"/>
          <p:nvPr/>
        </p:nvSpPr>
        <p:spPr>
          <a:xfrm>
            <a:off x="548640" y="6473952"/>
            <a:ext cx="7315200" cy="274320"/>
          </a:xfrm>
          <a:prstGeom prst="rect">
            <a:avLst/>
          </a:prstGeom>
          <a:noFill/>
          <a:ln/>
        </p:spPr>
        <p:txBody>
          <a:bodyPr wrap="square" lIns="0" tIns="0" rIns="0" bIns="0" rtlCol="0" anchor="ctr"/>
          <a:lstStyle/>
          <a:p>
            <a:pPr marL="0" indent="0">
              <a:buNone/>
            </a:pPr>
            <a:r>
              <a:rPr lang="en-US" sz="900" kern="0" spc="120" dirty="0">
                <a:solidFill>
                  <a:srgbClr val="7A756F"/>
                </a:solidFill>
                <a:latin typeface="Calibri" pitchFamily="34" charset="0"/>
                <a:ea typeface="Calibri" pitchFamily="34" charset="-122"/>
                <a:cs typeface="Calibri" pitchFamily="34" charset="-120"/>
              </a:rPr>
              <a:t>APPROCCI AGILE</a:t>
            </a:r>
            <a:endParaRPr lang="en-US" sz="900" dirty="0"/>
          </a:p>
        </p:txBody>
      </p:sp>
      <p:sp>
        <p:nvSpPr>
          <p:cNvPr id="18" name="Text 16"/>
          <p:cNvSpPr txBox="1"/>
          <p:nvPr/>
        </p:nvSpPr>
        <p:spPr>
          <a:xfrm>
            <a:off x="11277295" y="6473952"/>
            <a:ext cx="457200" cy="274320"/>
          </a:xfrm>
          <a:prstGeom prst="rect">
            <a:avLst/>
          </a:prstGeom>
          <a:noFill/>
          <a:ln/>
        </p:spPr>
        <p:txBody>
          <a:bodyPr wrap="square" lIns="0" tIns="0" rIns="0" bIns="0" rtlCol="0" anchor="ctr"/>
          <a:lstStyle/>
          <a:p>
            <a:pPr marL="0" indent="0" algn="r">
              <a:buNone/>
            </a:pPr>
            <a:r>
              <a:rPr lang="en-US" sz="900" dirty="0">
                <a:solidFill>
                  <a:srgbClr val="BC290A"/>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457200"/>
            <a:ext cx="10515600" cy="320040"/>
          </a:xfrm>
          <a:prstGeom prst="rect">
            <a:avLst/>
          </a:prstGeom>
          <a:noFill/>
          <a:ln/>
        </p:spPr>
        <p:txBody>
          <a:bodyPr wrap="square" lIns="0" tIns="0" rIns="0" bIns="0" rtlCol="0" anchor="ctr"/>
          <a:lstStyle/>
          <a:p>
            <a:pPr marL="0" indent="0">
              <a:buNone/>
            </a:pPr>
            <a:r>
              <a:rPr lang="en-US" sz="1300" b="1" kern="0" spc="150" dirty="0">
                <a:solidFill>
                  <a:srgbClr val="7A756F"/>
                </a:solidFill>
                <a:latin typeface="Calibri" pitchFamily="34" charset="0"/>
                <a:ea typeface="Calibri" pitchFamily="34" charset="-122"/>
                <a:cs typeface="Calibri" pitchFamily="34" charset="-120"/>
              </a:rPr>
              <a:t>CAPITOLO 2 · APPROCCI AGILE</a:t>
            </a:r>
            <a:endParaRPr lang="en-US" sz="1300" dirty="0"/>
          </a:p>
        </p:txBody>
      </p:sp>
      <p:sp>
        <p:nvSpPr>
          <p:cNvPr id="3" name="Text 1"/>
          <p:cNvSpPr txBox="1"/>
          <p:nvPr/>
        </p:nvSpPr>
        <p:spPr>
          <a:xfrm>
            <a:off x="548640" y="749808"/>
            <a:ext cx="11064240" cy="868680"/>
          </a:xfrm>
          <a:prstGeom prst="rect">
            <a:avLst/>
          </a:prstGeom>
          <a:noFill/>
          <a:ln/>
        </p:spPr>
        <p:txBody>
          <a:bodyPr wrap="square" lIns="0" tIns="0" rIns="0" bIns="0" rtlCol="0" anchor="t"/>
          <a:lstStyle/>
          <a:p>
            <a:pPr marL="0" indent="0">
              <a:lnSpc>
                <a:spcPct val="102000"/>
              </a:lnSpc>
              <a:buNone/>
            </a:pPr>
            <a:r>
              <a:rPr lang="en-US" sz="3000" b="1" dirty="0">
                <a:solidFill>
                  <a:srgbClr val="BC290A"/>
                </a:solidFill>
                <a:latin typeface="Cambria" pitchFamily="34" charset="0"/>
                <a:ea typeface="Cambria" pitchFamily="34" charset="-122"/>
                <a:cs typeface="Cambria" pitchFamily="34" charset="-120"/>
              </a:rPr>
              <a:t>Scrum e Kanban</a:t>
            </a:r>
            <a:endParaRPr lang="en-US" sz="3000" dirty="0"/>
          </a:p>
        </p:txBody>
      </p:sp>
      <p:sp>
        <p:nvSpPr>
          <p:cNvPr id="4" name="Shape 2"/>
          <p:cNvSpPr/>
          <p:nvPr/>
        </p:nvSpPr>
        <p:spPr>
          <a:xfrm>
            <a:off x="1005840" y="2286000"/>
            <a:ext cx="10149840" cy="0"/>
          </a:xfrm>
          <a:prstGeom prst="line">
            <a:avLst/>
          </a:prstGeom>
          <a:noFill/>
          <a:ln w="31750">
            <a:solidFill>
              <a:srgbClr val="BC290A"/>
            </a:solidFill>
            <a:prstDash val="solid"/>
            <a:tailEnd type="triangle"/>
          </a:ln>
        </p:spPr>
        <p:txBody>
          <a:bodyPr/>
          <a:lstStyle/>
          <a:p>
            <a:endParaRPr lang="it-IT"/>
          </a:p>
        </p:txBody>
      </p:sp>
      <p:sp>
        <p:nvSpPr>
          <p:cNvPr id="5" name="Text 3"/>
          <p:cNvSpPr txBox="1"/>
          <p:nvPr/>
        </p:nvSpPr>
        <p:spPr>
          <a:xfrm>
            <a:off x="1005840" y="2359152"/>
            <a:ext cx="10149840" cy="274320"/>
          </a:xfrm>
          <a:prstGeom prst="rect">
            <a:avLst/>
          </a:prstGeom>
          <a:noFill/>
          <a:ln/>
        </p:spPr>
        <p:txBody>
          <a:bodyPr wrap="square" lIns="0" tIns="0" rIns="0" bIns="0" rtlCol="0" anchor="ctr"/>
          <a:lstStyle/>
          <a:p>
            <a:pPr marL="0" indent="0" algn="r">
              <a:buNone/>
            </a:pPr>
            <a:r>
              <a:rPr lang="en-US" sz="1000" i="1" dirty="0">
                <a:solidFill>
                  <a:srgbClr val="7A756F"/>
                </a:solidFill>
                <a:latin typeface="Calibri" pitchFamily="34" charset="0"/>
                <a:ea typeface="Calibri" pitchFamily="34" charset="-122"/>
                <a:cs typeface="Calibri" pitchFamily="34" charset="-120"/>
              </a:rPr>
              <a:t>prescrittività crescente  →</a:t>
            </a:r>
            <a:endParaRPr lang="en-US" sz="1000" dirty="0"/>
          </a:p>
        </p:txBody>
      </p:sp>
      <p:sp>
        <p:nvSpPr>
          <p:cNvPr id="6" name="Shape 4"/>
          <p:cNvSpPr/>
          <p:nvPr/>
        </p:nvSpPr>
        <p:spPr>
          <a:xfrm>
            <a:off x="1280160" y="2176272"/>
            <a:ext cx="219456" cy="219456"/>
          </a:xfrm>
          <a:prstGeom prst="ellipse">
            <a:avLst/>
          </a:prstGeom>
          <a:solidFill>
            <a:srgbClr val="BC290A"/>
          </a:solidFill>
          <a:ln w="19050">
            <a:solidFill>
              <a:srgbClr val="FFFFFF"/>
            </a:solidFill>
            <a:prstDash val="solid"/>
          </a:ln>
        </p:spPr>
        <p:txBody>
          <a:bodyPr/>
          <a:lstStyle/>
          <a:p>
            <a:endParaRPr lang="it-IT"/>
          </a:p>
        </p:txBody>
      </p:sp>
      <p:sp>
        <p:nvSpPr>
          <p:cNvPr id="7" name="Text 5"/>
          <p:cNvSpPr txBox="1"/>
          <p:nvPr/>
        </p:nvSpPr>
        <p:spPr>
          <a:xfrm>
            <a:off x="685800" y="2560320"/>
            <a:ext cx="1417320" cy="502920"/>
          </a:xfrm>
          <a:prstGeom prst="rect">
            <a:avLst/>
          </a:prstGeom>
          <a:noFill/>
          <a:ln/>
        </p:spPr>
        <p:txBody>
          <a:bodyPr wrap="square" lIns="0" tIns="0" rIns="0" bIns="0" rtlCol="0" anchor="ctr"/>
          <a:lstStyle/>
          <a:p>
            <a:pPr marL="0" indent="0" algn="ctr">
              <a:lnSpc>
                <a:spcPct val="100000"/>
              </a:lnSpc>
              <a:buNone/>
            </a:pPr>
            <a:r>
              <a:rPr lang="en-US" sz="1450" b="1" dirty="0">
                <a:solidFill>
                  <a:srgbClr val="BC290A"/>
                </a:solidFill>
                <a:latin typeface="Cambria" pitchFamily="34" charset="0"/>
                <a:ea typeface="Cambria" pitchFamily="34" charset="-122"/>
                <a:cs typeface="Cambria" pitchFamily="34" charset="-120"/>
              </a:rPr>
              <a:t>Kanban</a:t>
            </a:r>
            <a:endParaRPr lang="en-US" sz="1450" dirty="0"/>
          </a:p>
        </p:txBody>
      </p:sp>
      <p:sp>
        <p:nvSpPr>
          <p:cNvPr id="8" name="Text 6"/>
          <p:cNvSpPr txBox="1"/>
          <p:nvPr/>
        </p:nvSpPr>
        <p:spPr>
          <a:xfrm>
            <a:off x="594360" y="3090672"/>
            <a:ext cx="1600200" cy="548640"/>
          </a:xfrm>
          <a:prstGeom prst="rect">
            <a:avLst/>
          </a:prstGeom>
          <a:noFill/>
          <a:ln/>
        </p:spPr>
        <p:txBody>
          <a:bodyPr wrap="square" lIns="0" tIns="0" rIns="0" bIns="0" rtlCol="0" anchor="ctr"/>
          <a:lstStyle/>
          <a:p>
            <a:pPr marL="0" indent="0" algn="ctr">
              <a:lnSpc>
                <a:spcPct val="110000"/>
              </a:lnSpc>
              <a:buNone/>
            </a:pPr>
            <a:r>
              <a:rPr lang="en-US" sz="1050" dirty="0">
                <a:solidFill>
                  <a:srgbClr val="5B5350"/>
                </a:solidFill>
                <a:latin typeface="Calibri" pitchFamily="34" charset="0"/>
                <a:ea typeface="Calibri" pitchFamily="34" charset="-122"/>
                <a:cs typeface="Calibri" pitchFamily="34" charset="-120"/>
              </a:rPr>
              <a:t>si innesta sul</a:t>
            </a:r>
            <a:endParaRPr lang="en-US" sz="1050" dirty="0"/>
          </a:p>
          <a:p>
            <a:pPr marL="0" indent="0" algn="ctr">
              <a:lnSpc>
                <a:spcPct val="110000"/>
              </a:lnSpc>
              <a:buNone/>
            </a:pPr>
            <a:r>
              <a:rPr lang="en-US" sz="1050" dirty="0">
                <a:solidFill>
                  <a:srgbClr val="5B5350"/>
                </a:solidFill>
                <a:latin typeface="Calibri" pitchFamily="34" charset="0"/>
                <a:ea typeface="Calibri" pitchFamily="34" charset="-122"/>
                <a:cs typeface="Calibri" pitchFamily="34" charset="-120"/>
              </a:rPr>
              <a:t>processo già esistente</a:t>
            </a:r>
            <a:endParaRPr lang="en-US" sz="1050" dirty="0"/>
          </a:p>
        </p:txBody>
      </p:sp>
      <p:sp>
        <p:nvSpPr>
          <p:cNvPr id="9" name="Shape 7"/>
          <p:cNvSpPr/>
          <p:nvPr/>
        </p:nvSpPr>
        <p:spPr>
          <a:xfrm>
            <a:off x="5532120" y="2176272"/>
            <a:ext cx="219456" cy="219456"/>
          </a:xfrm>
          <a:prstGeom prst="ellipse">
            <a:avLst/>
          </a:prstGeom>
          <a:solidFill>
            <a:srgbClr val="BC290A"/>
          </a:solidFill>
          <a:ln w="19050">
            <a:solidFill>
              <a:srgbClr val="FFFFFF"/>
            </a:solidFill>
            <a:prstDash val="solid"/>
          </a:ln>
        </p:spPr>
        <p:txBody>
          <a:bodyPr/>
          <a:lstStyle/>
          <a:p>
            <a:endParaRPr lang="it-IT"/>
          </a:p>
        </p:txBody>
      </p:sp>
      <p:sp>
        <p:nvSpPr>
          <p:cNvPr id="10" name="Text 8"/>
          <p:cNvSpPr txBox="1"/>
          <p:nvPr/>
        </p:nvSpPr>
        <p:spPr>
          <a:xfrm>
            <a:off x="4937760" y="2560320"/>
            <a:ext cx="1417320" cy="502920"/>
          </a:xfrm>
          <a:prstGeom prst="rect">
            <a:avLst/>
          </a:prstGeom>
          <a:noFill/>
          <a:ln/>
        </p:spPr>
        <p:txBody>
          <a:bodyPr wrap="square" lIns="0" tIns="0" rIns="0" bIns="0" rtlCol="0" anchor="ctr"/>
          <a:lstStyle/>
          <a:p>
            <a:pPr marL="0" indent="0" algn="ctr">
              <a:lnSpc>
                <a:spcPct val="100000"/>
              </a:lnSpc>
              <a:buNone/>
            </a:pPr>
            <a:r>
              <a:rPr lang="en-US" sz="1450" b="1" dirty="0">
                <a:solidFill>
                  <a:srgbClr val="BC290A"/>
                </a:solidFill>
                <a:latin typeface="Cambria" pitchFamily="34" charset="0"/>
                <a:ea typeface="Cambria" pitchFamily="34" charset="-122"/>
                <a:cs typeface="Cambria" pitchFamily="34" charset="-120"/>
              </a:rPr>
              <a:t>Scrum</a:t>
            </a:r>
            <a:endParaRPr lang="en-US" sz="1450" dirty="0"/>
          </a:p>
        </p:txBody>
      </p:sp>
      <p:sp>
        <p:nvSpPr>
          <p:cNvPr id="11" name="Text 9"/>
          <p:cNvSpPr txBox="1"/>
          <p:nvPr/>
        </p:nvSpPr>
        <p:spPr>
          <a:xfrm>
            <a:off x="4846320" y="3090672"/>
            <a:ext cx="1600200" cy="548640"/>
          </a:xfrm>
          <a:prstGeom prst="rect">
            <a:avLst/>
          </a:prstGeom>
          <a:noFill/>
          <a:ln/>
        </p:spPr>
        <p:txBody>
          <a:bodyPr wrap="square" lIns="0" tIns="0" rIns="0" bIns="0" rtlCol="0" anchor="ctr"/>
          <a:lstStyle/>
          <a:p>
            <a:pPr marL="0" indent="0" algn="ctr">
              <a:lnSpc>
                <a:spcPct val="110000"/>
              </a:lnSpc>
              <a:buNone/>
            </a:pPr>
            <a:r>
              <a:rPr lang="en-US" sz="1050" dirty="0">
                <a:solidFill>
                  <a:srgbClr val="5B5350"/>
                </a:solidFill>
                <a:latin typeface="Calibri" pitchFamily="34" charset="0"/>
                <a:ea typeface="Calibri" pitchFamily="34" charset="-122"/>
                <a:cs typeface="Calibri" pitchFamily="34" charset="-120"/>
              </a:rPr>
              <a:t>framework, Sprint,</a:t>
            </a:r>
            <a:endParaRPr lang="en-US" sz="1050" dirty="0"/>
          </a:p>
          <a:p>
            <a:pPr marL="0" indent="0" algn="ctr">
              <a:lnSpc>
                <a:spcPct val="110000"/>
              </a:lnSpc>
              <a:buNone/>
            </a:pPr>
            <a:r>
              <a:rPr lang="en-US" sz="1050" dirty="0">
                <a:solidFill>
                  <a:srgbClr val="5B5350"/>
                </a:solidFill>
                <a:latin typeface="Calibri" pitchFamily="34" charset="0"/>
                <a:ea typeface="Calibri" pitchFamily="34" charset="-122"/>
                <a:cs typeface="Calibri" pitchFamily="34" charset="-120"/>
              </a:rPr>
              <a:t>controllo empirico</a:t>
            </a:r>
            <a:endParaRPr lang="en-US" sz="1050" dirty="0"/>
          </a:p>
        </p:txBody>
      </p:sp>
      <p:sp>
        <p:nvSpPr>
          <p:cNvPr id="12" name="Shape 10"/>
          <p:cNvSpPr/>
          <p:nvPr/>
        </p:nvSpPr>
        <p:spPr>
          <a:xfrm>
            <a:off x="9784080" y="2176272"/>
            <a:ext cx="219456" cy="219456"/>
          </a:xfrm>
          <a:prstGeom prst="ellipse">
            <a:avLst/>
          </a:prstGeom>
          <a:solidFill>
            <a:srgbClr val="BC290A"/>
          </a:solidFill>
          <a:ln w="19050">
            <a:solidFill>
              <a:srgbClr val="FFFFFF"/>
            </a:solidFill>
            <a:prstDash val="solid"/>
          </a:ln>
        </p:spPr>
        <p:txBody>
          <a:bodyPr/>
          <a:lstStyle/>
          <a:p>
            <a:endParaRPr lang="it-IT"/>
          </a:p>
        </p:txBody>
      </p:sp>
      <p:sp>
        <p:nvSpPr>
          <p:cNvPr id="13" name="Text 11"/>
          <p:cNvSpPr txBox="1"/>
          <p:nvPr/>
        </p:nvSpPr>
        <p:spPr>
          <a:xfrm>
            <a:off x="9189720" y="2560320"/>
            <a:ext cx="1417320" cy="502920"/>
          </a:xfrm>
          <a:prstGeom prst="rect">
            <a:avLst/>
          </a:prstGeom>
          <a:noFill/>
          <a:ln/>
        </p:spPr>
        <p:txBody>
          <a:bodyPr wrap="square" lIns="0" tIns="0" rIns="0" bIns="0" rtlCol="0" anchor="ctr"/>
          <a:lstStyle/>
          <a:p>
            <a:pPr marL="0" indent="0" algn="ctr">
              <a:lnSpc>
                <a:spcPct val="100000"/>
              </a:lnSpc>
              <a:buNone/>
            </a:pPr>
            <a:r>
              <a:rPr lang="en-US" sz="1450" b="1" dirty="0">
                <a:solidFill>
                  <a:srgbClr val="BC290A"/>
                </a:solidFill>
                <a:latin typeface="Cambria" pitchFamily="34" charset="0"/>
                <a:ea typeface="Cambria" pitchFamily="34" charset="-122"/>
                <a:cs typeface="Cambria" pitchFamily="34" charset="-120"/>
              </a:rPr>
              <a:t>Extreme</a:t>
            </a:r>
            <a:endParaRPr lang="en-US" sz="1450" dirty="0"/>
          </a:p>
          <a:p>
            <a:pPr marL="0" indent="0" algn="ctr">
              <a:lnSpc>
                <a:spcPct val="100000"/>
              </a:lnSpc>
              <a:buNone/>
            </a:pPr>
            <a:r>
              <a:rPr lang="en-US" sz="1450" b="1" dirty="0">
                <a:solidFill>
                  <a:srgbClr val="BC290A"/>
                </a:solidFill>
                <a:latin typeface="Cambria" pitchFamily="34" charset="0"/>
                <a:ea typeface="Cambria" pitchFamily="34" charset="-122"/>
                <a:cs typeface="Cambria" pitchFamily="34" charset="-120"/>
              </a:rPr>
              <a:t>Programming</a:t>
            </a:r>
            <a:endParaRPr lang="en-US" sz="1450" dirty="0"/>
          </a:p>
        </p:txBody>
      </p:sp>
      <p:sp>
        <p:nvSpPr>
          <p:cNvPr id="14" name="Text 12"/>
          <p:cNvSpPr txBox="1"/>
          <p:nvPr/>
        </p:nvSpPr>
        <p:spPr>
          <a:xfrm>
            <a:off x="9098280" y="3090672"/>
            <a:ext cx="1600200" cy="548640"/>
          </a:xfrm>
          <a:prstGeom prst="rect">
            <a:avLst/>
          </a:prstGeom>
          <a:noFill/>
          <a:ln/>
        </p:spPr>
        <p:txBody>
          <a:bodyPr wrap="square" lIns="0" tIns="0" rIns="0" bIns="0" rtlCol="0" anchor="ctr"/>
          <a:lstStyle/>
          <a:p>
            <a:pPr marL="0" indent="0" algn="ctr">
              <a:lnSpc>
                <a:spcPct val="110000"/>
              </a:lnSpc>
              <a:buNone/>
            </a:pPr>
            <a:r>
              <a:rPr lang="en-US" sz="1050" dirty="0">
                <a:solidFill>
                  <a:srgbClr val="5B5350"/>
                </a:solidFill>
                <a:latin typeface="Calibri" pitchFamily="34" charset="0"/>
                <a:ea typeface="Calibri" pitchFamily="34" charset="-122"/>
                <a:cs typeface="Calibri" pitchFamily="34" charset="-120"/>
              </a:rPr>
              <a:t>pratiche tecniche</a:t>
            </a:r>
            <a:endParaRPr lang="en-US" sz="1050" dirty="0"/>
          </a:p>
          <a:p>
            <a:pPr marL="0" indent="0" algn="ctr">
              <a:lnSpc>
                <a:spcPct val="110000"/>
              </a:lnSpc>
              <a:buNone/>
            </a:pPr>
            <a:r>
              <a:rPr lang="en-US" sz="1050" dirty="0">
                <a:solidFill>
                  <a:srgbClr val="5B5350"/>
                </a:solidFill>
                <a:latin typeface="Calibri" pitchFamily="34" charset="0"/>
                <a:ea typeface="Calibri" pitchFamily="34" charset="-122"/>
                <a:cs typeface="Calibri" pitchFamily="34" charset="-120"/>
              </a:rPr>
              <a:t>specifiche e prescritte</a:t>
            </a:r>
            <a:endParaRPr lang="en-US" sz="1050" dirty="0"/>
          </a:p>
        </p:txBody>
      </p:sp>
      <p:sp>
        <p:nvSpPr>
          <p:cNvPr id="15" name="Shape 13"/>
          <p:cNvSpPr/>
          <p:nvPr/>
        </p:nvSpPr>
        <p:spPr>
          <a:xfrm>
            <a:off x="640080" y="3977640"/>
            <a:ext cx="5212080" cy="2103120"/>
          </a:xfrm>
          <a:prstGeom prst="roundRect">
            <a:avLst>
              <a:gd name="adj" fmla="val 3913"/>
            </a:avLst>
          </a:prstGeom>
          <a:solidFill>
            <a:srgbClr val="FAEEEB"/>
          </a:solidFill>
          <a:ln w="9525">
            <a:solidFill>
              <a:srgbClr val="E7E2DD"/>
            </a:solidFill>
            <a:prstDash val="solid"/>
          </a:ln>
          <a:effectLst>
            <a:outerShdw blurRad="76200" dist="25400" dir="5400000" algn="bl" rotWithShape="0">
              <a:srgbClr val="1A1013">
                <a:alpha val="15000"/>
              </a:srgbClr>
            </a:outerShdw>
          </a:effectLst>
        </p:spPr>
        <p:txBody>
          <a:bodyPr/>
          <a:lstStyle/>
          <a:p>
            <a:endParaRPr lang="it-IT"/>
          </a:p>
        </p:txBody>
      </p:sp>
      <p:sp>
        <p:nvSpPr>
          <p:cNvPr id="16" name="Text 14"/>
          <p:cNvSpPr txBox="1"/>
          <p:nvPr/>
        </p:nvSpPr>
        <p:spPr>
          <a:xfrm>
            <a:off x="914400" y="4160520"/>
            <a:ext cx="4663440" cy="365760"/>
          </a:xfrm>
          <a:prstGeom prst="rect">
            <a:avLst/>
          </a:prstGeom>
          <a:noFill/>
          <a:ln/>
        </p:spPr>
        <p:txBody>
          <a:bodyPr wrap="square" lIns="0" tIns="0" rIns="0" bIns="0" rtlCol="0" anchor="ctr"/>
          <a:lstStyle/>
          <a:p>
            <a:pPr marL="0" indent="0">
              <a:buNone/>
            </a:pPr>
            <a:r>
              <a:rPr lang="en-US" sz="1700" b="1" dirty="0">
                <a:solidFill>
                  <a:srgbClr val="BC290A"/>
                </a:solidFill>
                <a:latin typeface="Cambria" pitchFamily="34" charset="0"/>
                <a:ea typeface="Cambria" pitchFamily="34" charset="-122"/>
                <a:cs typeface="Cambria" pitchFamily="34" charset="-120"/>
              </a:rPr>
              <a:t>Scrum</a:t>
            </a:r>
            <a:endParaRPr lang="en-US" sz="1700" dirty="0"/>
          </a:p>
        </p:txBody>
      </p:sp>
      <p:sp>
        <p:nvSpPr>
          <p:cNvPr id="17" name="Text 15"/>
          <p:cNvSpPr txBox="1"/>
          <p:nvPr/>
        </p:nvSpPr>
        <p:spPr>
          <a:xfrm>
            <a:off x="914400" y="4572000"/>
            <a:ext cx="4663440" cy="1371600"/>
          </a:xfrm>
          <a:prstGeom prst="rect">
            <a:avLst/>
          </a:prstGeom>
          <a:noFill/>
          <a:ln/>
        </p:spPr>
        <p:txBody>
          <a:bodyPr wrap="square" lIns="0" tIns="0" rIns="0" bIns="0" rtlCol="0" anchor="ctr"/>
          <a:lstStyle/>
          <a:p>
            <a:pPr marL="0" indent="0">
              <a:lnSpc>
                <a:spcPct val="120000"/>
              </a:lnSpc>
              <a:buNone/>
            </a:pPr>
            <a:r>
              <a:rPr lang="en-US" sz="1300" dirty="0">
                <a:solidFill>
                  <a:srgbClr val="2C2624"/>
                </a:solidFill>
                <a:latin typeface="Calibri" pitchFamily="34" charset="0"/>
                <a:ea typeface="Calibri" pitchFamily="34" charset="-122"/>
                <a:cs typeface="Calibri" pitchFamily="34" charset="-120"/>
              </a:rPr>
              <a:t>Framework “volutamente incompleto”. Controllo empirico: trasparenza, ispezione, adattamento. Sprint, team ≤ 10 persone.</a:t>
            </a:r>
            <a:endParaRPr lang="en-US" sz="1300" dirty="0"/>
          </a:p>
        </p:txBody>
      </p:sp>
      <p:sp>
        <p:nvSpPr>
          <p:cNvPr id="18" name="Shape 16"/>
          <p:cNvSpPr/>
          <p:nvPr/>
        </p:nvSpPr>
        <p:spPr>
          <a:xfrm>
            <a:off x="6172200" y="3977640"/>
            <a:ext cx="5212080" cy="2103120"/>
          </a:xfrm>
          <a:prstGeom prst="roundRect">
            <a:avLst>
              <a:gd name="adj" fmla="val 3913"/>
            </a:avLst>
          </a:prstGeom>
          <a:solidFill>
            <a:srgbClr val="FAEEEB"/>
          </a:solidFill>
          <a:ln w="9525">
            <a:solidFill>
              <a:srgbClr val="E7E2DD"/>
            </a:solidFill>
            <a:prstDash val="solid"/>
          </a:ln>
          <a:effectLst>
            <a:outerShdw blurRad="76200" dist="25400" dir="5400000" algn="bl" rotWithShape="0">
              <a:srgbClr val="1A1013">
                <a:alpha val="15000"/>
              </a:srgbClr>
            </a:outerShdw>
          </a:effectLst>
        </p:spPr>
        <p:txBody>
          <a:bodyPr/>
          <a:lstStyle/>
          <a:p>
            <a:endParaRPr lang="it-IT"/>
          </a:p>
        </p:txBody>
      </p:sp>
      <p:sp>
        <p:nvSpPr>
          <p:cNvPr id="19" name="Text 17"/>
          <p:cNvSpPr txBox="1"/>
          <p:nvPr/>
        </p:nvSpPr>
        <p:spPr>
          <a:xfrm>
            <a:off x="6446520" y="4160520"/>
            <a:ext cx="4663440" cy="365760"/>
          </a:xfrm>
          <a:prstGeom prst="rect">
            <a:avLst/>
          </a:prstGeom>
          <a:noFill/>
          <a:ln/>
        </p:spPr>
        <p:txBody>
          <a:bodyPr wrap="square" lIns="0" tIns="0" rIns="0" bIns="0" rtlCol="0" anchor="ctr"/>
          <a:lstStyle/>
          <a:p>
            <a:pPr marL="0" indent="0">
              <a:buNone/>
            </a:pPr>
            <a:r>
              <a:rPr lang="en-US" sz="1700" b="1" dirty="0">
                <a:solidFill>
                  <a:srgbClr val="BC290A"/>
                </a:solidFill>
                <a:latin typeface="Cambria" pitchFamily="34" charset="0"/>
                <a:ea typeface="Cambria" pitchFamily="34" charset="-122"/>
                <a:cs typeface="Cambria" pitchFamily="34" charset="-120"/>
              </a:rPr>
              <a:t>Kanban</a:t>
            </a:r>
            <a:endParaRPr lang="en-US" sz="1700" dirty="0"/>
          </a:p>
        </p:txBody>
      </p:sp>
      <p:sp>
        <p:nvSpPr>
          <p:cNvPr id="20" name="Text 18"/>
          <p:cNvSpPr txBox="1"/>
          <p:nvPr/>
        </p:nvSpPr>
        <p:spPr>
          <a:xfrm>
            <a:off x="6446520" y="4572000"/>
            <a:ext cx="4663440" cy="1371600"/>
          </a:xfrm>
          <a:prstGeom prst="rect">
            <a:avLst/>
          </a:prstGeom>
          <a:noFill/>
          <a:ln/>
        </p:spPr>
        <p:txBody>
          <a:bodyPr wrap="square" lIns="0" tIns="0" rIns="0" bIns="0" rtlCol="0" anchor="ctr"/>
          <a:lstStyle/>
          <a:p>
            <a:pPr marL="0" indent="0">
              <a:lnSpc>
                <a:spcPct val="120000"/>
              </a:lnSpc>
              <a:buNone/>
            </a:pPr>
            <a:r>
              <a:rPr lang="en-US" sz="1300" dirty="0">
                <a:solidFill>
                  <a:srgbClr val="2C2624"/>
                </a:solidFill>
                <a:latin typeface="Calibri" pitchFamily="34" charset="0"/>
                <a:ea typeface="Calibri" pitchFamily="34" charset="-122"/>
                <a:cs typeface="Calibri" pitchFamily="34" charset="-120"/>
              </a:rPr>
              <a:t>Non riorganizza il lavoro: rispetta ruoli e responsabilità esistenti. Principio distintivo: limitare il lavoro in corso per ottimizzare il flusso.</a:t>
            </a:r>
            <a:endParaRPr lang="en-US" sz="1300" dirty="0"/>
          </a:p>
        </p:txBody>
      </p:sp>
      <p:sp>
        <p:nvSpPr>
          <p:cNvPr id="21" name="Text 19"/>
          <p:cNvSpPr txBox="1"/>
          <p:nvPr/>
        </p:nvSpPr>
        <p:spPr>
          <a:xfrm>
            <a:off x="548640" y="6473952"/>
            <a:ext cx="7315200" cy="274320"/>
          </a:xfrm>
          <a:prstGeom prst="rect">
            <a:avLst/>
          </a:prstGeom>
          <a:noFill/>
          <a:ln/>
        </p:spPr>
        <p:txBody>
          <a:bodyPr wrap="square" lIns="0" tIns="0" rIns="0" bIns="0" rtlCol="0" anchor="ctr"/>
          <a:lstStyle/>
          <a:p>
            <a:pPr marL="0" indent="0">
              <a:buNone/>
            </a:pPr>
            <a:r>
              <a:rPr lang="en-US" sz="900" kern="0" spc="120" dirty="0">
                <a:solidFill>
                  <a:srgbClr val="7A756F"/>
                </a:solidFill>
                <a:latin typeface="Calibri" pitchFamily="34" charset="0"/>
                <a:ea typeface="Calibri" pitchFamily="34" charset="-122"/>
                <a:cs typeface="Calibri" pitchFamily="34" charset="-120"/>
              </a:rPr>
              <a:t>APPROCCI AGILE</a:t>
            </a:r>
            <a:endParaRPr lang="en-US" sz="900" dirty="0"/>
          </a:p>
        </p:txBody>
      </p:sp>
      <p:sp>
        <p:nvSpPr>
          <p:cNvPr id="22" name="Text 20"/>
          <p:cNvSpPr txBox="1"/>
          <p:nvPr/>
        </p:nvSpPr>
        <p:spPr>
          <a:xfrm>
            <a:off x="11277295" y="6473952"/>
            <a:ext cx="457200" cy="274320"/>
          </a:xfrm>
          <a:prstGeom prst="rect">
            <a:avLst/>
          </a:prstGeom>
          <a:noFill/>
          <a:ln/>
        </p:spPr>
        <p:txBody>
          <a:bodyPr wrap="square" lIns="0" tIns="0" rIns="0" bIns="0" rtlCol="0" anchor="ctr"/>
          <a:lstStyle/>
          <a:p>
            <a:pPr marL="0" indent="0" algn="r">
              <a:buNone/>
            </a:pPr>
            <a:r>
              <a:rPr lang="en-US" sz="900" dirty="0">
                <a:solidFill>
                  <a:srgbClr val="BC290A"/>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48640" y="457200"/>
            <a:ext cx="10515600" cy="320040"/>
          </a:xfrm>
          <a:prstGeom prst="rect">
            <a:avLst/>
          </a:prstGeom>
          <a:noFill/>
          <a:ln/>
        </p:spPr>
        <p:txBody>
          <a:bodyPr wrap="square" lIns="0" tIns="0" rIns="0" bIns="0" rtlCol="0" anchor="ctr"/>
          <a:lstStyle/>
          <a:p>
            <a:pPr marL="0" indent="0">
              <a:buNone/>
            </a:pPr>
            <a:r>
              <a:rPr lang="en-US" sz="1300" b="1" kern="0" spc="150" dirty="0">
                <a:solidFill>
                  <a:srgbClr val="7A756F"/>
                </a:solidFill>
                <a:latin typeface="Calibri" pitchFamily="34" charset="0"/>
                <a:ea typeface="Calibri" pitchFamily="34" charset="-122"/>
                <a:cs typeface="Calibri" pitchFamily="34" charset="-120"/>
              </a:rPr>
              <a:t>CAPITOLO 2 · APPROCCI AGILE</a:t>
            </a:r>
            <a:endParaRPr lang="en-US" sz="1300" dirty="0"/>
          </a:p>
        </p:txBody>
      </p:sp>
      <p:sp>
        <p:nvSpPr>
          <p:cNvPr id="3" name="Text 1"/>
          <p:cNvSpPr txBox="1"/>
          <p:nvPr/>
        </p:nvSpPr>
        <p:spPr>
          <a:xfrm>
            <a:off x="548640" y="749808"/>
            <a:ext cx="11064240" cy="868680"/>
          </a:xfrm>
          <a:prstGeom prst="rect">
            <a:avLst/>
          </a:prstGeom>
          <a:noFill/>
          <a:ln/>
        </p:spPr>
        <p:txBody>
          <a:bodyPr wrap="square" lIns="0" tIns="0" rIns="0" bIns="0" rtlCol="0" anchor="t"/>
          <a:lstStyle/>
          <a:p>
            <a:pPr marL="0" indent="0">
              <a:lnSpc>
                <a:spcPct val="102000"/>
              </a:lnSpc>
              <a:buNone/>
            </a:pPr>
            <a:r>
              <a:rPr lang="en-US" sz="3000" b="1" dirty="0">
                <a:solidFill>
                  <a:srgbClr val="BC290A"/>
                </a:solidFill>
                <a:latin typeface="Cambria" pitchFamily="34" charset="0"/>
                <a:ea typeface="Cambria" pitchFamily="34" charset="-122"/>
                <a:cs typeface="Cambria" pitchFamily="34" charset="-120"/>
              </a:rPr>
              <a:t>La scala: due risposte opposte</a:t>
            </a:r>
            <a:endParaRPr lang="en-US" sz="3000" dirty="0"/>
          </a:p>
        </p:txBody>
      </p:sp>
      <p:sp>
        <p:nvSpPr>
          <p:cNvPr id="4" name="Text 2"/>
          <p:cNvSpPr txBox="1"/>
          <p:nvPr/>
        </p:nvSpPr>
        <p:spPr>
          <a:xfrm>
            <a:off x="640080" y="2011680"/>
            <a:ext cx="10881360" cy="457200"/>
          </a:xfrm>
          <a:prstGeom prst="rect">
            <a:avLst/>
          </a:prstGeom>
          <a:noFill/>
          <a:ln/>
        </p:spPr>
        <p:txBody>
          <a:bodyPr wrap="square" lIns="0" tIns="0" rIns="0" bIns="0" rtlCol="0" anchor="ctr"/>
          <a:lstStyle/>
          <a:p>
            <a:pPr marL="0" indent="0">
              <a:buNone/>
            </a:pPr>
            <a:r>
              <a:rPr lang="en-US" sz="1500" i="1" dirty="0">
                <a:solidFill>
                  <a:srgbClr val="5B5350"/>
                </a:solidFill>
                <a:latin typeface="Calibri" pitchFamily="34" charset="0"/>
                <a:ea typeface="Calibri" pitchFamily="34" charset="-122"/>
                <a:cs typeface="Calibri" pitchFamily="34" charset="-120"/>
              </a:rPr>
              <a:t>I principi del Manifesto valgono per un singolo team: nessuno dice come coordinarne molti.</a:t>
            </a:r>
            <a:endParaRPr lang="en-US" sz="1500" dirty="0"/>
          </a:p>
        </p:txBody>
      </p:sp>
      <p:sp>
        <p:nvSpPr>
          <p:cNvPr id="5" name="Shape 3"/>
          <p:cNvSpPr/>
          <p:nvPr/>
        </p:nvSpPr>
        <p:spPr>
          <a:xfrm>
            <a:off x="640080" y="2651760"/>
            <a:ext cx="5212080" cy="3017520"/>
          </a:xfrm>
          <a:prstGeom prst="roundRect">
            <a:avLst>
              <a:gd name="adj" fmla="val 2727"/>
            </a:avLst>
          </a:prstGeom>
          <a:solidFill>
            <a:srgbClr val="BC290A"/>
          </a:solidFill>
          <a:ln/>
          <a:effectLst>
            <a:outerShdw blurRad="76200" dist="25400" dir="5400000" algn="bl" rotWithShape="0">
              <a:srgbClr val="1A1013">
                <a:alpha val="15000"/>
              </a:srgbClr>
            </a:outerShdw>
          </a:effectLst>
        </p:spPr>
        <p:txBody>
          <a:bodyPr/>
          <a:lstStyle/>
          <a:p>
            <a:endParaRPr lang="it-IT"/>
          </a:p>
        </p:txBody>
      </p:sp>
      <p:sp>
        <p:nvSpPr>
          <p:cNvPr id="6" name="Text 4"/>
          <p:cNvSpPr txBox="1"/>
          <p:nvPr/>
        </p:nvSpPr>
        <p:spPr>
          <a:xfrm>
            <a:off x="914400" y="2834640"/>
            <a:ext cx="4663440" cy="457200"/>
          </a:xfrm>
          <a:prstGeom prst="rect">
            <a:avLst/>
          </a:prstGeom>
          <a:noFill/>
          <a:ln/>
        </p:spPr>
        <p:txBody>
          <a:bodyPr wrap="square" lIns="0" tIns="0" rIns="0" bIns="0" rtlCol="0" anchor="ctr"/>
          <a:lstStyle/>
          <a:p>
            <a:pPr marL="0" indent="0">
              <a:buNone/>
            </a:pPr>
            <a:r>
              <a:rPr lang="en-US" sz="2200" b="1" dirty="0">
                <a:solidFill>
                  <a:srgbClr val="FFFFFF"/>
                </a:solidFill>
                <a:latin typeface="Cambria" pitchFamily="34" charset="0"/>
                <a:ea typeface="Cambria" pitchFamily="34" charset="-122"/>
                <a:cs typeface="Cambria" pitchFamily="34" charset="-120"/>
              </a:rPr>
              <a:t>SAFe</a:t>
            </a:r>
            <a:endParaRPr lang="en-US" sz="2200" dirty="0"/>
          </a:p>
        </p:txBody>
      </p:sp>
      <p:sp>
        <p:nvSpPr>
          <p:cNvPr id="7" name="Text 5"/>
          <p:cNvSpPr txBox="1"/>
          <p:nvPr/>
        </p:nvSpPr>
        <p:spPr>
          <a:xfrm>
            <a:off x="914400" y="3273552"/>
            <a:ext cx="4663440" cy="320040"/>
          </a:xfrm>
          <a:prstGeom prst="rect">
            <a:avLst/>
          </a:prstGeom>
          <a:noFill/>
          <a:ln/>
        </p:spPr>
        <p:txBody>
          <a:bodyPr wrap="square" lIns="0" tIns="0" rIns="0" bIns="0" rtlCol="0" anchor="ctr"/>
          <a:lstStyle/>
          <a:p>
            <a:pPr marL="0" indent="0">
              <a:buNone/>
            </a:pPr>
            <a:r>
              <a:rPr lang="en-US" sz="1200" i="1" dirty="0">
                <a:solidFill>
                  <a:srgbClr val="F3DCD3"/>
                </a:solidFill>
                <a:latin typeface="Calibri" pitchFamily="34" charset="0"/>
                <a:ea typeface="Calibri" pitchFamily="34" charset="-122"/>
                <a:cs typeface="Calibri" pitchFamily="34" charset="-120"/>
              </a:rPr>
              <a:t>Scaled Agile Framework</a:t>
            </a:r>
            <a:endParaRPr lang="en-US" sz="1200" dirty="0"/>
          </a:p>
        </p:txBody>
      </p:sp>
      <p:sp>
        <p:nvSpPr>
          <p:cNvPr id="8" name="Text 6"/>
          <p:cNvSpPr txBox="1"/>
          <p:nvPr/>
        </p:nvSpPr>
        <p:spPr>
          <a:xfrm>
            <a:off x="914400" y="3703320"/>
            <a:ext cx="4663440" cy="640080"/>
          </a:xfrm>
          <a:prstGeom prst="rect">
            <a:avLst/>
          </a:prstGeom>
          <a:noFill/>
          <a:ln/>
        </p:spPr>
        <p:txBody>
          <a:bodyPr wrap="square" lIns="0" tIns="0" rIns="0" bIns="0" rtlCol="0" anchor="ctr"/>
          <a:lstStyle/>
          <a:p>
            <a:pPr marL="0" indent="0">
              <a:lnSpc>
                <a:spcPct val="120000"/>
              </a:lnSpc>
              <a:buNone/>
            </a:pPr>
            <a:r>
              <a:rPr lang="en-US" sz="1350" dirty="0">
                <a:solidFill>
                  <a:srgbClr val="FFFFFF"/>
                </a:solidFill>
                <a:latin typeface="Calibri" pitchFamily="34" charset="0"/>
                <a:ea typeface="Calibri" pitchFamily="34" charset="-122"/>
                <a:cs typeface="Calibri" pitchFamily="34" charset="-120"/>
              </a:rPr>
              <a:t>Aggiunge struttura: livelli, ruoli e momenti di sincronizzazione.</a:t>
            </a:r>
            <a:endParaRPr lang="en-US" sz="1350" dirty="0"/>
          </a:p>
        </p:txBody>
      </p:sp>
      <p:sp>
        <p:nvSpPr>
          <p:cNvPr id="9" name="Shape 7"/>
          <p:cNvSpPr/>
          <p:nvPr/>
        </p:nvSpPr>
        <p:spPr>
          <a:xfrm>
            <a:off x="6355080" y="2651760"/>
            <a:ext cx="5212080" cy="3017520"/>
          </a:xfrm>
          <a:prstGeom prst="roundRect">
            <a:avLst>
              <a:gd name="adj" fmla="val 2727"/>
            </a:avLst>
          </a:prstGeom>
          <a:solidFill>
            <a:srgbClr val="FAEEEB"/>
          </a:solidFill>
          <a:ln w="9525">
            <a:solidFill>
              <a:srgbClr val="E7E2DD"/>
            </a:solidFill>
            <a:prstDash val="solid"/>
          </a:ln>
          <a:effectLst>
            <a:outerShdw blurRad="76200" dist="25400" dir="5400000" algn="bl" rotWithShape="0">
              <a:srgbClr val="1A1013">
                <a:alpha val="15000"/>
              </a:srgbClr>
            </a:outerShdw>
          </a:effectLst>
        </p:spPr>
        <p:txBody>
          <a:bodyPr/>
          <a:lstStyle/>
          <a:p>
            <a:endParaRPr lang="it-IT"/>
          </a:p>
        </p:txBody>
      </p:sp>
      <p:sp>
        <p:nvSpPr>
          <p:cNvPr id="10" name="Text 8"/>
          <p:cNvSpPr txBox="1"/>
          <p:nvPr/>
        </p:nvSpPr>
        <p:spPr>
          <a:xfrm>
            <a:off x="6629400" y="2834640"/>
            <a:ext cx="4663440" cy="457200"/>
          </a:xfrm>
          <a:prstGeom prst="rect">
            <a:avLst/>
          </a:prstGeom>
          <a:noFill/>
          <a:ln/>
        </p:spPr>
        <p:txBody>
          <a:bodyPr wrap="square" lIns="0" tIns="0" rIns="0" bIns="0" rtlCol="0" anchor="ctr"/>
          <a:lstStyle/>
          <a:p>
            <a:pPr marL="0" indent="0">
              <a:buNone/>
            </a:pPr>
            <a:r>
              <a:rPr lang="en-US" sz="2200" b="1" dirty="0">
                <a:solidFill>
                  <a:srgbClr val="BC290A"/>
                </a:solidFill>
                <a:latin typeface="Cambria" pitchFamily="34" charset="0"/>
                <a:ea typeface="Cambria" pitchFamily="34" charset="-122"/>
                <a:cs typeface="Cambria" pitchFamily="34" charset="-120"/>
              </a:rPr>
              <a:t>LeSS</a:t>
            </a:r>
            <a:endParaRPr lang="en-US" sz="2200" dirty="0"/>
          </a:p>
        </p:txBody>
      </p:sp>
      <p:sp>
        <p:nvSpPr>
          <p:cNvPr id="11" name="Text 9"/>
          <p:cNvSpPr txBox="1"/>
          <p:nvPr/>
        </p:nvSpPr>
        <p:spPr>
          <a:xfrm>
            <a:off x="6629400" y="3273552"/>
            <a:ext cx="4663440" cy="320040"/>
          </a:xfrm>
          <a:prstGeom prst="rect">
            <a:avLst/>
          </a:prstGeom>
          <a:noFill/>
          <a:ln/>
        </p:spPr>
        <p:txBody>
          <a:bodyPr wrap="square" lIns="0" tIns="0" rIns="0" bIns="0" rtlCol="0" anchor="ctr"/>
          <a:lstStyle/>
          <a:p>
            <a:pPr marL="0" indent="0">
              <a:buNone/>
            </a:pPr>
            <a:r>
              <a:rPr lang="en-US" sz="1200" i="1" dirty="0">
                <a:solidFill>
                  <a:srgbClr val="5B5350"/>
                </a:solidFill>
                <a:latin typeface="Calibri" pitchFamily="34" charset="0"/>
                <a:ea typeface="Calibri" pitchFamily="34" charset="-122"/>
                <a:cs typeface="Calibri" pitchFamily="34" charset="-120"/>
              </a:rPr>
              <a:t>Large Scale Scrum</a:t>
            </a:r>
            <a:endParaRPr lang="en-US" sz="1200" dirty="0"/>
          </a:p>
        </p:txBody>
      </p:sp>
      <p:sp>
        <p:nvSpPr>
          <p:cNvPr id="12" name="Text 10"/>
          <p:cNvSpPr txBox="1"/>
          <p:nvPr/>
        </p:nvSpPr>
        <p:spPr>
          <a:xfrm>
            <a:off x="6629400" y="3703320"/>
            <a:ext cx="4663440" cy="640080"/>
          </a:xfrm>
          <a:prstGeom prst="rect">
            <a:avLst/>
          </a:prstGeom>
          <a:noFill/>
          <a:ln/>
        </p:spPr>
        <p:txBody>
          <a:bodyPr wrap="square" lIns="0" tIns="0" rIns="0" bIns="0" rtlCol="0" anchor="ctr"/>
          <a:lstStyle/>
          <a:p>
            <a:pPr marL="0" indent="0">
              <a:lnSpc>
                <a:spcPct val="120000"/>
              </a:lnSpc>
              <a:buNone/>
            </a:pPr>
            <a:r>
              <a:rPr lang="en-US" sz="1350" dirty="0">
                <a:solidFill>
                  <a:srgbClr val="2C2624"/>
                </a:solidFill>
                <a:latin typeface="Calibri" pitchFamily="34" charset="0"/>
                <a:ea typeface="Calibri" pitchFamily="34" charset="-122"/>
                <a:cs typeface="Calibri" pitchFamily="34" charset="-120"/>
              </a:rPr>
              <a:t>Toglie struttura: conserva il più possibile Scrum a team singolo.</a:t>
            </a:r>
            <a:endParaRPr lang="en-US" sz="1350" dirty="0"/>
          </a:p>
        </p:txBody>
      </p:sp>
      <p:sp>
        <p:nvSpPr>
          <p:cNvPr id="13" name="Text 11"/>
          <p:cNvSpPr txBox="1"/>
          <p:nvPr/>
        </p:nvSpPr>
        <p:spPr>
          <a:xfrm>
            <a:off x="548640" y="6473952"/>
            <a:ext cx="7315200" cy="274320"/>
          </a:xfrm>
          <a:prstGeom prst="rect">
            <a:avLst/>
          </a:prstGeom>
          <a:noFill/>
          <a:ln/>
        </p:spPr>
        <p:txBody>
          <a:bodyPr wrap="square" lIns="0" tIns="0" rIns="0" bIns="0" rtlCol="0" anchor="ctr"/>
          <a:lstStyle/>
          <a:p>
            <a:pPr marL="0" indent="0">
              <a:buNone/>
            </a:pPr>
            <a:r>
              <a:rPr lang="en-US" sz="900" kern="0" spc="120" dirty="0">
                <a:solidFill>
                  <a:srgbClr val="7A756F"/>
                </a:solidFill>
                <a:latin typeface="Calibri" pitchFamily="34" charset="0"/>
                <a:ea typeface="Calibri" pitchFamily="34" charset="-122"/>
                <a:cs typeface="Calibri" pitchFamily="34" charset="-120"/>
              </a:rPr>
              <a:t>APPROCCI AGILE</a:t>
            </a:r>
            <a:endParaRPr lang="en-US" sz="900" dirty="0"/>
          </a:p>
        </p:txBody>
      </p:sp>
      <p:sp>
        <p:nvSpPr>
          <p:cNvPr id="14" name="Text 12"/>
          <p:cNvSpPr txBox="1"/>
          <p:nvPr/>
        </p:nvSpPr>
        <p:spPr>
          <a:xfrm>
            <a:off x="11277295" y="6473952"/>
            <a:ext cx="457200" cy="274320"/>
          </a:xfrm>
          <a:prstGeom prst="rect">
            <a:avLst/>
          </a:prstGeom>
          <a:noFill/>
          <a:ln/>
        </p:spPr>
        <p:txBody>
          <a:bodyPr wrap="square" lIns="0" tIns="0" rIns="0" bIns="0" rtlCol="0" anchor="ctr"/>
          <a:lstStyle/>
          <a:p>
            <a:pPr marL="0" indent="0" algn="r">
              <a:buNone/>
            </a:pPr>
            <a:r>
              <a:rPr lang="en-US" sz="900" dirty="0">
                <a:solidFill>
                  <a:srgbClr val="BC290A"/>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48640" y="457200"/>
            <a:ext cx="10515600" cy="320040"/>
          </a:xfrm>
          <a:prstGeom prst="rect">
            <a:avLst/>
          </a:prstGeom>
          <a:noFill/>
          <a:ln/>
        </p:spPr>
        <p:txBody>
          <a:bodyPr wrap="square" lIns="0" tIns="0" rIns="0" bIns="0" rtlCol="0" anchor="ctr"/>
          <a:lstStyle/>
          <a:p>
            <a:pPr marL="0" indent="0">
              <a:buNone/>
            </a:pPr>
            <a:r>
              <a:rPr lang="en-US" sz="1300" b="1" kern="0" spc="150" dirty="0">
                <a:solidFill>
                  <a:srgbClr val="7A756F"/>
                </a:solidFill>
                <a:latin typeface="Calibri" pitchFamily="34" charset="0"/>
                <a:ea typeface="Calibri" pitchFamily="34" charset="-122"/>
                <a:cs typeface="Calibri" pitchFamily="34" charset="-120"/>
              </a:rPr>
              <a:t>CAPITOLO 2 · APPROCCI AGILE</a:t>
            </a:r>
            <a:endParaRPr lang="en-US" sz="1300" dirty="0"/>
          </a:p>
        </p:txBody>
      </p:sp>
      <p:sp>
        <p:nvSpPr>
          <p:cNvPr id="3" name="Text 1"/>
          <p:cNvSpPr txBox="1"/>
          <p:nvPr/>
        </p:nvSpPr>
        <p:spPr>
          <a:xfrm>
            <a:off x="548640" y="749808"/>
            <a:ext cx="11064240" cy="868680"/>
          </a:xfrm>
          <a:prstGeom prst="rect">
            <a:avLst/>
          </a:prstGeom>
          <a:noFill/>
          <a:ln/>
        </p:spPr>
        <p:txBody>
          <a:bodyPr wrap="square" lIns="0" tIns="0" rIns="0" bIns="0" rtlCol="0" anchor="t"/>
          <a:lstStyle/>
          <a:p>
            <a:pPr marL="0" indent="0">
              <a:lnSpc>
                <a:spcPct val="102000"/>
              </a:lnSpc>
              <a:buNone/>
            </a:pPr>
            <a:r>
              <a:rPr lang="en-US" sz="3000" b="1" dirty="0">
                <a:solidFill>
                  <a:srgbClr val="BC290A"/>
                </a:solidFill>
                <a:latin typeface="Cambria" pitchFamily="34" charset="0"/>
                <a:ea typeface="Cambria" pitchFamily="34" charset="-122"/>
                <a:cs typeface="Cambria" pitchFamily="34" charset="-120"/>
              </a:rPr>
              <a:t>Le funzioni del project manager, ridistribuite</a:t>
            </a:r>
            <a:endParaRPr lang="en-US" sz="3000" dirty="0"/>
          </a:p>
        </p:txBody>
      </p:sp>
      <p:sp>
        <p:nvSpPr>
          <p:cNvPr id="4" name="Shape 2"/>
          <p:cNvSpPr/>
          <p:nvPr/>
        </p:nvSpPr>
        <p:spPr>
          <a:xfrm>
            <a:off x="640080" y="2103120"/>
            <a:ext cx="5257800" cy="3200400"/>
          </a:xfrm>
          <a:prstGeom prst="roundRect">
            <a:avLst>
              <a:gd name="adj" fmla="val 2571"/>
            </a:avLst>
          </a:prstGeom>
          <a:solidFill>
            <a:srgbClr val="FAEEEB"/>
          </a:solidFill>
          <a:ln w="9525">
            <a:solidFill>
              <a:srgbClr val="E7E2DD"/>
            </a:solidFill>
            <a:prstDash val="solid"/>
          </a:ln>
          <a:effectLst>
            <a:outerShdw blurRad="76200" dist="25400" dir="5400000" algn="bl" rotWithShape="0">
              <a:srgbClr val="1A1013">
                <a:alpha val="15000"/>
              </a:srgbClr>
            </a:outerShdw>
          </a:effectLst>
        </p:spPr>
        <p:txBody>
          <a:bodyPr/>
          <a:lstStyle/>
          <a:p>
            <a:endParaRPr lang="it-IT"/>
          </a:p>
        </p:txBody>
      </p:sp>
      <p:sp>
        <p:nvSpPr>
          <p:cNvPr id="5" name="Text 3"/>
          <p:cNvSpPr txBox="1"/>
          <p:nvPr/>
        </p:nvSpPr>
        <p:spPr>
          <a:xfrm>
            <a:off x="914400" y="2286000"/>
            <a:ext cx="4754880" cy="320040"/>
          </a:xfrm>
          <a:prstGeom prst="rect">
            <a:avLst/>
          </a:prstGeom>
          <a:noFill/>
          <a:ln/>
        </p:spPr>
        <p:txBody>
          <a:bodyPr wrap="square" lIns="0" tIns="0" rIns="0" bIns="0" rtlCol="0" anchor="ctr"/>
          <a:lstStyle/>
          <a:p>
            <a:pPr marL="0" indent="0">
              <a:buNone/>
            </a:pPr>
            <a:r>
              <a:rPr lang="en-US" sz="1250" b="1" kern="0" spc="100" dirty="0">
                <a:solidFill>
                  <a:srgbClr val="7A756F"/>
                </a:solidFill>
                <a:latin typeface="Calibri" pitchFamily="34" charset="0"/>
                <a:ea typeface="Calibri" pitchFamily="34" charset="-122"/>
                <a:cs typeface="Calibri" pitchFamily="34" charset="-120"/>
              </a:rPr>
              <a:t>Nei testi agile</a:t>
            </a:r>
            <a:endParaRPr lang="en-US" sz="1250" dirty="0"/>
          </a:p>
        </p:txBody>
      </p:sp>
      <p:sp>
        <p:nvSpPr>
          <p:cNvPr id="6" name="Text 4"/>
          <p:cNvSpPr txBox="1"/>
          <p:nvPr/>
        </p:nvSpPr>
        <p:spPr>
          <a:xfrm>
            <a:off x="914400" y="2697480"/>
            <a:ext cx="4754880" cy="594360"/>
          </a:xfrm>
          <a:prstGeom prst="rect">
            <a:avLst/>
          </a:prstGeom>
          <a:noFill/>
          <a:ln/>
        </p:spPr>
        <p:txBody>
          <a:bodyPr wrap="square" lIns="0" tIns="0" rIns="0" bIns="0" rtlCol="0" anchor="ctr"/>
          <a:lstStyle/>
          <a:p>
            <a:pPr marL="0" indent="0">
              <a:lnSpc>
                <a:spcPct val="115000"/>
              </a:lnSpc>
              <a:buNone/>
            </a:pPr>
            <a:r>
              <a:rPr lang="en-US" sz="1300" dirty="0">
                <a:solidFill>
                  <a:srgbClr val="2C2624"/>
                </a:solidFill>
                <a:latin typeface="Calibri" pitchFamily="34" charset="0"/>
                <a:ea typeface="Calibri" pitchFamily="34" charset="-122"/>
                <a:cs typeface="Calibri" pitchFamily="34" charset="-120"/>
              </a:rPr>
              <a:t>–  Il Manifesto non nomina mai il project manager</a:t>
            </a:r>
            <a:endParaRPr lang="en-US" sz="1300" dirty="0"/>
          </a:p>
        </p:txBody>
      </p:sp>
      <p:sp>
        <p:nvSpPr>
          <p:cNvPr id="7" name="Text 5"/>
          <p:cNvSpPr txBox="1"/>
          <p:nvPr/>
        </p:nvSpPr>
        <p:spPr>
          <a:xfrm>
            <a:off x="914400" y="3383280"/>
            <a:ext cx="4754880" cy="594360"/>
          </a:xfrm>
          <a:prstGeom prst="rect">
            <a:avLst/>
          </a:prstGeom>
          <a:noFill/>
          <a:ln/>
        </p:spPr>
        <p:txBody>
          <a:bodyPr wrap="square" lIns="0" tIns="0" rIns="0" bIns="0" rtlCol="0" anchor="ctr"/>
          <a:lstStyle/>
          <a:p>
            <a:pPr marL="0" indent="0">
              <a:lnSpc>
                <a:spcPct val="115000"/>
              </a:lnSpc>
              <a:buNone/>
            </a:pPr>
            <a:r>
              <a:rPr lang="en-US" sz="1300" dirty="0">
                <a:solidFill>
                  <a:srgbClr val="2C2624"/>
                </a:solidFill>
                <a:latin typeface="Calibri" pitchFamily="34" charset="0"/>
                <a:ea typeface="Calibri" pitchFamily="34" charset="-122"/>
                <a:cs typeface="Calibri" pitchFamily="34" charset="-120"/>
              </a:rPr>
              <a:t>–  La Scrum Guide definisce 3 responsabilità: nessuna è un PM</a:t>
            </a:r>
            <a:endParaRPr lang="en-US" sz="1300" dirty="0"/>
          </a:p>
        </p:txBody>
      </p:sp>
      <p:sp>
        <p:nvSpPr>
          <p:cNvPr id="8" name="Text 6"/>
          <p:cNvSpPr txBox="1"/>
          <p:nvPr/>
        </p:nvSpPr>
        <p:spPr>
          <a:xfrm>
            <a:off x="914400" y="4069080"/>
            <a:ext cx="4754880" cy="594360"/>
          </a:xfrm>
          <a:prstGeom prst="rect">
            <a:avLst/>
          </a:prstGeom>
          <a:noFill/>
          <a:ln/>
        </p:spPr>
        <p:txBody>
          <a:bodyPr wrap="square" lIns="0" tIns="0" rIns="0" bIns="0" rtlCol="0" anchor="ctr"/>
          <a:lstStyle/>
          <a:p>
            <a:pPr marL="0" indent="0">
              <a:lnSpc>
                <a:spcPct val="115000"/>
              </a:lnSpc>
              <a:buNone/>
            </a:pPr>
            <a:r>
              <a:rPr lang="en-US" sz="1300" dirty="0">
                <a:solidFill>
                  <a:srgbClr val="2C2624"/>
                </a:solidFill>
                <a:latin typeface="Calibri" pitchFamily="34" charset="0"/>
                <a:ea typeface="Calibri" pitchFamily="34" charset="-122"/>
                <a:cs typeface="Calibri" pitchFamily="34" charset="-120"/>
              </a:rPr>
              <a:t>–  Kanban rispetta semplicemente ruoli già esistenti</a:t>
            </a:r>
            <a:endParaRPr lang="en-US" sz="1300" dirty="0"/>
          </a:p>
        </p:txBody>
      </p:sp>
      <p:sp>
        <p:nvSpPr>
          <p:cNvPr id="9" name="Shape 7"/>
          <p:cNvSpPr/>
          <p:nvPr/>
        </p:nvSpPr>
        <p:spPr>
          <a:xfrm>
            <a:off x="6263640" y="2103120"/>
            <a:ext cx="5257800" cy="3200400"/>
          </a:xfrm>
          <a:prstGeom prst="roundRect">
            <a:avLst>
              <a:gd name="adj" fmla="val 2571"/>
            </a:avLst>
          </a:prstGeom>
          <a:solidFill>
            <a:srgbClr val="BC290A"/>
          </a:solidFill>
          <a:ln/>
          <a:effectLst>
            <a:outerShdw blurRad="76200" dist="25400" dir="5400000" algn="bl" rotWithShape="0">
              <a:srgbClr val="1A1013">
                <a:alpha val="15000"/>
              </a:srgbClr>
            </a:outerShdw>
          </a:effectLst>
        </p:spPr>
        <p:txBody>
          <a:bodyPr/>
          <a:lstStyle/>
          <a:p>
            <a:endParaRPr lang="it-IT"/>
          </a:p>
        </p:txBody>
      </p:sp>
      <p:sp>
        <p:nvSpPr>
          <p:cNvPr id="10" name="Text 8"/>
          <p:cNvSpPr txBox="1"/>
          <p:nvPr/>
        </p:nvSpPr>
        <p:spPr>
          <a:xfrm>
            <a:off x="6537960" y="2286000"/>
            <a:ext cx="4754880" cy="320040"/>
          </a:xfrm>
          <a:prstGeom prst="rect">
            <a:avLst/>
          </a:prstGeom>
          <a:noFill/>
          <a:ln/>
        </p:spPr>
        <p:txBody>
          <a:bodyPr wrap="square" lIns="0" tIns="0" rIns="0" bIns="0" rtlCol="0" anchor="ctr"/>
          <a:lstStyle/>
          <a:p>
            <a:pPr marL="0" indent="0">
              <a:buNone/>
            </a:pPr>
            <a:r>
              <a:rPr lang="en-US" sz="1250" b="1" kern="0" spc="100" dirty="0">
                <a:solidFill>
                  <a:srgbClr val="F3DCD3"/>
                </a:solidFill>
                <a:latin typeface="Calibri" pitchFamily="34" charset="0"/>
                <a:ea typeface="Calibri" pitchFamily="34" charset="-122"/>
                <a:cs typeface="Calibri" pitchFamily="34" charset="-120"/>
              </a:rPr>
              <a:t>Funzioni senza titolare</a:t>
            </a:r>
            <a:endParaRPr lang="en-US" sz="1250" dirty="0"/>
          </a:p>
        </p:txBody>
      </p:sp>
      <p:sp>
        <p:nvSpPr>
          <p:cNvPr id="11" name="Text 9"/>
          <p:cNvSpPr txBox="1"/>
          <p:nvPr/>
        </p:nvSpPr>
        <p:spPr>
          <a:xfrm>
            <a:off x="6537960" y="2697480"/>
            <a:ext cx="4754880" cy="457200"/>
          </a:xfrm>
          <a:prstGeom prst="rect">
            <a:avLst/>
          </a:prstGeom>
          <a:noFill/>
          <a:ln/>
        </p:spPr>
        <p:txBody>
          <a:bodyPr wrap="square" lIns="0" tIns="0" rIns="0" bIns="0"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  Gestione del rischio</a:t>
            </a:r>
            <a:endParaRPr lang="en-US" sz="1350" dirty="0"/>
          </a:p>
        </p:txBody>
      </p:sp>
      <p:sp>
        <p:nvSpPr>
          <p:cNvPr id="12" name="Text 10"/>
          <p:cNvSpPr txBox="1"/>
          <p:nvPr/>
        </p:nvSpPr>
        <p:spPr>
          <a:xfrm>
            <a:off x="6537960" y="3200400"/>
            <a:ext cx="4754880" cy="457200"/>
          </a:xfrm>
          <a:prstGeom prst="rect">
            <a:avLst/>
          </a:prstGeom>
          <a:noFill/>
          <a:ln/>
        </p:spPr>
        <p:txBody>
          <a:bodyPr wrap="square" lIns="0" tIns="0" rIns="0" bIns="0"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  Rivalidazione periodica dell'investimento</a:t>
            </a:r>
            <a:endParaRPr lang="en-US" sz="1350" dirty="0"/>
          </a:p>
        </p:txBody>
      </p:sp>
      <p:sp>
        <p:nvSpPr>
          <p:cNvPr id="13" name="Text 11"/>
          <p:cNvSpPr txBox="1"/>
          <p:nvPr/>
        </p:nvSpPr>
        <p:spPr>
          <a:xfrm>
            <a:off x="6537960" y="3703320"/>
            <a:ext cx="4754880" cy="457200"/>
          </a:xfrm>
          <a:prstGeom prst="rect">
            <a:avLst/>
          </a:prstGeom>
          <a:noFill/>
          <a:ln/>
        </p:spPr>
        <p:txBody>
          <a:bodyPr wrap="square" lIns="0" tIns="0" rIns="0" bIns="0"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  Dipendenze e conformità fra più team</a:t>
            </a:r>
            <a:endParaRPr lang="en-US" sz="1350" dirty="0"/>
          </a:p>
        </p:txBody>
      </p:sp>
      <p:sp>
        <p:nvSpPr>
          <p:cNvPr id="14" name="Text 12"/>
          <p:cNvSpPr txBox="1"/>
          <p:nvPr/>
        </p:nvSpPr>
        <p:spPr>
          <a:xfrm>
            <a:off x="6537960" y="4343400"/>
            <a:ext cx="4754880" cy="822960"/>
          </a:xfrm>
          <a:prstGeom prst="rect">
            <a:avLst/>
          </a:prstGeom>
          <a:noFill/>
          <a:ln/>
        </p:spPr>
        <p:txBody>
          <a:bodyPr wrap="square" lIns="0" tIns="0" rIns="0" bIns="0" rtlCol="0" anchor="ctr"/>
          <a:lstStyle/>
          <a:p>
            <a:pPr marL="0" indent="0">
              <a:lnSpc>
                <a:spcPct val="120000"/>
              </a:lnSpc>
              <a:buNone/>
            </a:pPr>
            <a:r>
              <a:rPr lang="en-US" sz="1250" i="1" dirty="0">
                <a:solidFill>
                  <a:srgbClr val="F3DCD3"/>
                </a:solidFill>
                <a:latin typeface="Calibri" pitchFamily="34" charset="0"/>
                <a:ea typeface="Calibri" pitchFamily="34" charset="-122"/>
                <a:cs typeface="Calibri" pitchFamily="34" charset="-120"/>
              </a:rPr>
              <a:t>L'Agile Practice Guide (PMI) le riassegna proprio al project manager.</a:t>
            </a:r>
            <a:endParaRPr lang="en-US" sz="1250" dirty="0"/>
          </a:p>
        </p:txBody>
      </p:sp>
      <p:sp>
        <p:nvSpPr>
          <p:cNvPr id="15" name="Text 13"/>
          <p:cNvSpPr txBox="1"/>
          <p:nvPr/>
        </p:nvSpPr>
        <p:spPr>
          <a:xfrm>
            <a:off x="640080" y="5532120"/>
            <a:ext cx="10881360" cy="502920"/>
          </a:xfrm>
          <a:prstGeom prst="rect">
            <a:avLst/>
          </a:prstGeom>
          <a:noFill/>
          <a:ln/>
        </p:spPr>
        <p:txBody>
          <a:bodyPr wrap="square" lIns="0" tIns="0" rIns="0" bIns="0" rtlCol="0" anchor="ctr"/>
          <a:lstStyle/>
          <a:p>
            <a:pPr marL="0" indent="0" algn="ctr">
              <a:buNone/>
            </a:pPr>
            <a:r>
              <a:rPr lang="en-US" sz="1400" b="1" i="1" dirty="0">
                <a:solidFill>
                  <a:srgbClr val="BC290A"/>
                </a:solidFill>
                <a:latin typeface="Calibri" pitchFamily="34" charset="0"/>
                <a:ea typeface="Calibri" pitchFamily="34" charset="-122"/>
                <a:cs typeface="Calibri" pitchFamily="34" charset="-120"/>
              </a:rPr>
              <a:t>Le funzioni non spariscono: si ridistribuiscono fra Product Owner, team e organizzazione.</a:t>
            </a:r>
            <a:endParaRPr lang="en-US" sz="1400" dirty="0"/>
          </a:p>
        </p:txBody>
      </p:sp>
      <p:sp>
        <p:nvSpPr>
          <p:cNvPr id="16" name="Text 14"/>
          <p:cNvSpPr txBox="1"/>
          <p:nvPr/>
        </p:nvSpPr>
        <p:spPr>
          <a:xfrm>
            <a:off x="548640" y="6473952"/>
            <a:ext cx="7315200" cy="274320"/>
          </a:xfrm>
          <a:prstGeom prst="rect">
            <a:avLst/>
          </a:prstGeom>
          <a:noFill/>
          <a:ln/>
        </p:spPr>
        <p:txBody>
          <a:bodyPr wrap="square" lIns="0" tIns="0" rIns="0" bIns="0" rtlCol="0" anchor="ctr"/>
          <a:lstStyle/>
          <a:p>
            <a:pPr marL="0" indent="0">
              <a:buNone/>
            </a:pPr>
            <a:r>
              <a:rPr lang="en-US" sz="900" kern="0" spc="120" dirty="0">
                <a:solidFill>
                  <a:srgbClr val="7A756F"/>
                </a:solidFill>
                <a:latin typeface="Calibri" pitchFamily="34" charset="0"/>
                <a:ea typeface="Calibri" pitchFamily="34" charset="-122"/>
                <a:cs typeface="Calibri" pitchFamily="34" charset="-120"/>
              </a:rPr>
              <a:t>APPROCCI AGILE</a:t>
            </a:r>
            <a:endParaRPr lang="en-US" sz="900" dirty="0"/>
          </a:p>
        </p:txBody>
      </p:sp>
      <p:sp>
        <p:nvSpPr>
          <p:cNvPr id="17" name="Text 15"/>
          <p:cNvSpPr txBox="1"/>
          <p:nvPr/>
        </p:nvSpPr>
        <p:spPr>
          <a:xfrm>
            <a:off x="11277295" y="6473952"/>
            <a:ext cx="457200" cy="274320"/>
          </a:xfrm>
          <a:prstGeom prst="rect">
            <a:avLst/>
          </a:prstGeom>
          <a:noFill/>
          <a:ln/>
        </p:spPr>
        <p:txBody>
          <a:bodyPr wrap="square" lIns="0" tIns="0" rIns="0" bIns="0" rtlCol="0" anchor="ctr"/>
          <a:lstStyle/>
          <a:p>
            <a:pPr marL="0" indent="0" algn="r">
              <a:buNone/>
            </a:pPr>
            <a:r>
              <a:rPr lang="en-US" sz="900" dirty="0">
                <a:solidFill>
                  <a:srgbClr val="BC290A"/>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48640" y="457200"/>
            <a:ext cx="10515600" cy="320040"/>
          </a:xfrm>
          <a:prstGeom prst="rect">
            <a:avLst/>
          </a:prstGeom>
          <a:noFill/>
          <a:ln/>
        </p:spPr>
        <p:txBody>
          <a:bodyPr wrap="square" lIns="0" tIns="0" rIns="0" bIns="0" rtlCol="0" anchor="ctr"/>
          <a:lstStyle/>
          <a:p>
            <a:pPr marL="0" indent="0">
              <a:buNone/>
            </a:pPr>
            <a:r>
              <a:rPr lang="en-US" sz="1300" b="1" kern="0" spc="150" dirty="0">
                <a:solidFill>
                  <a:srgbClr val="7A756F"/>
                </a:solidFill>
                <a:latin typeface="Calibri" pitchFamily="34" charset="0"/>
                <a:ea typeface="Calibri" pitchFamily="34" charset="-122"/>
                <a:cs typeface="Calibri" pitchFamily="34" charset="-120"/>
              </a:rPr>
              <a:t>CAPITOLO 3 · CONFRONTO</a:t>
            </a:r>
            <a:endParaRPr lang="en-US" sz="1300" dirty="0"/>
          </a:p>
        </p:txBody>
      </p:sp>
      <p:sp>
        <p:nvSpPr>
          <p:cNvPr id="3" name="Text 1"/>
          <p:cNvSpPr txBox="1"/>
          <p:nvPr/>
        </p:nvSpPr>
        <p:spPr>
          <a:xfrm>
            <a:off x="548640" y="749808"/>
            <a:ext cx="11064240" cy="868680"/>
          </a:xfrm>
          <a:prstGeom prst="rect">
            <a:avLst/>
          </a:prstGeom>
          <a:noFill/>
          <a:ln/>
        </p:spPr>
        <p:txBody>
          <a:bodyPr wrap="square" lIns="0" tIns="0" rIns="0" bIns="0" rtlCol="0" anchor="t"/>
          <a:lstStyle/>
          <a:p>
            <a:pPr marL="0" indent="0">
              <a:lnSpc>
                <a:spcPct val="102000"/>
              </a:lnSpc>
              <a:buNone/>
            </a:pPr>
            <a:r>
              <a:rPr lang="en-US" sz="3000" b="1" dirty="0">
                <a:solidFill>
                  <a:srgbClr val="BC290A"/>
                </a:solidFill>
                <a:latin typeface="Cambria" pitchFamily="34" charset="0"/>
                <a:ea typeface="Cambria" pitchFamily="34" charset="-122"/>
                <a:cs typeface="Cambria" pitchFamily="34" charset="-120"/>
              </a:rPr>
              <a:t>Affinità e differenze tra tradizionale e agile</a:t>
            </a:r>
            <a:endParaRPr lang="en-US" sz="3000" dirty="0"/>
          </a:p>
        </p:txBody>
      </p:sp>
      <p:sp>
        <p:nvSpPr>
          <p:cNvPr id="4" name="Shape 2"/>
          <p:cNvSpPr/>
          <p:nvPr/>
        </p:nvSpPr>
        <p:spPr>
          <a:xfrm>
            <a:off x="640080" y="2103120"/>
            <a:ext cx="5257800" cy="3429000"/>
          </a:xfrm>
          <a:prstGeom prst="roundRect">
            <a:avLst>
              <a:gd name="adj" fmla="val 2400"/>
            </a:avLst>
          </a:prstGeom>
          <a:solidFill>
            <a:srgbClr val="FAEEEB"/>
          </a:solidFill>
          <a:ln w="9525">
            <a:solidFill>
              <a:srgbClr val="E7E2DD"/>
            </a:solidFill>
            <a:prstDash val="solid"/>
          </a:ln>
          <a:effectLst>
            <a:outerShdw blurRad="76200" dist="25400" dir="5400000" algn="bl" rotWithShape="0">
              <a:srgbClr val="1A1013">
                <a:alpha val="15000"/>
              </a:srgbClr>
            </a:outerShdw>
          </a:effectLst>
        </p:spPr>
        <p:txBody>
          <a:bodyPr/>
          <a:lstStyle/>
          <a:p>
            <a:endParaRPr lang="it-IT"/>
          </a:p>
        </p:txBody>
      </p:sp>
      <p:sp>
        <p:nvSpPr>
          <p:cNvPr id="5" name="Text 3"/>
          <p:cNvSpPr txBox="1"/>
          <p:nvPr/>
        </p:nvSpPr>
        <p:spPr>
          <a:xfrm>
            <a:off x="914400" y="2286000"/>
            <a:ext cx="4754880" cy="320040"/>
          </a:xfrm>
          <a:prstGeom prst="rect">
            <a:avLst/>
          </a:prstGeom>
          <a:noFill/>
          <a:ln/>
        </p:spPr>
        <p:txBody>
          <a:bodyPr wrap="square" lIns="0" tIns="0" rIns="0" bIns="0" rtlCol="0" anchor="ctr"/>
          <a:lstStyle/>
          <a:p>
            <a:pPr marL="0" indent="0">
              <a:buNone/>
            </a:pPr>
            <a:r>
              <a:rPr lang="en-US" sz="1300" b="1" kern="0" spc="130" dirty="0">
                <a:solidFill>
                  <a:srgbClr val="BC290A"/>
                </a:solidFill>
                <a:latin typeface="Calibri" pitchFamily="34" charset="0"/>
                <a:ea typeface="Calibri" pitchFamily="34" charset="-122"/>
                <a:cs typeface="Calibri" pitchFamily="34" charset="-120"/>
              </a:rPr>
              <a:t>AFFINITÀ</a:t>
            </a:r>
            <a:endParaRPr lang="en-US" sz="1300" dirty="0"/>
          </a:p>
        </p:txBody>
      </p:sp>
      <p:sp>
        <p:nvSpPr>
          <p:cNvPr id="6" name="Shape 4"/>
          <p:cNvSpPr/>
          <p:nvPr/>
        </p:nvSpPr>
        <p:spPr>
          <a:xfrm>
            <a:off x="914400" y="2743200"/>
            <a:ext cx="420624" cy="420624"/>
          </a:xfrm>
          <a:prstGeom prst="ellipse">
            <a:avLst/>
          </a:prstGeom>
          <a:solidFill>
            <a:srgbClr val="BC290A"/>
          </a:solidFill>
          <a:ln/>
        </p:spPr>
        <p:txBody>
          <a:bodyPr/>
          <a:lstStyle/>
          <a:p>
            <a:endParaRPr lang="it-IT"/>
          </a:p>
        </p:txBody>
      </p:sp>
      <p:sp>
        <p:nvSpPr>
          <p:cNvPr id="7" name="Text 5"/>
          <p:cNvSpPr txBox="1"/>
          <p:nvPr/>
        </p:nvSpPr>
        <p:spPr>
          <a:xfrm>
            <a:off x="914400" y="2743200"/>
            <a:ext cx="420624" cy="420624"/>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8" name="Text 6"/>
          <p:cNvSpPr txBox="1"/>
          <p:nvPr/>
        </p:nvSpPr>
        <p:spPr>
          <a:xfrm>
            <a:off x="1536192" y="2688336"/>
            <a:ext cx="3950208" cy="530352"/>
          </a:xfrm>
          <a:prstGeom prst="rect">
            <a:avLst/>
          </a:prstGeom>
          <a:noFill/>
          <a:ln/>
        </p:spPr>
        <p:txBody>
          <a:bodyPr wrap="square" lIns="0" tIns="0" rIns="0" bIns="0" rtlCol="0" anchor="ctr"/>
          <a:lstStyle/>
          <a:p>
            <a:pPr marL="0" indent="0">
              <a:lnSpc>
                <a:spcPct val="105000"/>
              </a:lnSpc>
              <a:buNone/>
            </a:pPr>
            <a:r>
              <a:rPr lang="en-US" sz="1350" dirty="0">
                <a:solidFill>
                  <a:srgbClr val="2C2624"/>
                </a:solidFill>
                <a:latin typeface="Calibri" pitchFamily="34" charset="0"/>
                <a:ea typeface="Calibri" pitchFamily="34" charset="-122"/>
                <a:cs typeface="Calibri" pitchFamily="34" charset="-120"/>
              </a:rPr>
              <a:t>Meccanismo di controllo</a:t>
            </a:r>
            <a:endParaRPr lang="en-US" sz="1350" dirty="0"/>
          </a:p>
        </p:txBody>
      </p:sp>
      <p:sp>
        <p:nvSpPr>
          <p:cNvPr id="9" name="Shape 7"/>
          <p:cNvSpPr/>
          <p:nvPr/>
        </p:nvSpPr>
        <p:spPr>
          <a:xfrm>
            <a:off x="914400" y="3401568"/>
            <a:ext cx="420624" cy="420624"/>
          </a:xfrm>
          <a:prstGeom prst="ellipse">
            <a:avLst/>
          </a:prstGeom>
          <a:solidFill>
            <a:srgbClr val="BC290A"/>
          </a:solidFill>
          <a:ln/>
        </p:spPr>
        <p:txBody>
          <a:bodyPr/>
          <a:lstStyle/>
          <a:p>
            <a:endParaRPr lang="it-IT"/>
          </a:p>
        </p:txBody>
      </p:sp>
      <p:sp>
        <p:nvSpPr>
          <p:cNvPr id="10" name="Text 8"/>
          <p:cNvSpPr txBox="1"/>
          <p:nvPr/>
        </p:nvSpPr>
        <p:spPr>
          <a:xfrm>
            <a:off x="914400" y="3401568"/>
            <a:ext cx="420624" cy="420624"/>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1" name="Text 9"/>
          <p:cNvSpPr txBox="1"/>
          <p:nvPr/>
        </p:nvSpPr>
        <p:spPr>
          <a:xfrm>
            <a:off x="1536192" y="3346704"/>
            <a:ext cx="3950208" cy="530352"/>
          </a:xfrm>
          <a:prstGeom prst="rect">
            <a:avLst/>
          </a:prstGeom>
          <a:noFill/>
          <a:ln/>
        </p:spPr>
        <p:txBody>
          <a:bodyPr wrap="square" lIns="0" tIns="0" rIns="0" bIns="0" rtlCol="0" anchor="ctr"/>
          <a:lstStyle/>
          <a:p>
            <a:pPr marL="0" indent="0">
              <a:lnSpc>
                <a:spcPct val="105000"/>
              </a:lnSpc>
              <a:buNone/>
            </a:pPr>
            <a:r>
              <a:rPr lang="en-US" sz="1350" dirty="0">
                <a:solidFill>
                  <a:srgbClr val="2C2624"/>
                </a:solidFill>
                <a:latin typeface="Calibri" pitchFamily="34" charset="0"/>
                <a:ea typeface="Calibri" pitchFamily="34" charset="-122"/>
                <a:cs typeface="Calibri" pitchFamily="34" charset="-120"/>
              </a:rPr>
              <a:t>Orizzonte di pianificazione</a:t>
            </a:r>
            <a:endParaRPr lang="en-US" sz="1350" dirty="0"/>
          </a:p>
        </p:txBody>
      </p:sp>
      <p:sp>
        <p:nvSpPr>
          <p:cNvPr id="12" name="Shape 10"/>
          <p:cNvSpPr/>
          <p:nvPr/>
        </p:nvSpPr>
        <p:spPr>
          <a:xfrm>
            <a:off x="914400" y="4059936"/>
            <a:ext cx="420624" cy="420624"/>
          </a:xfrm>
          <a:prstGeom prst="ellipse">
            <a:avLst/>
          </a:prstGeom>
          <a:solidFill>
            <a:srgbClr val="BC290A"/>
          </a:solidFill>
          <a:ln/>
        </p:spPr>
        <p:txBody>
          <a:bodyPr/>
          <a:lstStyle/>
          <a:p>
            <a:endParaRPr lang="it-IT"/>
          </a:p>
        </p:txBody>
      </p:sp>
      <p:sp>
        <p:nvSpPr>
          <p:cNvPr id="13" name="Text 11"/>
          <p:cNvSpPr txBox="1"/>
          <p:nvPr/>
        </p:nvSpPr>
        <p:spPr>
          <a:xfrm>
            <a:off x="914400" y="4059936"/>
            <a:ext cx="420624" cy="420624"/>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4" name="Text 12"/>
          <p:cNvSpPr txBox="1"/>
          <p:nvPr/>
        </p:nvSpPr>
        <p:spPr>
          <a:xfrm>
            <a:off x="1536192" y="4005072"/>
            <a:ext cx="3950208" cy="530352"/>
          </a:xfrm>
          <a:prstGeom prst="rect">
            <a:avLst/>
          </a:prstGeom>
          <a:noFill/>
          <a:ln/>
        </p:spPr>
        <p:txBody>
          <a:bodyPr wrap="square" lIns="0" tIns="0" rIns="0" bIns="0" rtlCol="0" anchor="ctr"/>
          <a:lstStyle/>
          <a:p>
            <a:pPr marL="0" indent="0">
              <a:lnSpc>
                <a:spcPct val="105000"/>
              </a:lnSpc>
              <a:buNone/>
            </a:pPr>
            <a:r>
              <a:rPr lang="en-US" sz="1350" dirty="0">
                <a:solidFill>
                  <a:srgbClr val="2C2624"/>
                </a:solidFill>
                <a:latin typeface="Calibri" pitchFamily="34" charset="0"/>
                <a:ea typeface="Calibri" pitchFamily="34" charset="-122"/>
                <a:cs typeface="Calibri" pitchFamily="34" charset="-120"/>
              </a:rPr>
              <a:t>Catena del valore</a:t>
            </a:r>
            <a:endParaRPr lang="en-US" sz="1350" dirty="0"/>
          </a:p>
        </p:txBody>
      </p:sp>
      <p:sp>
        <p:nvSpPr>
          <p:cNvPr id="15" name="Shape 13"/>
          <p:cNvSpPr/>
          <p:nvPr/>
        </p:nvSpPr>
        <p:spPr>
          <a:xfrm>
            <a:off x="914400" y="4718304"/>
            <a:ext cx="420624" cy="420624"/>
          </a:xfrm>
          <a:prstGeom prst="ellipse">
            <a:avLst/>
          </a:prstGeom>
          <a:solidFill>
            <a:srgbClr val="BC290A"/>
          </a:solidFill>
          <a:ln/>
        </p:spPr>
        <p:txBody>
          <a:bodyPr/>
          <a:lstStyle/>
          <a:p>
            <a:endParaRPr lang="it-IT"/>
          </a:p>
        </p:txBody>
      </p:sp>
      <p:sp>
        <p:nvSpPr>
          <p:cNvPr id="16" name="Text 14"/>
          <p:cNvSpPr txBox="1"/>
          <p:nvPr/>
        </p:nvSpPr>
        <p:spPr>
          <a:xfrm>
            <a:off x="914400" y="4718304"/>
            <a:ext cx="420624" cy="420624"/>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7" name="Text 15"/>
          <p:cNvSpPr txBox="1"/>
          <p:nvPr/>
        </p:nvSpPr>
        <p:spPr>
          <a:xfrm>
            <a:off x="1536192" y="4663440"/>
            <a:ext cx="3950208" cy="530352"/>
          </a:xfrm>
          <a:prstGeom prst="rect">
            <a:avLst/>
          </a:prstGeom>
          <a:noFill/>
          <a:ln/>
        </p:spPr>
        <p:txBody>
          <a:bodyPr wrap="square" lIns="0" tIns="0" rIns="0" bIns="0" rtlCol="0" anchor="ctr"/>
          <a:lstStyle/>
          <a:p>
            <a:pPr marL="0" indent="0">
              <a:lnSpc>
                <a:spcPct val="105000"/>
              </a:lnSpc>
              <a:buNone/>
            </a:pPr>
            <a:r>
              <a:rPr lang="en-US" sz="1350" dirty="0">
                <a:solidFill>
                  <a:srgbClr val="2C2624"/>
                </a:solidFill>
                <a:latin typeface="Calibri" pitchFamily="34" charset="0"/>
                <a:ea typeface="Calibri" pitchFamily="34" charset="-122"/>
                <a:cs typeface="Calibri" pitchFamily="34" charset="-120"/>
              </a:rPr>
              <a:t>Tecniche di flusso</a:t>
            </a:r>
            <a:endParaRPr lang="en-US" sz="1350" dirty="0"/>
          </a:p>
        </p:txBody>
      </p:sp>
      <p:sp>
        <p:nvSpPr>
          <p:cNvPr id="18" name="Shape 16"/>
          <p:cNvSpPr/>
          <p:nvPr/>
        </p:nvSpPr>
        <p:spPr>
          <a:xfrm>
            <a:off x="6263640" y="2103120"/>
            <a:ext cx="5257800" cy="3429000"/>
          </a:xfrm>
          <a:prstGeom prst="roundRect">
            <a:avLst>
              <a:gd name="adj" fmla="val 2400"/>
            </a:avLst>
          </a:prstGeom>
          <a:solidFill>
            <a:srgbClr val="BC290A"/>
          </a:solidFill>
          <a:ln/>
          <a:effectLst>
            <a:outerShdw blurRad="76200" dist="25400" dir="5400000" algn="bl" rotWithShape="0">
              <a:srgbClr val="1A1013">
                <a:alpha val="15000"/>
              </a:srgbClr>
            </a:outerShdw>
          </a:effectLst>
        </p:spPr>
        <p:txBody>
          <a:bodyPr/>
          <a:lstStyle/>
          <a:p>
            <a:endParaRPr lang="it-IT"/>
          </a:p>
        </p:txBody>
      </p:sp>
      <p:sp>
        <p:nvSpPr>
          <p:cNvPr id="19" name="Text 17"/>
          <p:cNvSpPr txBox="1"/>
          <p:nvPr/>
        </p:nvSpPr>
        <p:spPr>
          <a:xfrm>
            <a:off x="6537960" y="2286000"/>
            <a:ext cx="4754880" cy="320040"/>
          </a:xfrm>
          <a:prstGeom prst="rect">
            <a:avLst/>
          </a:prstGeom>
          <a:noFill/>
          <a:ln/>
        </p:spPr>
        <p:txBody>
          <a:bodyPr wrap="square" lIns="0" tIns="0" rIns="0" bIns="0" rtlCol="0" anchor="ctr"/>
          <a:lstStyle/>
          <a:p>
            <a:pPr marL="0" indent="0">
              <a:buNone/>
            </a:pPr>
            <a:r>
              <a:rPr lang="en-US" sz="1300" b="1" kern="0" spc="130" dirty="0">
                <a:solidFill>
                  <a:srgbClr val="F3DCD3"/>
                </a:solidFill>
                <a:latin typeface="Calibri" pitchFamily="34" charset="0"/>
                <a:ea typeface="Calibri" pitchFamily="34" charset="-122"/>
                <a:cs typeface="Calibri" pitchFamily="34" charset="-120"/>
              </a:rPr>
              <a:t>DIFFERENZE</a:t>
            </a:r>
            <a:endParaRPr lang="en-US" sz="1300" dirty="0"/>
          </a:p>
        </p:txBody>
      </p:sp>
      <p:sp>
        <p:nvSpPr>
          <p:cNvPr id="20" name="Shape 18"/>
          <p:cNvSpPr/>
          <p:nvPr/>
        </p:nvSpPr>
        <p:spPr>
          <a:xfrm>
            <a:off x="6537960" y="2743200"/>
            <a:ext cx="420624" cy="420624"/>
          </a:xfrm>
          <a:prstGeom prst="ellipse">
            <a:avLst/>
          </a:prstGeom>
          <a:solidFill>
            <a:srgbClr val="FFFFFF"/>
          </a:solidFill>
          <a:ln/>
        </p:spPr>
        <p:txBody>
          <a:bodyPr/>
          <a:lstStyle/>
          <a:p>
            <a:endParaRPr lang="it-IT"/>
          </a:p>
        </p:txBody>
      </p:sp>
      <p:sp>
        <p:nvSpPr>
          <p:cNvPr id="21" name="Text 19"/>
          <p:cNvSpPr txBox="1"/>
          <p:nvPr/>
        </p:nvSpPr>
        <p:spPr>
          <a:xfrm>
            <a:off x="6537960" y="2743200"/>
            <a:ext cx="420624" cy="420624"/>
          </a:xfrm>
          <a:prstGeom prst="rect">
            <a:avLst/>
          </a:prstGeom>
          <a:noFill/>
          <a:ln/>
        </p:spPr>
        <p:txBody>
          <a:bodyPr wrap="square" lIns="0" tIns="0" rIns="0" bIns="0" rtlCol="0" anchor="ctr"/>
          <a:lstStyle/>
          <a:p>
            <a:pPr marL="0" indent="0" algn="ctr">
              <a:buNone/>
            </a:pPr>
            <a:r>
              <a:rPr lang="en-US" sz="1500" b="1" dirty="0">
                <a:solidFill>
                  <a:srgbClr val="BC290A"/>
                </a:solidFill>
                <a:latin typeface="Calibri" pitchFamily="34" charset="0"/>
                <a:ea typeface="Calibri" pitchFamily="34" charset="-122"/>
                <a:cs typeface="Calibri" pitchFamily="34" charset="-120"/>
              </a:rPr>
              <a:t>1</a:t>
            </a:r>
            <a:endParaRPr lang="en-US" sz="1500" dirty="0"/>
          </a:p>
        </p:txBody>
      </p:sp>
      <p:sp>
        <p:nvSpPr>
          <p:cNvPr id="22" name="Text 20"/>
          <p:cNvSpPr txBox="1"/>
          <p:nvPr/>
        </p:nvSpPr>
        <p:spPr>
          <a:xfrm>
            <a:off x="7159752" y="2688336"/>
            <a:ext cx="3950208" cy="530352"/>
          </a:xfrm>
          <a:prstGeom prst="rect">
            <a:avLst/>
          </a:prstGeom>
          <a:noFill/>
          <a:ln/>
        </p:spPr>
        <p:txBody>
          <a:bodyPr wrap="square" lIns="0" tIns="0" rIns="0" bIns="0" rtlCol="0" anchor="ctr"/>
          <a:lstStyle/>
          <a:p>
            <a:pPr marL="0" indent="0">
              <a:lnSpc>
                <a:spcPct val="105000"/>
              </a:lnSpc>
              <a:buNone/>
            </a:pPr>
            <a:r>
              <a:rPr lang="en-US" sz="1350" dirty="0">
                <a:solidFill>
                  <a:srgbClr val="FFFFFF"/>
                </a:solidFill>
                <a:latin typeface="Calibri" pitchFamily="34" charset="0"/>
                <a:ea typeface="Calibri" pitchFamily="34" charset="-122"/>
                <a:cs typeface="Calibri" pitchFamily="34" charset="-120"/>
              </a:rPr>
              <a:t>Che cosa resta fisso</a:t>
            </a:r>
            <a:endParaRPr lang="en-US" sz="1350" dirty="0"/>
          </a:p>
        </p:txBody>
      </p:sp>
      <p:sp>
        <p:nvSpPr>
          <p:cNvPr id="23" name="Shape 21"/>
          <p:cNvSpPr/>
          <p:nvPr/>
        </p:nvSpPr>
        <p:spPr>
          <a:xfrm>
            <a:off x="6537960" y="3401568"/>
            <a:ext cx="420624" cy="420624"/>
          </a:xfrm>
          <a:prstGeom prst="ellipse">
            <a:avLst/>
          </a:prstGeom>
          <a:solidFill>
            <a:srgbClr val="FFFFFF"/>
          </a:solidFill>
          <a:ln/>
        </p:spPr>
        <p:txBody>
          <a:bodyPr/>
          <a:lstStyle/>
          <a:p>
            <a:endParaRPr lang="it-IT"/>
          </a:p>
        </p:txBody>
      </p:sp>
      <p:sp>
        <p:nvSpPr>
          <p:cNvPr id="24" name="Text 22"/>
          <p:cNvSpPr txBox="1"/>
          <p:nvPr/>
        </p:nvSpPr>
        <p:spPr>
          <a:xfrm>
            <a:off x="6537960" y="3401568"/>
            <a:ext cx="420624" cy="420624"/>
          </a:xfrm>
          <a:prstGeom prst="rect">
            <a:avLst/>
          </a:prstGeom>
          <a:noFill/>
          <a:ln/>
        </p:spPr>
        <p:txBody>
          <a:bodyPr wrap="square" lIns="0" tIns="0" rIns="0" bIns="0" rtlCol="0" anchor="ctr"/>
          <a:lstStyle/>
          <a:p>
            <a:pPr marL="0" indent="0" algn="ctr">
              <a:buNone/>
            </a:pPr>
            <a:r>
              <a:rPr lang="en-US" sz="1500" b="1" dirty="0">
                <a:solidFill>
                  <a:srgbClr val="BC290A"/>
                </a:solidFill>
                <a:latin typeface="Calibri" pitchFamily="34" charset="0"/>
                <a:ea typeface="Calibri" pitchFamily="34" charset="-122"/>
                <a:cs typeface="Calibri" pitchFamily="34" charset="-120"/>
              </a:rPr>
              <a:t>2</a:t>
            </a:r>
            <a:endParaRPr lang="en-US" sz="1500" dirty="0"/>
          </a:p>
        </p:txBody>
      </p:sp>
      <p:sp>
        <p:nvSpPr>
          <p:cNvPr id="25" name="Text 23"/>
          <p:cNvSpPr txBox="1"/>
          <p:nvPr/>
        </p:nvSpPr>
        <p:spPr>
          <a:xfrm>
            <a:off x="7159752" y="3346704"/>
            <a:ext cx="3950208" cy="530352"/>
          </a:xfrm>
          <a:prstGeom prst="rect">
            <a:avLst/>
          </a:prstGeom>
          <a:noFill/>
          <a:ln/>
        </p:spPr>
        <p:txBody>
          <a:bodyPr wrap="square" lIns="0" tIns="0" rIns="0" bIns="0" rtlCol="0" anchor="ctr"/>
          <a:lstStyle/>
          <a:p>
            <a:pPr marL="0" indent="0">
              <a:lnSpc>
                <a:spcPct val="105000"/>
              </a:lnSpc>
              <a:buNone/>
            </a:pPr>
            <a:r>
              <a:rPr lang="en-US" sz="1350" dirty="0">
                <a:solidFill>
                  <a:srgbClr val="FFFFFF"/>
                </a:solidFill>
                <a:latin typeface="Calibri" pitchFamily="34" charset="0"/>
                <a:ea typeface="Calibri" pitchFamily="34" charset="-122"/>
                <a:cs typeface="Calibri" pitchFamily="34" charset="-120"/>
              </a:rPr>
              <a:t>Collocazione dell'autorità</a:t>
            </a:r>
            <a:endParaRPr lang="en-US" sz="1350" dirty="0"/>
          </a:p>
        </p:txBody>
      </p:sp>
      <p:sp>
        <p:nvSpPr>
          <p:cNvPr id="26" name="Shape 24"/>
          <p:cNvSpPr/>
          <p:nvPr/>
        </p:nvSpPr>
        <p:spPr>
          <a:xfrm>
            <a:off x="6537960" y="4059936"/>
            <a:ext cx="420624" cy="420624"/>
          </a:xfrm>
          <a:prstGeom prst="ellipse">
            <a:avLst/>
          </a:prstGeom>
          <a:solidFill>
            <a:srgbClr val="FFFFFF"/>
          </a:solidFill>
          <a:ln/>
        </p:spPr>
        <p:txBody>
          <a:bodyPr/>
          <a:lstStyle/>
          <a:p>
            <a:endParaRPr lang="it-IT"/>
          </a:p>
        </p:txBody>
      </p:sp>
      <p:sp>
        <p:nvSpPr>
          <p:cNvPr id="27" name="Text 25"/>
          <p:cNvSpPr txBox="1"/>
          <p:nvPr/>
        </p:nvSpPr>
        <p:spPr>
          <a:xfrm>
            <a:off x="6537960" y="4059936"/>
            <a:ext cx="420624" cy="420624"/>
          </a:xfrm>
          <a:prstGeom prst="rect">
            <a:avLst/>
          </a:prstGeom>
          <a:noFill/>
          <a:ln/>
        </p:spPr>
        <p:txBody>
          <a:bodyPr wrap="square" lIns="0" tIns="0" rIns="0" bIns="0" rtlCol="0" anchor="ctr"/>
          <a:lstStyle/>
          <a:p>
            <a:pPr marL="0" indent="0" algn="ctr">
              <a:buNone/>
            </a:pPr>
            <a:r>
              <a:rPr lang="en-US" sz="1500" b="1" dirty="0">
                <a:solidFill>
                  <a:srgbClr val="BC290A"/>
                </a:solidFill>
                <a:latin typeface="Calibri" pitchFamily="34" charset="0"/>
                <a:ea typeface="Calibri" pitchFamily="34" charset="-122"/>
                <a:cs typeface="Calibri" pitchFamily="34" charset="-120"/>
              </a:rPr>
              <a:t>3</a:t>
            </a:r>
            <a:endParaRPr lang="en-US" sz="1500" dirty="0"/>
          </a:p>
        </p:txBody>
      </p:sp>
      <p:sp>
        <p:nvSpPr>
          <p:cNvPr id="28" name="Text 26"/>
          <p:cNvSpPr txBox="1"/>
          <p:nvPr/>
        </p:nvSpPr>
        <p:spPr>
          <a:xfrm>
            <a:off x="7159752" y="4005072"/>
            <a:ext cx="3950208" cy="530352"/>
          </a:xfrm>
          <a:prstGeom prst="rect">
            <a:avLst/>
          </a:prstGeom>
          <a:noFill/>
          <a:ln/>
        </p:spPr>
        <p:txBody>
          <a:bodyPr wrap="square" lIns="0" tIns="0" rIns="0" bIns="0" rtlCol="0" anchor="ctr"/>
          <a:lstStyle/>
          <a:p>
            <a:pPr marL="0" indent="0">
              <a:lnSpc>
                <a:spcPct val="105000"/>
              </a:lnSpc>
              <a:buNone/>
            </a:pPr>
            <a:r>
              <a:rPr lang="en-US" sz="1350" dirty="0">
                <a:solidFill>
                  <a:srgbClr val="FFFFFF"/>
                </a:solidFill>
                <a:latin typeface="Calibri" pitchFamily="34" charset="0"/>
                <a:ea typeface="Calibri" pitchFamily="34" charset="-122"/>
                <a:cs typeface="Calibri" pitchFamily="34" charset="-120"/>
              </a:rPr>
              <a:t>Unità di riferimento: progetto o prodotto</a:t>
            </a:r>
            <a:endParaRPr lang="en-US" sz="1350" dirty="0"/>
          </a:p>
        </p:txBody>
      </p:sp>
      <p:sp>
        <p:nvSpPr>
          <p:cNvPr id="29" name="Shape 27"/>
          <p:cNvSpPr/>
          <p:nvPr/>
        </p:nvSpPr>
        <p:spPr>
          <a:xfrm>
            <a:off x="6537960" y="4718304"/>
            <a:ext cx="420624" cy="420624"/>
          </a:xfrm>
          <a:prstGeom prst="ellipse">
            <a:avLst/>
          </a:prstGeom>
          <a:solidFill>
            <a:srgbClr val="FFFFFF"/>
          </a:solidFill>
          <a:ln/>
        </p:spPr>
        <p:txBody>
          <a:bodyPr/>
          <a:lstStyle/>
          <a:p>
            <a:endParaRPr lang="it-IT"/>
          </a:p>
        </p:txBody>
      </p:sp>
      <p:sp>
        <p:nvSpPr>
          <p:cNvPr id="30" name="Text 28"/>
          <p:cNvSpPr txBox="1"/>
          <p:nvPr/>
        </p:nvSpPr>
        <p:spPr>
          <a:xfrm>
            <a:off x="6537960" y="4718304"/>
            <a:ext cx="420624" cy="420624"/>
          </a:xfrm>
          <a:prstGeom prst="rect">
            <a:avLst/>
          </a:prstGeom>
          <a:noFill/>
          <a:ln/>
        </p:spPr>
        <p:txBody>
          <a:bodyPr wrap="square" lIns="0" tIns="0" rIns="0" bIns="0" rtlCol="0" anchor="ctr"/>
          <a:lstStyle/>
          <a:p>
            <a:pPr marL="0" indent="0" algn="ctr">
              <a:buNone/>
            </a:pPr>
            <a:r>
              <a:rPr lang="en-US" sz="1500" b="1" dirty="0">
                <a:solidFill>
                  <a:srgbClr val="BC290A"/>
                </a:solidFill>
                <a:latin typeface="Calibri" pitchFamily="34" charset="0"/>
                <a:ea typeface="Calibri" pitchFamily="34" charset="-122"/>
                <a:cs typeface="Calibri" pitchFamily="34" charset="-120"/>
              </a:rPr>
              <a:t>4</a:t>
            </a:r>
            <a:endParaRPr lang="en-US" sz="1500" dirty="0"/>
          </a:p>
        </p:txBody>
      </p:sp>
      <p:sp>
        <p:nvSpPr>
          <p:cNvPr id="31" name="Text 29"/>
          <p:cNvSpPr txBox="1"/>
          <p:nvPr/>
        </p:nvSpPr>
        <p:spPr>
          <a:xfrm>
            <a:off x="7159752" y="4663440"/>
            <a:ext cx="3950208" cy="530352"/>
          </a:xfrm>
          <a:prstGeom prst="rect">
            <a:avLst/>
          </a:prstGeom>
          <a:noFill/>
          <a:ln/>
        </p:spPr>
        <p:txBody>
          <a:bodyPr wrap="square" lIns="0" tIns="0" rIns="0" bIns="0" rtlCol="0" anchor="ctr"/>
          <a:lstStyle/>
          <a:p>
            <a:pPr marL="0" indent="0">
              <a:lnSpc>
                <a:spcPct val="105000"/>
              </a:lnSpc>
              <a:buNone/>
            </a:pPr>
            <a:r>
              <a:rPr lang="en-US" sz="1350" dirty="0">
                <a:solidFill>
                  <a:srgbClr val="FFFFFF"/>
                </a:solidFill>
                <a:latin typeface="Calibri" pitchFamily="34" charset="0"/>
                <a:ea typeface="Calibri" pitchFamily="34" charset="-122"/>
                <a:cs typeface="Calibri" pitchFamily="34" charset="-120"/>
              </a:rPr>
              <a:t>Esistenza di una soglia di conformità</a:t>
            </a:r>
            <a:endParaRPr lang="en-US" sz="1350" dirty="0"/>
          </a:p>
        </p:txBody>
      </p:sp>
      <p:sp>
        <p:nvSpPr>
          <p:cNvPr id="32" name="Text 30"/>
          <p:cNvSpPr txBox="1"/>
          <p:nvPr/>
        </p:nvSpPr>
        <p:spPr>
          <a:xfrm>
            <a:off x="640080" y="5715000"/>
            <a:ext cx="10881360" cy="502920"/>
          </a:xfrm>
          <a:prstGeom prst="rect">
            <a:avLst/>
          </a:prstGeom>
          <a:noFill/>
          <a:ln/>
        </p:spPr>
        <p:txBody>
          <a:bodyPr wrap="square" lIns="0" tIns="0" rIns="0" bIns="0" rtlCol="0" anchor="ctr"/>
          <a:lstStyle/>
          <a:p>
            <a:pPr marL="0" indent="0" algn="ctr">
              <a:lnSpc>
                <a:spcPct val="115000"/>
              </a:lnSpc>
              <a:buNone/>
            </a:pPr>
            <a:r>
              <a:rPr lang="en-US" sz="1300" i="1" dirty="0">
                <a:solidFill>
                  <a:srgbClr val="BC290A"/>
                </a:solidFill>
                <a:latin typeface="Calibri" pitchFamily="34" charset="0"/>
                <a:ea typeface="Calibri" pitchFamily="34" charset="-122"/>
                <a:cs typeface="Calibri" pitchFamily="34" charset="-120"/>
              </a:rPr>
              <a:t>La divergenza massima non è fra tradizionale e agile in generale, ma fra PRINCE2 e Scrum, il PMBOK si colloca quasi sempre a metà</a:t>
            </a:r>
            <a:endParaRPr lang="en-US" sz="1300" dirty="0"/>
          </a:p>
        </p:txBody>
      </p:sp>
      <p:sp>
        <p:nvSpPr>
          <p:cNvPr id="33" name="Text 31"/>
          <p:cNvSpPr txBox="1"/>
          <p:nvPr/>
        </p:nvSpPr>
        <p:spPr>
          <a:xfrm>
            <a:off x="548640" y="6473952"/>
            <a:ext cx="7315200" cy="274320"/>
          </a:xfrm>
          <a:prstGeom prst="rect">
            <a:avLst/>
          </a:prstGeom>
          <a:noFill/>
          <a:ln/>
        </p:spPr>
        <p:txBody>
          <a:bodyPr wrap="square" lIns="0" tIns="0" rIns="0" bIns="0" rtlCol="0" anchor="ctr"/>
          <a:lstStyle/>
          <a:p>
            <a:pPr marL="0" indent="0">
              <a:buNone/>
            </a:pPr>
            <a:r>
              <a:rPr lang="en-US" sz="900" kern="0" spc="120" dirty="0">
                <a:solidFill>
                  <a:srgbClr val="7A756F"/>
                </a:solidFill>
                <a:latin typeface="Calibri" pitchFamily="34" charset="0"/>
                <a:ea typeface="Calibri" pitchFamily="34" charset="-122"/>
                <a:cs typeface="Calibri" pitchFamily="34" charset="-120"/>
              </a:rPr>
              <a:t>CONFRONTO</a:t>
            </a:r>
            <a:endParaRPr lang="en-US" sz="900" dirty="0"/>
          </a:p>
        </p:txBody>
      </p:sp>
      <p:sp>
        <p:nvSpPr>
          <p:cNvPr id="34" name="Text 32"/>
          <p:cNvSpPr txBox="1"/>
          <p:nvPr/>
        </p:nvSpPr>
        <p:spPr>
          <a:xfrm>
            <a:off x="11277295" y="6473952"/>
            <a:ext cx="457200" cy="274320"/>
          </a:xfrm>
          <a:prstGeom prst="rect">
            <a:avLst/>
          </a:prstGeom>
          <a:noFill/>
          <a:ln/>
        </p:spPr>
        <p:txBody>
          <a:bodyPr wrap="square" lIns="0" tIns="0" rIns="0" bIns="0" rtlCol="0" anchor="ctr"/>
          <a:lstStyle/>
          <a:p>
            <a:pPr marL="0" indent="0" algn="r">
              <a:buNone/>
            </a:pPr>
            <a:r>
              <a:rPr lang="en-US" sz="900" dirty="0">
                <a:solidFill>
                  <a:srgbClr val="BC290A"/>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48640" y="457200"/>
            <a:ext cx="10515600" cy="320040"/>
          </a:xfrm>
          <a:prstGeom prst="rect">
            <a:avLst/>
          </a:prstGeom>
          <a:noFill/>
          <a:ln/>
        </p:spPr>
        <p:txBody>
          <a:bodyPr wrap="square" lIns="0" tIns="0" rIns="0" bIns="0" rtlCol="0" anchor="ctr"/>
          <a:lstStyle/>
          <a:p>
            <a:pPr marL="0" indent="0">
              <a:buNone/>
            </a:pPr>
            <a:r>
              <a:rPr lang="en-US" sz="1300" b="1" kern="0" spc="150" dirty="0">
                <a:solidFill>
                  <a:srgbClr val="7A756F"/>
                </a:solidFill>
                <a:latin typeface="Calibri" pitchFamily="34" charset="0"/>
                <a:ea typeface="Calibri" pitchFamily="34" charset="-122"/>
                <a:cs typeface="Calibri" pitchFamily="34" charset="-120"/>
              </a:rPr>
              <a:t>CAPITOLO 3 · CONCLUSIONI</a:t>
            </a:r>
            <a:endParaRPr lang="en-US" sz="1300" dirty="0"/>
          </a:p>
        </p:txBody>
      </p:sp>
      <p:sp>
        <p:nvSpPr>
          <p:cNvPr id="3" name="Text 1"/>
          <p:cNvSpPr txBox="1"/>
          <p:nvPr/>
        </p:nvSpPr>
        <p:spPr>
          <a:xfrm>
            <a:off x="548640" y="749808"/>
            <a:ext cx="11064240" cy="868680"/>
          </a:xfrm>
          <a:prstGeom prst="rect">
            <a:avLst/>
          </a:prstGeom>
          <a:noFill/>
          <a:ln/>
        </p:spPr>
        <p:txBody>
          <a:bodyPr wrap="square" lIns="0" tIns="0" rIns="0" bIns="0" rtlCol="0" anchor="t"/>
          <a:lstStyle/>
          <a:p>
            <a:pPr marL="0" indent="0">
              <a:lnSpc>
                <a:spcPct val="102000"/>
              </a:lnSpc>
              <a:buNone/>
            </a:pPr>
            <a:r>
              <a:rPr lang="en-US" sz="3000" b="1" dirty="0">
                <a:solidFill>
                  <a:srgbClr val="BC290A"/>
                </a:solidFill>
                <a:latin typeface="Cambria" pitchFamily="34" charset="0"/>
                <a:ea typeface="Cambria" pitchFamily="34" charset="-122"/>
                <a:cs typeface="Cambria" pitchFamily="34" charset="-120"/>
              </a:rPr>
              <a:t>Una definizione di Project Management</a:t>
            </a:r>
            <a:endParaRPr lang="en-US" sz="3000" dirty="0"/>
          </a:p>
          <a:p>
            <a:pPr marL="0" indent="0">
              <a:lnSpc>
                <a:spcPct val="102000"/>
              </a:lnSpc>
              <a:buNone/>
            </a:pPr>
            <a:r>
              <a:rPr lang="en-US" sz="3000" b="1" dirty="0">
                <a:solidFill>
                  <a:srgbClr val="BC290A"/>
                </a:solidFill>
                <a:latin typeface="Cambria" pitchFamily="34" charset="0"/>
                <a:ea typeface="Cambria" pitchFamily="34" charset="-122"/>
                <a:cs typeface="Cambria" pitchFamily="34" charset="-120"/>
              </a:rPr>
              <a:t>basata sulle funzioni</a:t>
            </a:r>
            <a:endParaRPr lang="en-US" sz="3000" dirty="0"/>
          </a:p>
        </p:txBody>
      </p:sp>
      <p:sp>
        <p:nvSpPr>
          <p:cNvPr id="4" name="Text 2"/>
          <p:cNvSpPr txBox="1"/>
          <p:nvPr/>
        </p:nvSpPr>
        <p:spPr>
          <a:xfrm>
            <a:off x="640080" y="1737360"/>
            <a:ext cx="10881360" cy="502920"/>
          </a:xfrm>
          <a:prstGeom prst="rect">
            <a:avLst/>
          </a:prstGeom>
          <a:noFill/>
          <a:ln/>
        </p:spPr>
        <p:txBody>
          <a:bodyPr wrap="square" lIns="0" tIns="0" rIns="0" bIns="0" rtlCol="0" anchor="ctr"/>
          <a:lstStyle/>
          <a:p>
            <a:pPr marL="0" indent="0">
              <a:lnSpc>
                <a:spcPct val="115000"/>
              </a:lnSpc>
              <a:buNone/>
            </a:pPr>
            <a:r>
              <a:rPr lang="en-US" sz="1400" i="1" dirty="0">
                <a:solidFill>
                  <a:srgbClr val="5B5350"/>
                </a:solidFill>
                <a:latin typeface="Calibri" pitchFamily="34" charset="0"/>
                <a:ea typeface="Calibri" pitchFamily="34" charset="-122"/>
                <a:cs typeface="Calibri" pitchFamily="34" charset="-120"/>
              </a:rPr>
              <a:t>Non un metodo, non un ruolo: l'insieme delle funzioni che ogni approccio, in un modo o nell'altro, è “costretto” a svolgere.</a:t>
            </a:r>
            <a:endParaRPr lang="en-US" sz="1400" dirty="0"/>
          </a:p>
        </p:txBody>
      </p:sp>
      <p:sp>
        <p:nvSpPr>
          <p:cNvPr id="5" name="Shape 3"/>
          <p:cNvSpPr/>
          <p:nvPr/>
        </p:nvSpPr>
        <p:spPr>
          <a:xfrm>
            <a:off x="640080" y="2331720"/>
            <a:ext cx="3520440" cy="868680"/>
          </a:xfrm>
          <a:prstGeom prst="roundRect">
            <a:avLst>
              <a:gd name="adj" fmla="val 9474"/>
            </a:avLst>
          </a:prstGeom>
          <a:solidFill>
            <a:srgbClr val="FAEEEB"/>
          </a:solidFill>
          <a:ln w="9525">
            <a:solidFill>
              <a:srgbClr val="E7E2DD"/>
            </a:solidFill>
            <a:prstDash val="solid"/>
          </a:ln>
        </p:spPr>
        <p:txBody>
          <a:bodyPr/>
          <a:lstStyle/>
          <a:p>
            <a:endParaRPr lang="it-IT"/>
          </a:p>
        </p:txBody>
      </p:sp>
      <p:sp>
        <p:nvSpPr>
          <p:cNvPr id="6" name="Text 4"/>
          <p:cNvSpPr txBox="1"/>
          <p:nvPr/>
        </p:nvSpPr>
        <p:spPr>
          <a:xfrm>
            <a:off x="822960" y="2331720"/>
            <a:ext cx="3154680" cy="868680"/>
          </a:xfrm>
          <a:prstGeom prst="rect">
            <a:avLst/>
          </a:prstGeom>
          <a:noFill/>
          <a:ln/>
        </p:spPr>
        <p:txBody>
          <a:bodyPr wrap="square" lIns="0" tIns="0" rIns="0" bIns="0" rtlCol="0" anchor="ctr"/>
          <a:lstStyle/>
          <a:p>
            <a:pPr marL="0" indent="0">
              <a:lnSpc>
                <a:spcPct val="110000"/>
              </a:lnSpc>
              <a:buNone/>
            </a:pPr>
            <a:r>
              <a:rPr lang="en-US" sz="1300" b="1" dirty="0">
                <a:solidFill>
                  <a:srgbClr val="BC290A"/>
                </a:solidFill>
                <a:latin typeface="Calibri" pitchFamily="34" charset="0"/>
                <a:ea typeface="Calibri" pitchFamily="34" charset="-122"/>
                <a:cs typeface="Calibri" pitchFamily="34" charset="-120"/>
              </a:rPr>
              <a:t>Giustificare l'investimento</a:t>
            </a:r>
            <a:endParaRPr lang="en-US" sz="1300" dirty="0"/>
          </a:p>
        </p:txBody>
      </p:sp>
      <p:sp>
        <p:nvSpPr>
          <p:cNvPr id="7" name="Shape 5"/>
          <p:cNvSpPr/>
          <p:nvPr/>
        </p:nvSpPr>
        <p:spPr>
          <a:xfrm>
            <a:off x="4343400" y="2331720"/>
            <a:ext cx="3520440" cy="868680"/>
          </a:xfrm>
          <a:prstGeom prst="roundRect">
            <a:avLst>
              <a:gd name="adj" fmla="val 9474"/>
            </a:avLst>
          </a:prstGeom>
          <a:solidFill>
            <a:srgbClr val="FAEEEB"/>
          </a:solidFill>
          <a:ln w="9525">
            <a:solidFill>
              <a:srgbClr val="E7E2DD"/>
            </a:solidFill>
            <a:prstDash val="solid"/>
          </a:ln>
        </p:spPr>
        <p:txBody>
          <a:bodyPr/>
          <a:lstStyle/>
          <a:p>
            <a:endParaRPr lang="it-IT"/>
          </a:p>
        </p:txBody>
      </p:sp>
      <p:sp>
        <p:nvSpPr>
          <p:cNvPr id="8" name="Text 6"/>
          <p:cNvSpPr txBox="1"/>
          <p:nvPr/>
        </p:nvSpPr>
        <p:spPr>
          <a:xfrm>
            <a:off x="4526280" y="2331720"/>
            <a:ext cx="3154680" cy="868680"/>
          </a:xfrm>
          <a:prstGeom prst="rect">
            <a:avLst/>
          </a:prstGeom>
          <a:noFill/>
          <a:ln/>
        </p:spPr>
        <p:txBody>
          <a:bodyPr wrap="square" lIns="0" tIns="0" rIns="0" bIns="0" rtlCol="0" anchor="ctr"/>
          <a:lstStyle/>
          <a:p>
            <a:pPr marL="0" indent="0">
              <a:lnSpc>
                <a:spcPct val="110000"/>
              </a:lnSpc>
              <a:buNone/>
            </a:pPr>
            <a:r>
              <a:rPr lang="en-US" sz="1300" b="1" dirty="0">
                <a:solidFill>
                  <a:srgbClr val="BC290A"/>
                </a:solidFill>
                <a:latin typeface="Calibri" pitchFamily="34" charset="0"/>
                <a:ea typeface="Calibri" pitchFamily="34" charset="-122"/>
                <a:cs typeface="Calibri" pitchFamily="34" charset="-120"/>
              </a:rPr>
              <a:t>Attribuire le responsabilità</a:t>
            </a:r>
            <a:endParaRPr lang="en-US" sz="1300" dirty="0"/>
          </a:p>
        </p:txBody>
      </p:sp>
      <p:sp>
        <p:nvSpPr>
          <p:cNvPr id="9" name="Shape 7"/>
          <p:cNvSpPr/>
          <p:nvPr/>
        </p:nvSpPr>
        <p:spPr>
          <a:xfrm>
            <a:off x="8046720" y="2331720"/>
            <a:ext cx="3520440" cy="868680"/>
          </a:xfrm>
          <a:prstGeom prst="roundRect">
            <a:avLst>
              <a:gd name="adj" fmla="val 9474"/>
            </a:avLst>
          </a:prstGeom>
          <a:solidFill>
            <a:srgbClr val="FAEEEB"/>
          </a:solidFill>
          <a:ln w="9525">
            <a:solidFill>
              <a:srgbClr val="E7E2DD"/>
            </a:solidFill>
            <a:prstDash val="solid"/>
          </a:ln>
        </p:spPr>
        <p:txBody>
          <a:bodyPr/>
          <a:lstStyle/>
          <a:p>
            <a:endParaRPr lang="it-IT"/>
          </a:p>
        </p:txBody>
      </p:sp>
      <p:sp>
        <p:nvSpPr>
          <p:cNvPr id="10" name="Text 8"/>
          <p:cNvSpPr txBox="1"/>
          <p:nvPr/>
        </p:nvSpPr>
        <p:spPr>
          <a:xfrm>
            <a:off x="8229600" y="2331720"/>
            <a:ext cx="3154680" cy="868680"/>
          </a:xfrm>
          <a:prstGeom prst="rect">
            <a:avLst/>
          </a:prstGeom>
          <a:noFill/>
          <a:ln/>
        </p:spPr>
        <p:txBody>
          <a:bodyPr wrap="square" lIns="0" tIns="0" rIns="0" bIns="0" rtlCol="0" anchor="ctr"/>
          <a:lstStyle/>
          <a:p>
            <a:pPr marL="0" indent="0">
              <a:lnSpc>
                <a:spcPct val="110000"/>
              </a:lnSpc>
              <a:buNone/>
            </a:pPr>
            <a:r>
              <a:rPr lang="en-US" sz="1300" b="1" dirty="0">
                <a:solidFill>
                  <a:srgbClr val="BC290A"/>
                </a:solidFill>
                <a:latin typeface="Calibri" pitchFamily="34" charset="0"/>
                <a:ea typeface="Calibri" pitchFamily="34" charset="-122"/>
                <a:cs typeface="Calibri" pitchFamily="34" charset="-120"/>
              </a:rPr>
              <a:t>Pianificare entro un orizzonte credibile</a:t>
            </a:r>
            <a:endParaRPr lang="en-US" sz="1300" dirty="0"/>
          </a:p>
        </p:txBody>
      </p:sp>
      <p:sp>
        <p:nvSpPr>
          <p:cNvPr id="11" name="Shape 9"/>
          <p:cNvSpPr/>
          <p:nvPr/>
        </p:nvSpPr>
        <p:spPr>
          <a:xfrm>
            <a:off x="640080" y="3383280"/>
            <a:ext cx="3520440" cy="868680"/>
          </a:xfrm>
          <a:prstGeom prst="roundRect">
            <a:avLst>
              <a:gd name="adj" fmla="val 9474"/>
            </a:avLst>
          </a:prstGeom>
          <a:solidFill>
            <a:srgbClr val="FAEEEB"/>
          </a:solidFill>
          <a:ln w="9525">
            <a:solidFill>
              <a:srgbClr val="E7E2DD"/>
            </a:solidFill>
            <a:prstDash val="solid"/>
          </a:ln>
        </p:spPr>
        <p:txBody>
          <a:bodyPr/>
          <a:lstStyle/>
          <a:p>
            <a:endParaRPr lang="it-IT"/>
          </a:p>
        </p:txBody>
      </p:sp>
      <p:sp>
        <p:nvSpPr>
          <p:cNvPr id="12" name="Text 10"/>
          <p:cNvSpPr txBox="1"/>
          <p:nvPr/>
        </p:nvSpPr>
        <p:spPr>
          <a:xfrm>
            <a:off x="822960" y="3383280"/>
            <a:ext cx="3154680" cy="868680"/>
          </a:xfrm>
          <a:prstGeom prst="rect">
            <a:avLst/>
          </a:prstGeom>
          <a:noFill/>
          <a:ln/>
        </p:spPr>
        <p:txBody>
          <a:bodyPr wrap="square" lIns="0" tIns="0" rIns="0" bIns="0" rtlCol="0" anchor="ctr"/>
          <a:lstStyle/>
          <a:p>
            <a:pPr marL="0" indent="0">
              <a:lnSpc>
                <a:spcPct val="110000"/>
              </a:lnSpc>
              <a:buNone/>
            </a:pPr>
            <a:r>
              <a:rPr lang="en-US" sz="1300" b="1" dirty="0">
                <a:solidFill>
                  <a:srgbClr val="BC290A"/>
                </a:solidFill>
                <a:latin typeface="Calibri" pitchFamily="34" charset="0"/>
                <a:ea typeface="Calibri" pitchFamily="34" charset="-122"/>
                <a:cs typeface="Calibri" pitchFamily="34" charset="-120"/>
              </a:rPr>
              <a:t>Garantire la qualità</a:t>
            </a:r>
            <a:endParaRPr lang="en-US" sz="1300" dirty="0"/>
          </a:p>
        </p:txBody>
      </p:sp>
      <p:sp>
        <p:nvSpPr>
          <p:cNvPr id="13" name="Shape 11"/>
          <p:cNvSpPr/>
          <p:nvPr/>
        </p:nvSpPr>
        <p:spPr>
          <a:xfrm>
            <a:off x="4343400" y="3383280"/>
            <a:ext cx="3520440" cy="868680"/>
          </a:xfrm>
          <a:prstGeom prst="roundRect">
            <a:avLst>
              <a:gd name="adj" fmla="val 9474"/>
            </a:avLst>
          </a:prstGeom>
          <a:solidFill>
            <a:srgbClr val="FAEEEB"/>
          </a:solidFill>
          <a:ln w="9525">
            <a:solidFill>
              <a:srgbClr val="E7E2DD"/>
            </a:solidFill>
            <a:prstDash val="solid"/>
          </a:ln>
        </p:spPr>
        <p:txBody>
          <a:bodyPr/>
          <a:lstStyle/>
          <a:p>
            <a:endParaRPr lang="it-IT"/>
          </a:p>
        </p:txBody>
      </p:sp>
      <p:sp>
        <p:nvSpPr>
          <p:cNvPr id="14" name="Text 12"/>
          <p:cNvSpPr txBox="1"/>
          <p:nvPr/>
        </p:nvSpPr>
        <p:spPr>
          <a:xfrm>
            <a:off x="4526280" y="3383280"/>
            <a:ext cx="3154680" cy="868680"/>
          </a:xfrm>
          <a:prstGeom prst="rect">
            <a:avLst/>
          </a:prstGeom>
          <a:noFill/>
          <a:ln/>
        </p:spPr>
        <p:txBody>
          <a:bodyPr wrap="square" lIns="0" tIns="0" rIns="0" bIns="0" rtlCol="0" anchor="ctr"/>
          <a:lstStyle/>
          <a:p>
            <a:pPr marL="0" indent="0">
              <a:lnSpc>
                <a:spcPct val="110000"/>
              </a:lnSpc>
              <a:buNone/>
            </a:pPr>
            <a:r>
              <a:rPr lang="en-US" sz="1300" b="1" dirty="0">
                <a:solidFill>
                  <a:srgbClr val="BC290A"/>
                </a:solidFill>
                <a:latin typeface="Calibri" pitchFamily="34" charset="0"/>
                <a:ea typeface="Calibri" pitchFamily="34" charset="-122"/>
                <a:cs typeface="Calibri" pitchFamily="34" charset="-120"/>
              </a:rPr>
              <a:t>Gestire l'incertezza</a:t>
            </a:r>
            <a:endParaRPr lang="en-US" sz="1300" dirty="0"/>
          </a:p>
        </p:txBody>
      </p:sp>
      <p:sp>
        <p:nvSpPr>
          <p:cNvPr id="15" name="Shape 13"/>
          <p:cNvSpPr/>
          <p:nvPr/>
        </p:nvSpPr>
        <p:spPr>
          <a:xfrm>
            <a:off x="8046720" y="3383280"/>
            <a:ext cx="3520440" cy="868680"/>
          </a:xfrm>
          <a:prstGeom prst="roundRect">
            <a:avLst>
              <a:gd name="adj" fmla="val 9474"/>
            </a:avLst>
          </a:prstGeom>
          <a:solidFill>
            <a:srgbClr val="FAEEEB"/>
          </a:solidFill>
          <a:ln w="9525">
            <a:solidFill>
              <a:srgbClr val="E7E2DD"/>
            </a:solidFill>
            <a:prstDash val="solid"/>
          </a:ln>
        </p:spPr>
        <p:txBody>
          <a:bodyPr/>
          <a:lstStyle/>
          <a:p>
            <a:endParaRPr lang="it-IT"/>
          </a:p>
        </p:txBody>
      </p:sp>
      <p:sp>
        <p:nvSpPr>
          <p:cNvPr id="16" name="Text 14"/>
          <p:cNvSpPr txBox="1"/>
          <p:nvPr/>
        </p:nvSpPr>
        <p:spPr>
          <a:xfrm>
            <a:off x="8229600" y="3383280"/>
            <a:ext cx="3154680" cy="868680"/>
          </a:xfrm>
          <a:prstGeom prst="rect">
            <a:avLst/>
          </a:prstGeom>
          <a:noFill/>
          <a:ln/>
        </p:spPr>
        <p:txBody>
          <a:bodyPr wrap="square" lIns="0" tIns="0" rIns="0" bIns="0" rtlCol="0" anchor="ctr"/>
          <a:lstStyle/>
          <a:p>
            <a:pPr marL="0" indent="0">
              <a:lnSpc>
                <a:spcPct val="110000"/>
              </a:lnSpc>
              <a:buNone/>
            </a:pPr>
            <a:r>
              <a:rPr lang="en-US" sz="1300" b="1" dirty="0">
                <a:solidFill>
                  <a:srgbClr val="BC290A"/>
                </a:solidFill>
                <a:latin typeface="Calibri" pitchFamily="34" charset="0"/>
                <a:ea typeface="Calibri" pitchFamily="34" charset="-122"/>
                <a:cs typeface="Calibri" pitchFamily="34" charset="-120"/>
              </a:rPr>
              <a:t>Assorbire il cambiamento e renderne conto</a:t>
            </a:r>
            <a:endParaRPr lang="en-US" sz="1300" dirty="0"/>
          </a:p>
        </p:txBody>
      </p:sp>
      <p:sp>
        <p:nvSpPr>
          <p:cNvPr id="17" name="Shape 15"/>
          <p:cNvSpPr/>
          <p:nvPr/>
        </p:nvSpPr>
        <p:spPr>
          <a:xfrm>
            <a:off x="640080" y="4480560"/>
            <a:ext cx="10908792" cy="868680"/>
          </a:xfrm>
          <a:prstGeom prst="roundRect">
            <a:avLst>
              <a:gd name="adj" fmla="val 9474"/>
            </a:avLst>
          </a:prstGeom>
          <a:solidFill>
            <a:srgbClr val="BC290A"/>
          </a:solidFill>
          <a:ln/>
        </p:spPr>
        <p:txBody>
          <a:bodyPr/>
          <a:lstStyle/>
          <a:p>
            <a:endParaRPr lang="it-IT"/>
          </a:p>
        </p:txBody>
      </p:sp>
      <p:sp>
        <p:nvSpPr>
          <p:cNvPr id="18" name="Text 16"/>
          <p:cNvSpPr txBox="1"/>
          <p:nvPr/>
        </p:nvSpPr>
        <p:spPr>
          <a:xfrm>
            <a:off x="914400" y="4480560"/>
            <a:ext cx="10332720" cy="868680"/>
          </a:xfrm>
          <a:prstGeom prst="rect">
            <a:avLst/>
          </a:prstGeom>
          <a:noFill/>
          <a:ln/>
        </p:spPr>
        <p:txBody>
          <a:bodyPr wrap="square" lIns="0" tIns="0" rIns="0" bIns="0" rtlCol="0" anchor="ctr"/>
          <a:lstStyle/>
          <a:p>
            <a:pPr marL="0" indent="0">
              <a:lnSpc>
                <a:spcPct val="120000"/>
              </a:lnSpc>
              <a:buNone/>
            </a:pPr>
            <a:r>
              <a:rPr lang="en-US" sz="1450" dirty="0">
                <a:solidFill>
                  <a:srgbClr val="FFFFFF"/>
                </a:solidFill>
                <a:latin typeface="Calibri" pitchFamily="34" charset="0"/>
                <a:ea typeface="Calibri" pitchFamily="34" charset="-122"/>
                <a:cs typeface="Calibri" pitchFamily="34" charset="-120"/>
              </a:rPr>
              <a:t>L'ibrido, riconosciuto sia dal PMBOK sia da PRINCE2, non è un compromesso: è una scelta di progettazione organizzativa.</a:t>
            </a:r>
            <a:endParaRPr lang="en-US" sz="1450" dirty="0"/>
          </a:p>
        </p:txBody>
      </p:sp>
      <p:sp>
        <p:nvSpPr>
          <p:cNvPr id="19" name="Text 17"/>
          <p:cNvSpPr txBox="1"/>
          <p:nvPr/>
        </p:nvSpPr>
        <p:spPr>
          <a:xfrm>
            <a:off x="548640" y="6473952"/>
            <a:ext cx="7315200" cy="274320"/>
          </a:xfrm>
          <a:prstGeom prst="rect">
            <a:avLst/>
          </a:prstGeom>
          <a:noFill/>
          <a:ln/>
        </p:spPr>
        <p:txBody>
          <a:bodyPr wrap="square" lIns="0" tIns="0" rIns="0" bIns="0" rtlCol="0" anchor="ctr"/>
          <a:lstStyle/>
          <a:p>
            <a:pPr marL="0" indent="0">
              <a:buNone/>
            </a:pPr>
            <a:r>
              <a:rPr lang="en-US" sz="900" kern="0" spc="120" dirty="0">
                <a:solidFill>
                  <a:srgbClr val="7A756F"/>
                </a:solidFill>
                <a:latin typeface="Calibri" pitchFamily="34" charset="0"/>
                <a:ea typeface="Calibri" pitchFamily="34" charset="-122"/>
                <a:cs typeface="Calibri" pitchFamily="34" charset="-120"/>
              </a:rPr>
              <a:t>CONCLUSIONI</a:t>
            </a:r>
            <a:endParaRPr lang="en-US" sz="900" dirty="0"/>
          </a:p>
        </p:txBody>
      </p:sp>
      <p:sp>
        <p:nvSpPr>
          <p:cNvPr id="20" name="Text 18"/>
          <p:cNvSpPr txBox="1"/>
          <p:nvPr/>
        </p:nvSpPr>
        <p:spPr>
          <a:xfrm>
            <a:off x="11277295" y="6473952"/>
            <a:ext cx="457200" cy="274320"/>
          </a:xfrm>
          <a:prstGeom prst="rect">
            <a:avLst/>
          </a:prstGeom>
          <a:noFill/>
          <a:ln/>
        </p:spPr>
        <p:txBody>
          <a:bodyPr wrap="square" lIns="0" tIns="0" rIns="0" bIns="0" rtlCol="0" anchor="ctr"/>
          <a:lstStyle/>
          <a:p>
            <a:pPr marL="0" indent="0" algn="r">
              <a:buNone/>
            </a:pPr>
            <a:r>
              <a:rPr lang="en-US" sz="900" dirty="0">
                <a:solidFill>
                  <a:srgbClr val="BC290A"/>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Image 0" descr="/home/claude/tesi_pptx/unibo_logo.png"/>
          <p:cNvPicPr>
            <a:picLocks noChangeAspect="1"/>
          </p:cNvPicPr>
          <p:nvPr/>
        </p:nvPicPr>
        <p:blipFill>
          <a:blip r:embed="rId3"/>
          <a:stretch>
            <a:fillRect/>
          </a:stretch>
        </p:blipFill>
        <p:spPr>
          <a:xfrm>
            <a:off x="5641848" y="1463040"/>
            <a:ext cx="914400" cy="914400"/>
          </a:xfrm>
          <a:prstGeom prst="rect">
            <a:avLst/>
          </a:prstGeom>
        </p:spPr>
      </p:pic>
      <p:sp>
        <p:nvSpPr>
          <p:cNvPr id="3" name="Shape 0"/>
          <p:cNvSpPr/>
          <p:nvPr/>
        </p:nvSpPr>
        <p:spPr>
          <a:xfrm>
            <a:off x="5184648" y="2697480"/>
            <a:ext cx="1828800" cy="0"/>
          </a:xfrm>
          <a:prstGeom prst="line">
            <a:avLst/>
          </a:prstGeom>
          <a:noFill/>
          <a:ln w="12700">
            <a:solidFill>
              <a:srgbClr val="C9C2BA"/>
            </a:solidFill>
            <a:prstDash val="solid"/>
          </a:ln>
        </p:spPr>
        <p:txBody>
          <a:bodyPr/>
          <a:lstStyle/>
          <a:p>
            <a:endParaRPr lang="it-IT"/>
          </a:p>
        </p:txBody>
      </p:sp>
      <p:sp>
        <p:nvSpPr>
          <p:cNvPr id="4" name="Text 1"/>
          <p:cNvSpPr txBox="1"/>
          <p:nvPr/>
        </p:nvSpPr>
        <p:spPr>
          <a:xfrm>
            <a:off x="457200" y="2971800"/>
            <a:ext cx="11274552" cy="914400"/>
          </a:xfrm>
          <a:prstGeom prst="rect">
            <a:avLst/>
          </a:prstGeom>
          <a:noFill/>
          <a:ln/>
        </p:spPr>
        <p:txBody>
          <a:bodyPr wrap="square" lIns="0" tIns="0" rIns="0" bIns="0" rtlCol="0" anchor="ctr"/>
          <a:lstStyle/>
          <a:p>
            <a:pPr marL="0" indent="0" algn="ctr">
              <a:buNone/>
            </a:pPr>
            <a:r>
              <a:rPr lang="en-US" sz="3400" b="1" dirty="0">
                <a:solidFill>
                  <a:srgbClr val="BC290A"/>
                </a:solidFill>
                <a:latin typeface="Cambria" pitchFamily="34" charset="0"/>
                <a:ea typeface="Cambria" pitchFamily="34" charset="-122"/>
                <a:cs typeface="Cambria" pitchFamily="34" charset="-120"/>
              </a:rPr>
              <a:t>Grazie per l’attenzione!</a:t>
            </a:r>
            <a:endParaRPr lang="en-US" sz="3400" dirty="0"/>
          </a:p>
        </p:txBody>
      </p:sp>
      <p:sp>
        <p:nvSpPr>
          <p:cNvPr id="6" name="Text 3"/>
          <p:cNvSpPr txBox="1"/>
          <p:nvPr/>
        </p:nvSpPr>
        <p:spPr>
          <a:xfrm>
            <a:off x="11094415" y="6473952"/>
            <a:ext cx="548640" cy="274320"/>
          </a:xfrm>
          <a:prstGeom prst="rect">
            <a:avLst/>
          </a:prstGeom>
          <a:noFill/>
          <a:ln/>
        </p:spPr>
        <p:txBody>
          <a:bodyPr wrap="square" lIns="0" tIns="0" rIns="0" bIns="0" rtlCol="0" anchor="ctr"/>
          <a:lstStyle/>
          <a:p>
            <a:pPr marL="0" indent="0" algn="r">
              <a:buNone/>
            </a:pPr>
            <a:r>
              <a:rPr lang="en-US" sz="900" dirty="0">
                <a:solidFill>
                  <a:srgbClr val="BC290A"/>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i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2680</TotalTime>
  <Words>2811</Words>
  <Application>Microsoft Office PowerPoint</Application>
  <PresentationFormat>Widescreen</PresentationFormat>
  <Paragraphs>255</Paragraphs>
  <Slides>15</Slides>
  <Notes>15</Notes>
  <HiddenSlides>0</HiddenSlides>
  <MMClips>0</MMClips>
  <ScaleCrop>false</ScaleCrop>
  <HeadingPairs>
    <vt:vector size="6" baseType="variant">
      <vt:variant>
        <vt:lpstr>Caratteri utilizzati</vt:lpstr>
      </vt:variant>
      <vt:variant>
        <vt:i4>3</vt:i4>
      </vt:variant>
      <vt:variant>
        <vt:lpstr>Tema</vt:lpstr>
      </vt:variant>
      <vt:variant>
        <vt:i4>1</vt:i4>
      </vt:variant>
      <vt:variant>
        <vt:lpstr>Titoli diapositive</vt:lpstr>
      </vt:variant>
      <vt:variant>
        <vt:i4>15</vt:i4>
      </vt:variant>
    </vt:vector>
  </HeadingPairs>
  <TitlesOfParts>
    <vt:vector size="19" baseType="lpstr">
      <vt:lpstr>Arial</vt:lpstr>
      <vt:lpstr>Calibri</vt:lpstr>
      <vt:lpstr>Cambria</vt:lpstr>
      <vt:lpstr>Office Theme</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Valerio Giannini - valerio.giannini@studio.unibo.it</cp:lastModifiedBy>
  <cp:revision>3</cp:revision>
  <dcterms:created xsi:type="dcterms:W3CDTF">2026-09-28T19:25:24Z</dcterms:created>
  <dcterms:modified xsi:type="dcterms:W3CDTF">2026-09-30T20:57:31Z</dcterms:modified>
</cp:coreProperties>
</file>